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SERUM is about containing a spreading computer worm when you don't know what vulnerability it's exploiting. I'll build the problem from scratch, give the method, the theory, the results, and be very honest about the limits.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The Problem. Why containing malware is hard when you can't see the attack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familiar epidemic-on-a-graph picture, then add the one twist that changes everything: infection only happens if the target machine is actually vulnerable. That gating is the whole basis of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kid-friendly version and it’s exactly right. Red socks = vulnerable software. The worm can only infect red machines. Keep this picture in mind — every later idea is about finding and defending the red machines.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conceptual point: don’t defend the physical graph, defend the propagation graph. The rest of the talk is about how to do that when you can’t directly see which machines are on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failure mode we beat. Structure-only defense is strong when the vulnerable set coincides with the hubs, but useless when it doesn’t — and real networks are often the latter.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the partial observability. If you knew the exploit, this would be easy — defend its subgraph. The difficulty and the contribution are about acting well WITHOUT that knowledge.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‘aha’. The infected set isn’t just damage — it’s evidence. Every infection narrows down the attack. This is the hook the whole method hangs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Thesis &amp; Contributions. What we claim, and what we honestly do not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one-sentence thesis. Content beats structure, because malware can only traverse exploitable hosts — and we can pull it off without seeing the payload.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Disarm the novelty attack up front. Each ingredient is known; the combination and the real-data grounding are the contribution. Reviewers respect this honesty.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Notice we demote robustness to a note — it’s a null result (never worse than structure), not a win. Leading with the real-data result is deliberate.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Problem Formulation. The containment POMDP, precisely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element slowly. The key line is ‘the defender never sees c*’ and ‘every observation is the infected set’. That defines the inference problem.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Concretely: spread is a coin flip with probability β, but only for neighbours that are actually vulnerable. Blue neighbours never get infected. This gating is enforced in code and tested.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incident response isn’t just ‘fewest infections’ — taking critical machines offline is itself a cost. Our agent gets to keep more machines online because it knows WHICH ones to protect.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Theory — Identifiability. When can you actually figure out the exploit?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theory as answering a practical question: can I know the attack, or must I hedge? And crucially, can I tell in advance? Yes — from the asset inventory alone.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inference in one slide. Every infected host’s software profile is intersected in. When the intersection hits a single CVE, you’ve identified the attack. If it stalls at two or more, those are ‘confusers’.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theorem, then immediately own its modesty — this is exactly the honesty a committee rewards. The real value is the RATE (next), and knowing in advance which CVEs are confusable.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subset-order idea is why the method is robust: confusable exploits SHARE victims, so hedging over them still defends the truth. It’s also why an attacker can’t win by picking a confusable payload — more on that in the robustness section.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Placing it in group testing gives the theorem a rigorous home and preempts the information-theory reviewer. Our novelty is the online, contagion-realized, adversarial instantiation, not the separating condition itself.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panels. Takeaway: on real data a majority of CVEs are individually identifiable, and identifiability gets harder as the vulnerability catalog grows — exactly as the subset-order theory predicts.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non-trivial, testable content of the theory. log₂K is the theoretical minimum number of yes/no tests to find one item among K. We hit it — about 5 infected machines, ~1% of the fleet, identify the attack. That’s remarkably efficient.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The Method. The belief, and the content-aware policy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belief is just Bayesian filtering over the CVE. The important design choice is SOFT vs HARD, on the next slide. And note: the agent acts under UNCERTAINTY — it doesn’t wait to be sure.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detection is noisy. Hard elimination is brittle; soft down-weighting is robust. This single choice is what makes the agent survive noise and poisoning later.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‘content-aware’. It’s a payload-conditioned centrality: not ‘who is connected’ but ‘who can actually spread THIS worm next’. The isolate→patch switch is how it protects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6: Results. Synthetic, real-topology, and real-data — with honest scope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Sell the rigor before the numbers. Paired trials are the reason a 0.6-point mean difference can be highly significant — every defender fought the exact same outbreak.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headline. Note three axes, not one — we keep more machines online too. But be honest: on these synthetic networks the absolute numbers are small. The next slides are where it really matters.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 On a real network with real community structure, ‘protect the hubs’ is almost worthless because the vulnerable machines aren’t the hubs — exactly the regime the thesis predicts. We cut infections by nearly a third, highly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Visually: structure-only can’t separate from doing nothing here, while content-aware tracks the ‘cheating’ oracle. This picture IS the paper’s thesis.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Pre-empt the ‘tiny effect / you lose most trials’ attack head-on. It’s TRUE for the synthetic regime and we admit it — but the flagship, our actual headline, wins 20/20. Leading with the flagship is the honest, strong move.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trade-off is being hidden. At every budget, content-aware is better on BOTH axes. It achieves this by patching precisely once its belief sharpens, instead of isolating blindly.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worse the outbreak, the more content-awareness helps. But we report the uncomfortable part too: at low severity the per-trial win rate is below half. Honesty over hype.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‘did you compare to the real competitors?’. Yes. Content beats data-aware (DAVA) and static-prior (CyGym). We’re upfront that these are reimplementations of their epistemic stance, not the full systems.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subtle, honest point. Our own experiments show the online update is a small effect under a good prior. The real win is defending the vulnerable subgraph at all (content-awareness). We reframed the paper to say this.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7: Robustness. Can an attacker defeat the defender by attacking its inference?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attacker’s natural move — hide behind a common CVE — doesn’t work, because hiding means sharing victims, and we defend shared victims anyway. Elegant and it’s proven, not just measured.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we’re most careful not to overclaim. The robust agent guarantees you’re never WORSE than a dumb heuristic under poisoning. That’s worth stating — but it’s a null result, not a victory, and we label it as such.</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stress tests. Left: noisy sensors — degrades gracefully. Right: we tried to break our OWN result by turning off the monoculture knob, and the advantage survived. That rebuttal makes the result stronger.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8: Breadth. The framework generalizes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breadth results. IoT shows the framework instantiates on a real threat model. The learned policy shows a from-scratch learner rediscovers our hand-designed signal — evidence the design is right, not a separate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9: Positioning &amp; Honesty. Nearest work, and the limits we own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papers a committee will say ‘isn’t this just…’. We name them first and state exactly what’s different — and where we’re actually the easier problem. Honesty buys credibility.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bury limitations — lead with them. L1 is the big one. Note we cross-reference which are addressed (L4, L5, L6) and which are genuine open scope (L1, L3, L7).</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 the biggest weakness into a readiness story. We didn’t fake the result; we built the exact, tested pipeline that produces it the moment someone shares a Nessus/Tenable export. Great answer to ‘so you have no real result’.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technical arc with what survived scrutiny. The reproducibility and test-guarding matter to reviewers — nothing here is a number we can’t regenerate on demand.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10: Outlook. </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item is L1 — real data. Everything else is depth. We’re transparent that the exciting open work is external (data) and adversarial, not more tuning.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one-line takeaway. Thank the audience; invite the hardest question — especially about L1, which we’re ready for.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55E"/>
        </a:solidFill>
        <a:effectLst/>
      </p:bgPr>
    </p:bg>
    <p:spTree>
      <p:nvGrpSpPr>
        <p:cNvPr id="1" name=""/>
        <p:cNvGrpSpPr/>
        <p:nvPr/>
      </p:nvGrpSpPr>
      <p:grpSpPr/>
      <p:sp>
        <p:nvSpPr>
          <p:cNvPr id="2" name="TextBox 1"/>
          <p:cNvSpPr txBox="1"/>
          <p:nvPr/>
        </p:nvSpPr>
        <p:spPr>
          <a:xfrm>
            <a:off x="822960" y="1737360"/>
            <a:ext cx="10515600" cy="1188720"/>
          </a:xfrm>
          <a:prstGeom prst="rect">
            <a:avLst/>
          </a:prstGeom>
          <a:noFill/>
        </p:spPr>
        <p:txBody>
          <a:bodyPr wrap="square" anchor="t">
            <a:spAutoFit/>
          </a:bodyPr>
          <a:lstStyle/>
          <a:p>
            <a:pPr algn="l"/>
            <a:r>
              <a:rPr sz="6600" b="1" i="0">
                <a:solidFill>
                  <a:srgbClr val="FFFFFF"/>
                </a:solidFill>
                <a:latin typeface="Calibri"/>
              </a:rPr>
              <a:t>SERUM</a:t>
            </a:r>
          </a:p>
        </p:txBody>
      </p:sp>
      <p:sp>
        <p:nvSpPr>
          <p:cNvPr id="3" name="TextBox 2"/>
          <p:cNvSpPr txBox="1"/>
          <p:nvPr/>
        </p:nvSpPr>
        <p:spPr>
          <a:xfrm>
            <a:off x="822960" y="2926080"/>
            <a:ext cx="10607040" cy="914400"/>
          </a:xfrm>
          <a:prstGeom prst="rect">
            <a:avLst/>
          </a:prstGeom>
          <a:noFill/>
        </p:spPr>
        <p:txBody>
          <a:bodyPr wrap="square" anchor="t">
            <a:spAutoFit/>
          </a:bodyPr>
          <a:lstStyle/>
          <a:p>
            <a:pPr algn="l"/>
            <a:r>
              <a:rPr sz="2300" b="0" i="0">
                <a:solidFill>
                  <a:srgbClr val="C7D6EC"/>
                </a:solidFill>
                <a:latin typeface="Calibri"/>
              </a:rPr>
              <a:t>Content-Aware Agentic Containment of Malware Under an Unobserved Payload</a:t>
            </a:r>
          </a:p>
        </p:txBody>
      </p:sp>
      <p:sp>
        <p:nvSpPr>
          <p:cNvPr id="4" name="TextBox 3"/>
          <p:cNvSpPr txBox="1"/>
          <p:nvPr/>
        </p:nvSpPr>
        <p:spPr>
          <a:xfrm>
            <a:off x="822960" y="3794760"/>
            <a:ext cx="10515600" cy="457200"/>
          </a:xfrm>
          <a:prstGeom prst="rect">
            <a:avLst/>
          </a:prstGeom>
          <a:noFill/>
        </p:spPr>
        <p:txBody>
          <a:bodyPr wrap="square" anchor="t">
            <a:spAutoFit/>
          </a:bodyPr>
          <a:lstStyle/>
          <a:p>
            <a:pPr algn="l"/>
            <a:r>
              <a:rPr sz="1500" b="0" i="1">
                <a:solidFill>
                  <a:srgbClr val="9FB4D4"/>
                </a:solidFill>
                <a:latin typeface="Calibri"/>
              </a:rPr>
              <a:t>Semantic Epidemic Response under Unknown Malware</a:t>
            </a:r>
          </a:p>
        </p:txBody>
      </p:sp>
      <p:sp>
        <p:nvSpPr>
          <p:cNvPr id="5" name="TextBox 4"/>
          <p:cNvSpPr txBox="1"/>
          <p:nvPr/>
        </p:nvSpPr>
        <p:spPr>
          <a:xfrm>
            <a:off x="822960" y="5029200"/>
            <a:ext cx="5486400" cy="457200"/>
          </a:xfrm>
          <a:prstGeom prst="rect">
            <a:avLst/>
          </a:prstGeom>
          <a:noFill/>
        </p:spPr>
        <p:txBody>
          <a:bodyPr wrap="square" anchor="t">
            <a:spAutoFit/>
          </a:bodyPr>
          <a:lstStyle/>
          <a:p>
            <a:pPr algn="l"/>
            <a:r>
              <a:rPr sz="2000" b="1" i="0">
                <a:solidFill>
                  <a:srgbClr val="FFFFFF"/>
                </a:solidFill>
                <a:latin typeface="Calibri"/>
              </a:rPr>
              <a:t>Amritha S.</a:t>
            </a:r>
          </a:p>
        </p:txBody>
      </p:sp>
      <p:sp>
        <p:nvSpPr>
          <p:cNvPr id="6" name="TextBox 5"/>
          <p:cNvSpPr txBox="1"/>
          <p:nvPr/>
        </p:nvSpPr>
        <p:spPr>
          <a:xfrm>
            <a:off x="822960" y="5468112"/>
            <a:ext cx="10058400" cy="548640"/>
          </a:xfrm>
          <a:prstGeom prst="rect">
            <a:avLst/>
          </a:prstGeom>
          <a:noFill/>
        </p:spPr>
        <p:txBody>
          <a:bodyPr wrap="square" anchor="t">
            <a:spAutoFit/>
          </a:bodyPr>
          <a:lstStyle/>
          <a:p>
            <a:pPr algn="l"/>
            <a:r>
              <a:rPr sz="1400" b="0" i="0">
                <a:solidFill>
                  <a:srgbClr val="9FB4D4"/>
                </a:solidFill>
                <a:latin typeface="Calibri"/>
              </a:rPr>
              <a:t>A defensive research testbed at the intersection of cybersecurity, network science, and agentic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355E"/>
        </a:solidFill>
        <a:effectLst/>
      </p:bgPr>
    </p:bg>
    <p:spTree>
      <p:nvGrpSpPr>
        <p:cNvPr id="1" name=""/>
        <p:cNvGrpSpPr/>
        <p:nvPr/>
      </p:nvGrpSpPr>
      <p:grpSpPr/>
      <p:sp>
        <p:nvSpPr>
          <p:cNvPr id="2" name="TextBox 1"/>
          <p:cNvSpPr txBox="1"/>
          <p:nvPr/>
        </p:nvSpPr>
        <p:spPr>
          <a:xfrm>
            <a:off x="822960" y="2103120"/>
            <a:ext cx="5486400" cy="548640"/>
          </a:xfrm>
          <a:prstGeom prst="rect">
            <a:avLst/>
          </a:prstGeom>
          <a:noFill/>
        </p:spPr>
        <p:txBody>
          <a:bodyPr wrap="square" anchor="t">
            <a:spAutoFit/>
          </a:bodyPr>
          <a:lstStyle/>
          <a:p>
            <a:pPr algn="l"/>
            <a:r>
              <a:rPr sz="1800" b="1" i="0">
                <a:solidFill>
                  <a:srgbClr val="8FA6C8"/>
                </a:solidFill>
                <a:latin typeface="Calibri"/>
              </a:rPr>
              <a:t>PART 1</a:t>
            </a:r>
          </a:p>
        </p:txBody>
      </p:sp>
      <p:sp>
        <p:nvSpPr>
          <p:cNvPr id="3" name="TextBox 2"/>
          <p:cNvSpPr txBox="1"/>
          <p:nvPr/>
        </p:nvSpPr>
        <p:spPr>
          <a:xfrm>
            <a:off x="822960" y="2743200"/>
            <a:ext cx="10515600" cy="1463040"/>
          </a:xfrm>
          <a:prstGeom prst="rect">
            <a:avLst/>
          </a:prstGeom>
          <a:noFill/>
        </p:spPr>
        <p:txBody>
          <a:bodyPr wrap="square" anchor="t">
            <a:spAutoFit/>
          </a:bodyPr>
          <a:lstStyle/>
          <a:p>
            <a:pPr algn="l"/>
            <a:r>
              <a:rPr sz="4000" b="1" i="0">
                <a:solidFill>
                  <a:srgbClr val="FFFFFF"/>
                </a:solidFill>
                <a:latin typeface="Calibri"/>
              </a:rPr>
              <a:t>The Problem</a:t>
            </a:r>
          </a:p>
        </p:txBody>
      </p:sp>
      <p:sp>
        <p:nvSpPr>
          <p:cNvPr id="4" name="TextBox 3"/>
          <p:cNvSpPr txBox="1"/>
          <p:nvPr/>
        </p:nvSpPr>
        <p:spPr>
          <a:xfrm>
            <a:off x="822960" y="4297680"/>
            <a:ext cx="10515600" cy="1097280"/>
          </a:xfrm>
          <a:prstGeom prst="rect">
            <a:avLst/>
          </a:prstGeom>
          <a:noFill/>
        </p:spPr>
        <p:txBody>
          <a:bodyPr wrap="square" anchor="t">
            <a:spAutoFit/>
          </a:bodyPr>
          <a:lstStyle/>
          <a:p>
            <a:pPr algn="l"/>
            <a:r>
              <a:rPr sz="1900" b="0" i="1">
                <a:solidFill>
                  <a:srgbClr val="C7D6EC"/>
                </a:solidFill>
                <a:latin typeface="Calibri"/>
              </a:rPr>
              <a:t>Why containing malware is hard when you can't see the attack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THE PROBLEM</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Malware spreads like an epidemic — but a picky one</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1</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A self-propagating worm moves host to host, like a disease over a contact network.</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Classic view: model it as an epidemic (SI/SIR) spreading over a graph of machines.</a:t>
            </a:r>
          </a:p>
          <a:p>
            <a:pPr>
              <a:spcAft>
                <a:spcPts val="800"/>
              </a:spcAft>
            </a:pPr>
            <a:r>
              <a:rPr sz="1700" b="0" i="0">
                <a:solidFill>
                  <a:srgbClr val="252B33"/>
                </a:solidFill>
                <a:latin typeface="Calibri"/>
              </a:rPr>
              <a:t>•  The catch specific to malware: a worm exploiting vulnerability c can infect a neighbour ONLY IF that neighbour runs the vulnerable software (carries c).</a:t>
            </a:r>
          </a:p>
          <a:p>
            <a:pPr>
              <a:spcAft>
                <a:spcPts val="800"/>
              </a:spcAft>
            </a:pPr>
            <a:r>
              <a:rPr sz="1700" b="0" i="0">
                <a:solidFill>
                  <a:srgbClr val="252B33"/>
                </a:solidFill>
                <a:latin typeface="Calibri"/>
              </a:rPr>
              <a:t>•  So infection is “vulnerability-gated”. A machine that doesn’t have the weakness is simply immune to THIS worm — the germ bounces off.</a:t>
            </a:r>
          </a:p>
          <a:p>
            <a:pPr>
              <a:spcAft>
                <a:spcPts val="800"/>
              </a:spcAft>
            </a:pPr>
            <a:r>
              <a:rPr sz="1700" b="0" i="0">
                <a:solidFill>
                  <a:srgbClr val="2E6FB0"/>
                </a:solidFill>
                <a:latin typeface="Calibri"/>
              </a:rPr>
              <a:t>•  Consequence: the worm does not travel the whole network. It travels only the sub-network of machines that share its target weakness.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WORKED EXAMPLE</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picky germ, concretely</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2</a:t>
            </a:r>
          </a:p>
        </p:txBody>
      </p:sp>
      <p:sp>
        <p:nvSpPr>
          <p:cNvPr id="6" name="TextBox 5"/>
          <p:cNvSpPr txBox="1"/>
          <p:nvPr/>
        </p:nvSpPr>
        <p:spPr>
          <a:xfrm>
            <a:off x="640080" y="1645920"/>
            <a:ext cx="10881360" cy="731520"/>
          </a:xfrm>
          <a:prstGeom prst="rect">
            <a:avLst/>
          </a:prstGeom>
          <a:noFill/>
        </p:spPr>
        <p:txBody>
          <a:bodyPr wrap="square" anchor="t">
            <a:spAutoFit/>
          </a:bodyPr>
          <a:lstStyle/>
          <a:p>
            <a:pPr algn="l"/>
            <a:r>
              <a:rPr sz="1800" b="0" i="0">
                <a:solidFill>
                  <a:srgbClr val="252B33"/>
                </a:solidFill>
                <a:latin typeface="Calibri"/>
              </a:rPr>
              <a:t>Think of each machine as ‘wearing socks’ — the software it runs. The worm only infects one colour.</a:t>
            </a:r>
          </a:p>
        </p:txBody>
      </p:sp>
      <p:sp>
        <p:nvSpPr>
          <p:cNvPr id="7" name="Rectangle 6"/>
          <p:cNvSpPr/>
          <p:nvPr/>
        </p:nvSpPr>
        <p:spPr>
          <a:xfrm>
            <a:off x="640080" y="2468880"/>
            <a:ext cx="822960" cy="658368"/>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68880"/>
            <a:ext cx="822960" cy="658368"/>
          </a:xfrm>
          <a:prstGeom prst="rect">
            <a:avLst/>
          </a:prstGeom>
          <a:noFill/>
        </p:spPr>
        <p:txBody>
          <a:bodyPr wrap="square" anchor="ctr">
            <a:spAutoFit/>
          </a:bodyPr>
          <a:lstStyle/>
          <a:p>
            <a:pPr algn="ctr"/>
            <a:r>
              <a:rPr sz="1500" b="1" i="0">
                <a:solidFill>
                  <a:srgbClr val="FFFFFF"/>
                </a:solidFill>
                <a:latin typeface="Calibri"/>
              </a:rPr>
              <a:t>RED</a:t>
            </a:r>
          </a:p>
        </p:txBody>
      </p:sp>
      <p:sp>
        <p:nvSpPr>
          <p:cNvPr id="9" name="Rectangle 8"/>
          <p:cNvSpPr/>
          <p:nvPr/>
        </p:nvSpPr>
        <p:spPr>
          <a:xfrm>
            <a:off x="1554480" y="2468880"/>
            <a:ext cx="9966960" cy="6583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37360" y="2468880"/>
            <a:ext cx="9692640" cy="658368"/>
          </a:xfrm>
          <a:prstGeom prst="rect">
            <a:avLst/>
          </a:prstGeom>
          <a:noFill/>
        </p:spPr>
        <p:txBody>
          <a:bodyPr wrap="square" anchor="ctr">
            <a:spAutoFit/>
          </a:bodyPr>
          <a:lstStyle/>
          <a:p>
            <a:pPr algn="l"/>
            <a:r>
              <a:rPr sz="1550" b="0" i="0">
                <a:solidFill>
                  <a:srgbClr val="252B33"/>
                </a:solidFill>
                <a:latin typeface="Calibri"/>
              </a:rPr>
              <a:t>Machines running the vulnerable software (carry the target CVE) — CAN catch it.</a:t>
            </a:r>
          </a:p>
        </p:txBody>
      </p:sp>
      <p:sp>
        <p:nvSpPr>
          <p:cNvPr id="11" name="Rectangle 10"/>
          <p:cNvSpPr/>
          <p:nvPr/>
        </p:nvSpPr>
        <p:spPr>
          <a:xfrm>
            <a:off x="640080" y="3310128"/>
            <a:ext cx="822960" cy="658368"/>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310128"/>
            <a:ext cx="822960" cy="658368"/>
          </a:xfrm>
          <a:prstGeom prst="rect">
            <a:avLst/>
          </a:prstGeom>
          <a:noFill/>
        </p:spPr>
        <p:txBody>
          <a:bodyPr wrap="square" anchor="ctr">
            <a:spAutoFit/>
          </a:bodyPr>
          <a:lstStyle/>
          <a:p>
            <a:pPr algn="ctr"/>
            <a:r>
              <a:rPr sz="1500" b="1" i="0">
                <a:solidFill>
                  <a:srgbClr val="FFFFFF"/>
                </a:solidFill>
                <a:latin typeface="Calibri"/>
              </a:rPr>
              <a:t>BLUE</a:t>
            </a:r>
          </a:p>
        </p:txBody>
      </p:sp>
      <p:sp>
        <p:nvSpPr>
          <p:cNvPr id="13" name="Rectangle 12"/>
          <p:cNvSpPr/>
          <p:nvPr/>
        </p:nvSpPr>
        <p:spPr>
          <a:xfrm>
            <a:off x="1554480" y="3310128"/>
            <a:ext cx="9966960" cy="6583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3310128"/>
            <a:ext cx="9692640" cy="658368"/>
          </a:xfrm>
          <a:prstGeom prst="rect">
            <a:avLst/>
          </a:prstGeom>
          <a:noFill/>
        </p:spPr>
        <p:txBody>
          <a:bodyPr wrap="square" anchor="ctr">
            <a:spAutoFit/>
          </a:bodyPr>
          <a:lstStyle/>
          <a:p>
            <a:pPr algn="l"/>
            <a:r>
              <a:rPr sz="1550" b="0" i="0">
                <a:solidFill>
                  <a:srgbClr val="252B33"/>
                </a:solidFill>
                <a:latin typeface="Calibri"/>
              </a:rPr>
              <a:t>Machines running something else — the worm bounces off. Totally safe.</a:t>
            </a:r>
          </a:p>
        </p:txBody>
      </p:sp>
      <p:sp>
        <p:nvSpPr>
          <p:cNvPr id="15" name="Rectangle 14"/>
          <p:cNvSpPr/>
          <p:nvPr/>
        </p:nvSpPr>
        <p:spPr>
          <a:xfrm>
            <a:off x="640080" y="4151376"/>
            <a:ext cx="822960" cy="658368"/>
          </a:xfrm>
          <a:prstGeom prst="rect">
            <a:avLst/>
          </a:prstGeom>
          <a:solidFill>
            <a:srgbClr val="1F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151376"/>
            <a:ext cx="822960" cy="658368"/>
          </a:xfrm>
          <a:prstGeom prst="rect">
            <a:avLst/>
          </a:prstGeom>
          <a:noFill/>
        </p:spPr>
        <p:txBody>
          <a:bodyPr wrap="square" anchor="ctr">
            <a:spAutoFit/>
          </a:bodyPr>
          <a:lstStyle/>
          <a:p>
            <a:pPr algn="ctr"/>
            <a:r>
              <a:rPr sz="1500" b="1" i="0">
                <a:solidFill>
                  <a:srgbClr val="FFFFFF"/>
                </a:solidFill>
                <a:latin typeface="Calibri"/>
              </a:rPr>
              <a:t>SPREAD</a:t>
            </a:r>
          </a:p>
        </p:txBody>
      </p:sp>
      <p:sp>
        <p:nvSpPr>
          <p:cNvPr id="17" name="Rectangle 16"/>
          <p:cNvSpPr/>
          <p:nvPr/>
        </p:nvSpPr>
        <p:spPr>
          <a:xfrm>
            <a:off x="1554480" y="4151376"/>
            <a:ext cx="9966960" cy="6583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37360" y="4151376"/>
            <a:ext cx="9692640" cy="658368"/>
          </a:xfrm>
          <a:prstGeom prst="rect">
            <a:avLst/>
          </a:prstGeom>
          <a:noFill/>
        </p:spPr>
        <p:txBody>
          <a:bodyPr wrap="square" anchor="ctr">
            <a:spAutoFit/>
          </a:bodyPr>
          <a:lstStyle/>
          <a:p>
            <a:pPr algn="l"/>
            <a:r>
              <a:rPr sz="1550" b="0" i="0">
                <a:solidFill>
                  <a:srgbClr val="252B33"/>
                </a:solidFill>
                <a:latin typeface="Calibri"/>
              </a:rPr>
              <a:t>The worm walks the network but only crosses into RED machines.</a:t>
            </a:r>
          </a:p>
        </p:txBody>
      </p:sp>
      <p:sp>
        <p:nvSpPr>
          <p:cNvPr id="19" name="TextBox 18"/>
          <p:cNvSpPr txBox="1"/>
          <p:nvPr/>
        </p:nvSpPr>
        <p:spPr>
          <a:xfrm>
            <a:off x="640080" y="5084064"/>
            <a:ext cx="10881360" cy="822960"/>
          </a:xfrm>
          <a:prstGeom prst="rect">
            <a:avLst/>
          </a:prstGeom>
          <a:noFill/>
        </p:spPr>
        <p:txBody>
          <a:bodyPr wrap="square" anchor="t">
            <a:spAutoFit/>
          </a:bodyPr>
          <a:lstStyle/>
          <a:p>
            <a:pPr algn="l"/>
            <a:r>
              <a:rPr sz="1800" b="1" i="0">
                <a:solidFill>
                  <a:srgbClr val="1B7F4B"/>
                </a:solidFill>
                <a:latin typeface="Calibri"/>
              </a:rPr>
              <a:t>So the ‘real’ network the worm uses = the RED sub-network, not the whole graph.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THE PROBLEM</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physical network is NOT the propagation graph</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3</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The network a worm actually traverses is a payload-specific SUB-graph of the real network.</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Physical topology: every machine and every link.</a:t>
            </a:r>
          </a:p>
          <a:p>
            <a:pPr>
              <a:spcAft>
                <a:spcPts val="800"/>
              </a:spcAft>
            </a:pPr>
            <a:r>
              <a:rPr sz="1700" b="0" i="0">
                <a:solidFill>
                  <a:srgbClr val="252B33"/>
                </a:solidFill>
                <a:latin typeface="Calibri"/>
              </a:rPr>
              <a:t>•  Propagation graph: only the machines carrying the target CVE, and the links between them.</a:t>
            </a:r>
          </a:p>
          <a:p>
            <a:pPr>
              <a:spcAft>
                <a:spcPts val="800"/>
              </a:spcAft>
            </a:pPr>
            <a:r>
              <a:rPr sz="1700" b="0" i="0">
                <a:solidFill>
                  <a:srgbClr val="252B33"/>
                </a:solidFill>
                <a:latin typeface="Calibri"/>
              </a:rPr>
              <a:t>•  These two graphs can look completely different — the vulnerable machines might be scattered in a corner, not spread across the hubs.</a:t>
            </a:r>
          </a:p>
          <a:p>
            <a:pPr>
              <a:spcAft>
                <a:spcPts val="800"/>
              </a:spcAft>
            </a:pPr>
            <a:r>
              <a:rPr sz="1700" b="0" i="0">
                <a:solidFill>
                  <a:srgbClr val="B56A00"/>
                </a:solidFill>
                <a:latin typeface="Calibri"/>
              </a:rPr>
              <a:t>•  A defender who confuses the two will defend the wrong thing.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THE PROBLEM</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Why the usual defense wastes its budget</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4</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Conventional defenses protect the most-connected machines (the ‘hubs’). Often that’s wasted.</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You never have enough budget to protect every machine — you pick a few.</a:t>
            </a:r>
          </a:p>
          <a:p>
            <a:pPr>
              <a:spcAft>
                <a:spcPts val="800"/>
              </a:spcAft>
            </a:pPr>
            <a:r>
              <a:rPr sz="1700" b="0" i="0">
                <a:solidFill>
                  <a:srgbClr val="252B33"/>
                </a:solidFill>
                <a:latin typeface="Calibri"/>
              </a:rPr>
              <a:t>•  Standard heuristics (degree, betweenness immunization) pick the network hubs.</a:t>
            </a:r>
          </a:p>
          <a:p>
            <a:pPr>
              <a:spcAft>
                <a:spcPts val="800"/>
              </a:spcAft>
            </a:pPr>
            <a:r>
              <a:rPr sz="1700" b="0" i="0">
                <a:solidFill>
                  <a:srgbClr val="252B33"/>
                </a:solidFill>
                <a:latin typeface="Calibri"/>
              </a:rPr>
              <a:t>•  But a hub is irrelevant to THIS worm if it can’t run the exploit — it’s a blue-socks machine. Every band-aid spent on it is wasted.</a:t>
            </a:r>
          </a:p>
          <a:p>
            <a:pPr>
              <a:spcAft>
                <a:spcPts val="800"/>
              </a:spcAft>
            </a:pPr>
            <a:r>
              <a:rPr sz="1700" b="0" i="0">
                <a:solidFill>
                  <a:srgbClr val="2E6FB0"/>
                </a:solidFill>
                <a:latin typeface="Calibri"/>
              </a:rPr>
              <a:t>•  On real organisational networks, the vulnerable machines are frequently NOT the hubs — so ‘protect the hubs’ barely helps at all (we’ll see this holds empirically).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THE PROBLEM</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twist that makes it a real research problem</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5</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The defender NEVER observes the payload. It only sees which machines are infected.</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You don’t get told the worm’s target vulnerability — no signature, no payload capture.</a:t>
            </a:r>
          </a:p>
          <a:p>
            <a:pPr>
              <a:spcAft>
                <a:spcPts val="800"/>
              </a:spcAft>
            </a:pPr>
            <a:r>
              <a:rPr sz="1700" b="0" i="0">
                <a:solidFill>
                  <a:srgbClr val="252B33"/>
                </a:solidFill>
                <a:latin typeface="Calibri"/>
              </a:rPr>
              <a:t>•  You observe: the set of currently-infected machines, and your own asset inventory (what software each machine runs).</a:t>
            </a:r>
          </a:p>
          <a:p>
            <a:pPr>
              <a:spcAft>
                <a:spcPts val="800"/>
              </a:spcAft>
            </a:pPr>
            <a:r>
              <a:rPr sz="1700" b="0" i="0">
                <a:solidFill>
                  <a:srgbClr val="252B33"/>
                </a:solidFill>
                <a:latin typeface="Calibri"/>
              </a:rPr>
              <a:t>•  So you must DEFEND the vulnerable sub-network without being told which sub-network it is.</a:t>
            </a:r>
          </a:p>
          <a:p>
            <a:pPr>
              <a:spcAft>
                <a:spcPts val="800"/>
              </a:spcAft>
            </a:pPr>
            <a:r>
              <a:rPr sz="1700" b="0" i="0">
                <a:solidFill>
                  <a:srgbClr val="1F355E"/>
                </a:solidFill>
                <a:latin typeface="Calibri"/>
              </a:rPr>
              <a:t>•  That’s what elevates this from ‘SI on a subgraph’ to a genuine inference problem.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THE CORE IDEA</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clue hiding in plain sight</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6</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Because spread is vulnerability-gated, every infected machine MUST carry the target CVE.</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A machine can only have been infected by propagation if it was vulnerable to the worm.</a:t>
            </a:r>
          </a:p>
          <a:p>
            <a:pPr>
              <a:spcAft>
                <a:spcPts val="800"/>
              </a:spcAft>
            </a:pPr>
            <a:r>
              <a:rPr sz="1700" b="0" i="0">
                <a:solidFill>
                  <a:srgbClr val="252B33"/>
                </a:solidFill>
                <a:latin typeface="Calibri"/>
              </a:rPr>
              <a:t>•  So each newly-infected machine is a hard CONSTRAINT: the true exploit lies somewhere in that machine’s software profile.</a:t>
            </a:r>
          </a:p>
          <a:p>
            <a:pPr>
              <a:spcAft>
                <a:spcPts val="800"/>
              </a:spcAft>
            </a:pPr>
            <a:r>
              <a:rPr sz="1700" b="0" i="0">
                <a:solidFill>
                  <a:srgbClr val="252B33"/>
                </a:solidFill>
                <a:latin typeface="Calibri"/>
              </a:rPr>
              <a:t>•  Intersect those profiles across all infected machines → the set of exploits still consistent with what you’ve seen shrinks.</a:t>
            </a:r>
          </a:p>
          <a:p>
            <a:pPr>
              <a:spcAft>
                <a:spcPts val="800"/>
              </a:spcAft>
            </a:pPr>
            <a:r>
              <a:rPr sz="1700" b="0" i="0">
                <a:solidFill>
                  <a:srgbClr val="2E6FB0"/>
                </a:solidFill>
                <a:latin typeface="Calibri"/>
              </a:rPr>
              <a:t>•  SERUM turns this into online Bayesian inference — a POMDP whose hidden state is the exploit — and acts under the resulting belief.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355E"/>
        </a:solidFill>
        <a:effectLst/>
      </p:bgPr>
    </p:bg>
    <p:spTree>
      <p:nvGrpSpPr>
        <p:cNvPr id="1" name=""/>
        <p:cNvGrpSpPr/>
        <p:nvPr/>
      </p:nvGrpSpPr>
      <p:grpSpPr/>
      <p:sp>
        <p:nvSpPr>
          <p:cNvPr id="2" name="TextBox 1"/>
          <p:cNvSpPr txBox="1"/>
          <p:nvPr/>
        </p:nvSpPr>
        <p:spPr>
          <a:xfrm>
            <a:off x="822960" y="2103120"/>
            <a:ext cx="5486400" cy="548640"/>
          </a:xfrm>
          <a:prstGeom prst="rect">
            <a:avLst/>
          </a:prstGeom>
          <a:noFill/>
        </p:spPr>
        <p:txBody>
          <a:bodyPr wrap="square" anchor="t">
            <a:spAutoFit/>
          </a:bodyPr>
          <a:lstStyle/>
          <a:p>
            <a:pPr algn="l"/>
            <a:r>
              <a:rPr sz="1800" b="1" i="0">
                <a:solidFill>
                  <a:srgbClr val="8FA6C8"/>
                </a:solidFill>
                <a:latin typeface="Calibri"/>
              </a:rPr>
              <a:t>PART 2</a:t>
            </a:r>
          </a:p>
        </p:txBody>
      </p:sp>
      <p:sp>
        <p:nvSpPr>
          <p:cNvPr id="3" name="TextBox 2"/>
          <p:cNvSpPr txBox="1"/>
          <p:nvPr/>
        </p:nvSpPr>
        <p:spPr>
          <a:xfrm>
            <a:off x="822960" y="2743200"/>
            <a:ext cx="10515600" cy="1463040"/>
          </a:xfrm>
          <a:prstGeom prst="rect">
            <a:avLst/>
          </a:prstGeom>
          <a:noFill/>
        </p:spPr>
        <p:txBody>
          <a:bodyPr wrap="square" anchor="t">
            <a:spAutoFit/>
          </a:bodyPr>
          <a:lstStyle/>
          <a:p>
            <a:pPr algn="l"/>
            <a:r>
              <a:rPr sz="4000" b="1" i="0">
                <a:solidFill>
                  <a:srgbClr val="FFFFFF"/>
                </a:solidFill>
                <a:latin typeface="Calibri"/>
              </a:rPr>
              <a:t>Thesis &amp; Contributions</a:t>
            </a:r>
          </a:p>
        </p:txBody>
      </p:sp>
      <p:sp>
        <p:nvSpPr>
          <p:cNvPr id="4" name="TextBox 3"/>
          <p:cNvSpPr txBox="1"/>
          <p:nvPr/>
        </p:nvSpPr>
        <p:spPr>
          <a:xfrm>
            <a:off x="822960" y="4297680"/>
            <a:ext cx="10515600" cy="1097280"/>
          </a:xfrm>
          <a:prstGeom prst="rect">
            <a:avLst/>
          </a:prstGeom>
          <a:noFill/>
        </p:spPr>
        <p:txBody>
          <a:bodyPr wrap="square" anchor="t">
            <a:spAutoFit/>
          </a:bodyPr>
          <a:lstStyle/>
          <a:p>
            <a:pPr algn="l"/>
            <a:r>
              <a:rPr sz="1900" b="0" i="1">
                <a:solidFill>
                  <a:srgbClr val="C7D6EC"/>
                </a:solidFill>
                <a:latin typeface="Calibri"/>
              </a:rPr>
              <a:t>What we claim, and what we honestly do not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355E"/>
        </a:solidFill>
        <a:effectLst/>
      </p:bgPr>
    </p:bg>
    <p:spTree>
      <p:nvGrpSpPr>
        <p:cNvPr id="1" name=""/>
        <p:cNvGrpSpPr/>
        <p:nvPr/>
      </p:nvGrpSpPr>
      <p:grpSpPr/>
      <p:sp>
        <p:nvSpPr>
          <p:cNvPr id="2" name="TextBox 1"/>
          <p:cNvSpPr txBox="1"/>
          <p:nvPr/>
        </p:nvSpPr>
        <p:spPr>
          <a:xfrm>
            <a:off x="731520" y="640080"/>
            <a:ext cx="5486400" cy="457200"/>
          </a:xfrm>
          <a:prstGeom prst="rect">
            <a:avLst/>
          </a:prstGeom>
          <a:noFill/>
        </p:spPr>
        <p:txBody>
          <a:bodyPr wrap="square" anchor="t">
            <a:spAutoFit/>
          </a:bodyPr>
          <a:lstStyle/>
          <a:p>
            <a:pPr algn="l"/>
            <a:r>
              <a:rPr sz="1800" b="1" i="0">
                <a:solidFill>
                  <a:srgbClr val="9FB4D4"/>
                </a:solidFill>
                <a:latin typeface="Calibri"/>
              </a:rPr>
              <a:t>Thesis</a:t>
            </a:r>
          </a:p>
        </p:txBody>
      </p:sp>
      <p:sp>
        <p:nvSpPr>
          <p:cNvPr id="3" name="TextBox 2"/>
          <p:cNvSpPr txBox="1"/>
          <p:nvPr/>
        </p:nvSpPr>
        <p:spPr>
          <a:xfrm>
            <a:off x="731520" y="1371600"/>
            <a:ext cx="10789920" cy="2377440"/>
          </a:xfrm>
          <a:prstGeom prst="rect">
            <a:avLst/>
          </a:prstGeom>
          <a:noFill/>
        </p:spPr>
        <p:txBody>
          <a:bodyPr wrap="square" anchor="t">
            <a:spAutoFit/>
          </a:bodyPr>
          <a:lstStyle/>
          <a:p>
            <a:pPr algn="l"/>
            <a:r>
              <a:rPr sz="2700" b="1" i="0">
                <a:solidFill>
                  <a:srgbClr val="FFFFFF"/>
                </a:solidFill>
                <a:latin typeface="Calibri"/>
              </a:rPr>
              <a:t>A defender that reasons about WHAT is spreading — the payload’s target vulnerability — contains a worm far more efficiently, with far less collateral disruption, than one that sees only network STRUCTURE.</a:t>
            </a:r>
          </a:p>
        </p:txBody>
      </p:sp>
      <p:sp>
        <p:nvSpPr>
          <p:cNvPr id="4" name="TextBox 3"/>
          <p:cNvSpPr txBox="1"/>
          <p:nvPr/>
        </p:nvSpPr>
        <p:spPr>
          <a:xfrm>
            <a:off x="731520" y="4114800"/>
            <a:ext cx="10789920" cy="1097280"/>
          </a:xfrm>
          <a:prstGeom prst="rect">
            <a:avLst/>
          </a:prstGeom>
          <a:noFill/>
        </p:spPr>
        <p:txBody>
          <a:bodyPr wrap="square" anchor="t">
            <a:spAutoFit/>
          </a:bodyPr>
          <a:lstStyle/>
          <a:p>
            <a:pPr algn="l"/>
            <a:r>
              <a:rPr sz="2000" b="0" i="1">
                <a:solidFill>
                  <a:srgbClr val="C7D6EC"/>
                </a:solidFill>
                <a:latin typeface="Calibri"/>
              </a:rPr>
              <a:t>And this holds even when the payload is never directly observed — it is inferred from the shape of the outbreak.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POSITIONING</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Honest from the start: what is and isn’t new</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8</a:t>
            </a:r>
          </a:p>
        </p:txBody>
      </p:sp>
      <p:sp>
        <p:nvSpPr>
          <p:cNvPr id="6" name="Rectangle 5"/>
          <p:cNvSpPr/>
          <p:nvPr/>
        </p:nvSpPr>
        <p:spPr>
          <a:xfrm>
            <a:off x="640080" y="1691640"/>
            <a:ext cx="5166360" cy="502920"/>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5166360" cy="502920"/>
          </a:xfrm>
          <a:prstGeom prst="rect">
            <a:avLst/>
          </a:prstGeom>
          <a:noFill/>
        </p:spPr>
        <p:txBody>
          <a:bodyPr wrap="square" anchor="ctr">
            <a:spAutoFit/>
          </a:bodyPr>
          <a:lstStyle/>
          <a:p>
            <a:pPr algn="ctr"/>
            <a:r>
              <a:rPr sz="1600" b="1" i="0">
                <a:solidFill>
                  <a:srgbClr val="FFFFFF"/>
                </a:solidFill>
                <a:latin typeface="Calibri"/>
              </a:rPr>
              <a:t>NOT novel (we claim none of this)</a:t>
            </a:r>
          </a:p>
        </p:txBody>
      </p:sp>
      <p:sp>
        <p:nvSpPr>
          <p:cNvPr id="8" name="TextBox 7"/>
          <p:cNvSpPr txBox="1"/>
          <p:nvPr/>
        </p:nvSpPr>
        <p:spPr>
          <a:xfrm>
            <a:off x="640080" y="2331720"/>
            <a:ext cx="5166360" cy="4023360"/>
          </a:xfrm>
          <a:prstGeom prst="rect">
            <a:avLst/>
          </a:prstGeom>
          <a:noFill/>
        </p:spPr>
        <p:txBody>
          <a:bodyPr wrap="square">
            <a:spAutoFit/>
          </a:bodyPr>
          <a:lstStyle/>
          <a:p>
            <a:pPr>
              <a:spcAft>
                <a:spcPts val="800"/>
              </a:spcAft>
            </a:pPr>
            <a:r>
              <a:rPr sz="1550" b="0" i="0">
                <a:solidFill>
                  <a:srgbClr val="252B33"/>
                </a:solidFill>
                <a:latin typeface="Calibri"/>
              </a:rPr>
              <a:t>•  Vulnerability-gated spread = multitype bond percolation (known).</a:t>
            </a:r>
          </a:p>
          <a:p>
            <a:pPr>
              <a:spcAft>
                <a:spcPts val="800"/>
              </a:spcAft>
            </a:pPr>
            <a:r>
              <a:rPr sz="1550" b="0" i="0">
                <a:solidFill>
                  <a:srgbClr val="252B33"/>
                </a:solidFill>
                <a:latin typeface="Calibri"/>
              </a:rPr>
              <a:t>•  Structure-only immunization baselines (degree, betweenness, …) are classical.</a:t>
            </a:r>
          </a:p>
          <a:p>
            <a:pPr>
              <a:spcAft>
                <a:spcPts val="800"/>
              </a:spcAft>
            </a:pPr>
            <a:r>
              <a:rPr sz="1550" b="0" i="0">
                <a:solidFill>
                  <a:srgbClr val="252B33"/>
                </a:solidFill>
                <a:latin typeface="Calibri"/>
              </a:rPr>
              <a:t>•  POMDP defense, active hypothesis testing, LLM-as-prior — all established.</a:t>
            </a:r>
          </a:p>
          <a:p>
            <a:pPr>
              <a:spcAft>
                <a:spcPts val="800"/>
              </a:spcAft>
            </a:pPr>
            <a:r>
              <a:rPr sz="1550" b="0" i="0">
                <a:solidFill>
                  <a:srgbClr val="252B33"/>
                </a:solidFill>
                <a:latin typeface="Calibri"/>
              </a:rPr>
              <a:t>•  The identifiability condition, once framed, is 1960s group-testing combinatorics.</a:t>
            </a:r>
          </a:p>
        </p:txBody>
      </p:sp>
      <p:sp>
        <p:nvSpPr>
          <p:cNvPr id="9" name="Rectangle 8"/>
          <p:cNvSpPr/>
          <p:nvPr/>
        </p:nvSpPr>
        <p:spPr>
          <a:xfrm>
            <a:off x="6355080" y="1691640"/>
            <a:ext cx="5166360" cy="502920"/>
          </a:xfrm>
          <a:prstGeom prst="rect">
            <a:avLst/>
          </a:prstGeom>
          <a:solidFill>
            <a:srgbClr val="1F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91640"/>
            <a:ext cx="5166360" cy="502920"/>
          </a:xfrm>
          <a:prstGeom prst="rect">
            <a:avLst/>
          </a:prstGeom>
          <a:noFill/>
        </p:spPr>
        <p:txBody>
          <a:bodyPr wrap="square" anchor="ctr">
            <a:spAutoFit/>
          </a:bodyPr>
          <a:lstStyle/>
          <a:p>
            <a:pPr algn="ctr"/>
            <a:r>
              <a:rPr sz="1600" b="1" i="0">
                <a:solidFill>
                  <a:srgbClr val="FFFFFF"/>
                </a:solidFill>
                <a:latin typeface="Calibri"/>
              </a:rPr>
              <a:t>Our defensible contribution</a:t>
            </a:r>
          </a:p>
        </p:txBody>
      </p:sp>
      <p:sp>
        <p:nvSpPr>
          <p:cNvPr id="11" name="TextBox 10"/>
          <p:cNvSpPr txBox="1"/>
          <p:nvPr/>
        </p:nvSpPr>
        <p:spPr>
          <a:xfrm>
            <a:off x="6355080" y="2331720"/>
            <a:ext cx="5166360" cy="4023360"/>
          </a:xfrm>
          <a:prstGeom prst="rect">
            <a:avLst/>
          </a:prstGeom>
          <a:noFill/>
        </p:spPr>
        <p:txBody>
          <a:bodyPr wrap="square">
            <a:spAutoFit/>
          </a:bodyPr>
          <a:lstStyle/>
          <a:p>
            <a:pPr>
              <a:spcAft>
                <a:spcPts val="800"/>
              </a:spcAft>
            </a:pPr>
            <a:r>
              <a:rPr sz="1550" b="0" i="0">
                <a:solidFill>
                  <a:srgbClr val="252B33"/>
                </a:solidFill>
                <a:latin typeface="Calibri"/>
              </a:rPr>
              <a:t>•  The COUPLING no prior work occupies: online inference of the unobserved exploit from a vulnerability-gated cascade,</a:t>
            </a:r>
          </a:p>
          <a:p>
            <a:pPr>
              <a:spcAft>
                <a:spcPts val="800"/>
              </a:spcAft>
            </a:pPr>
            <a:r>
              <a:rPr sz="1550" b="0" i="0">
                <a:solidFill>
                  <a:srgbClr val="252B33"/>
                </a:solidFill>
                <a:latin typeface="Calibri"/>
              </a:rPr>
              <a:t>•  with a checkable identifiability condition on OBSERVABLE host attributes,</a:t>
            </a:r>
          </a:p>
          <a:p>
            <a:pPr>
              <a:spcAft>
                <a:spcPts val="800"/>
              </a:spcAft>
            </a:pPr>
            <a:r>
              <a:rPr sz="1550" b="0" i="0">
                <a:solidFill>
                  <a:srgbClr val="252B33"/>
                </a:solidFill>
                <a:latin typeface="Calibri"/>
              </a:rPr>
              <a:t>•  driving budgeted, content-aware containment,</a:t>
            </a:r>
          </a:p>
          <a:p>
            <a:pPr>
              <a:spcAft>
                <a:spcPts val="800"/>
              </a:spcAft>
            </a:pPr>
            <a:r>
              <a:rPr sz="1550" b="0" i="0">
                <a:solidFill>
                  <a:srgbClr val="252B33"/>
                </a:solidFill>
                <a:latin typeface="Calibri"/>
              </a:rPr>
              <a:t>•  evaluated on REAL NVD/CVE data. (The cell CyGym 2025 leaves open.)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OVERVIEW</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four contributions (we lead with the finding)</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9</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We foreground the empirical result and treat the inference and theory as its enablers.</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600" b="0" i="0">
                <a:solidFill>
                  <a:srgbClr val="252B33"/>
                </a:solidFill>
                <a:latin typeface="Calibri"/>
              </a:rPr>
              <a:t>•  C1 — Content-aware containment: on a REAL organisational topology, it substantially beats every structure-only baseline (−28.4%, p=1.7×10⁻⁷).</a:t>
            </a:r>
          </a:p>
          <a:p>
            <a:pPr>
              <a:spcAft>
                <a:spcPts val="800"/>
              </a:spcAft>
            </a:pPr>
            <a:r>
              <a:rPr sz="1600" b="0" i="0">
                <a:solidFill>
                  <a:srgbClr val="252B33"/>
                </a:solidFill>
                <a:latin typeface="Calibri"/>
              </a:rPr>
              <a:t>•  C2 — An identifiability CHARACTERIZATION: identifiable iff infected profiles intersect in a singleton; plus a measured group-testing sample-complexity rate.</a:t>
            </a:r>
          </a:p>
          <a:p>
            <a:pPr>
              <a:spcAft>
                <a:spcPts val="800"/>
              </a:spcAft>
            </a:pPr>
            <a:r>
              <a:rPr sz="1600" b="0" i="0">
                <a:solidFill>
                  <a:srgbClr val="252B33"/>
                </a:solidFill>
                <a:latin typeface="Calibri"/>
              </a:rPr>
              <a:t>•  C3 — A REAL-DATA evaluation (NVD/CVE) with paired statistics and an honest account of where content-awareness does and does not help.</a:t>
            </a:r>
          </a:p>
          <a:p>
            <a:pPr>
              <a:spcAft>
                <a:spcPts val="800"/>
              </a:spcAft>
            </a:pPr>
            <a:r>
              <a:rPr sz="1600" b="0" i="0">
                <a:solidFill>
                  <a:srgbClr val="5A636E"/>
                </a:solidFill>
                <a:latin typeface="Calibri"/>
              </a:rPr>
              <a:t>•  Robustness note — attacking the inference backfires; poisoning is absorbed (this is graceful degradation, not a superiority claim).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355E"/>
        </a:solidFill>
        <a:effectLst/>
      </p:bgPr>
    </p:bg>
    <p:spTree>
      <p:nvGrpSpPr>
        <p:cNvPr id="1" name=""/>
        <p:cNvGrpSpPr/>
        <p:nvPr/>
      </p:nvGrpSpPr>
      <p:grpSpPr/>
      <p:sp>
        <p:nvSpPr>
          <p:cNvPr id="2" name="TextBox 1"/>
          <p:cNvSpPr txBox="1"/>
          <p:nvPr/>
        </p:nvSpPr>
        <p:spPr>
          <a:xfrm>
            <a:off x="822960" y="2103120"/>
            <a:ext cx="5486400" cy="548640"/>
          </a:xfrm>
          <a:prstGeom prst="rect">
            <a:avLst/>
          </a:prstGeom>
          <a:noFill/>
        </p:spPr>
        <p:txBody>
          <a:bodyPr wrap="square" anchor="t">
            <a:spAutoFit/>
          </a:bodyPr>
          <a:lstStyle/>
          <a:p>
            <a:pPr algn="l"/>
            <a:r>
              <a:rPr sz="1800" b="1" i="0">
                <a:solidFill>
                  <a:srgbClr val="8FA6C8"/>
                </a:solidFill>
                <a:latin typeface="Calibri"/>
              </a:rPr>
              <a:t>PART 3</a:t>
            </a:r>
          </a:p>
        </p:txBody>
      </p:sp>
      <p:sp>
        <p:nvSpPr>
          <p:cNvPr id="3" name="TextBox 2"/>
          <p:cNvSpPr txBox="1"/>
          <p:nvPr/>
        </p:nvSpPr>
        <p:spPr>
          <a:xfrm>
            <a:off x="822960" y="2743200"/>
            <a:ext cx="10515600" cy="1463040"/>
          </a:xfrm>
          <a:prstGeom prst="rect">
            <a:avLst/>
          </a:prstGeom>
          <a:noFill/>
        </p:spPr>
        <p:txBody>
          <a:bodyPr wrap="square" anchor="t">
            <a:spAutoFit/>
          </a:bodyPr>
          <a:lstStyle/>
          <a:p>
            <a:pPr algn="l"/>
            <a:r>
              <a:rPr sz="4000" b="1" i="0">
                <a:solidFill>
                  <a:srgbClr val="FFFFFF"/>
                </a:solidFill>
                <a:latin typeface="Calibri"/>
              </a:rPr>
              <a:t>Problem Formulation</a:t>
            </a:r>
          </a:p>
        </p:txBody>
      </p:sp>
      <p:sp>
        <p:nvSpPr>
          <p:cNvPr id="4" name="TextBox 3"/>
          <p:cNvSpPr txBox="1"/>
          <p:nvPr/>
        </p:nvSpPr>
        <p:spPr>
          <a:xfrm>
            <a:off x="822960" y="4297680"/>
            <a:ext cx="10515600" cy="1097280"/>
          </a:xfrm>
          <a:prstGeom prst="rect">
            <a:avLst/>
          </a:prstGeom>
          <a:noFill/>
        </p:spPr>
        <p:txBody>
          <a:bodyPr wrap="square" anchor="t">
            <a:spAutoFit/>
          </a:bodyPr>
          <a:lstStyle/>
          <a:p>
            <a:pPr algn="l"/>
            <a:r>
              <a:rPr sz="1900" b="0" i="1">
                <a:solidFill>
                  <a:srgbClr val="C7D6EC"/>
                </a:solidFill>
                <a:latin typeface="Calibri"/>
              </a:rPr>
              <a:t>The containment POMDP, precisely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METHOD</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SERUM POMDP — the pieces</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10</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A partially-observed control problem whose hidden state is the attacker’s exploit.</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Hosts &amp; profiles: graph G=(V,E); each host v carries X(v) ⊆ C, the set of CVEs it is exploitable by. CVE prevalence is heavy-tailed (a few common, many rare).</a:t>
            </a:r>
          </a:p>
          <a:p>
            <a:pPr>
              <a:spcAft>
                <a:spcPts val="800"/>
              </a:spcAft>
            </a:pPr>
            <a:r>
              <a:rPr sz="1700" b="0" i="0">
                <a:solidFill>
                  <a:srgbClr val="252B33"/>
                </a:solidFill>
                <a:latin typeface="Calibri"/>
              </a:rPr>
              <a:t>•  Hidden state: the worm’s target c* ∈ C, drawn by the attacker. The defender never sees it.</a:t>
            </a:r>
          </a:p>
          <a:p>
            <a:pPr>
              <a:spcAft>
                <a:spcPts val="800"/>
              </a:spcAft>
            </a:pPr>
            <a:r>
              <a:rPr sz="1700" b="0" i="0">
                <a:solidFill>
                  <a:srgbClr val="252B33"/>
                </a:solidFill>
                <a:latin typeface="Calibri"/>
              </a:rPr>
              <a:t>•  Vulnerable subgraph: carriers(c*) and the links among them — the graph the worm can use.</a:t>
            </a:r>
          </a:p>
          <a:p>
            <a:pPr>
              <a:spcAft>
                <a:spcPts val="800"/>
              </a:spcAft>
            </a:pPr>
            <a:r>
              <a:rPr sz="1700" b="0" i="0">
                <a:solidFill>
                  <a:srgbClr val="252B33"/>
                </a:solidFill>
                <a:latin typeface="Calibri"/>
              </a:rPr>
              <a:t>•  Observation each step: the infected set (not c*) + the static inventory X.</a:t>
            </a:r>
          </a:p>
          <a:p>
            <a:pPr>
              <a:spcAft>
                <a:spcPts val="800"/>
              </a:spcAft>
            </a:pPr>
            <a:r>
              <a:rPr sz="1700" b="0" i="0">
                <a:solidFill>
                  <a:srgbClr val="252B33"/>
                </a:solidFill>
                <a:latin typeface="Calibri"/>
              </a:rPr>
              <a:t>•  Actions (budget B/step): PATCH (immunize, keeps host online), ISOLATE (remove host, costs availability), SEGMENT (cut a link).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WORKED EXAMPLE</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How a single spread step works</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11</a:t>
            </a:r>
          </a:p>
        </p:txBody>
      </p:sp>
      <p:sp>
        <p:nvSpPr>
          <p:cNvPr id="6" name="TextBox 5"/>
          <p:cNvSpPr txBox="1"/>
          <p:nvPr/>
        </p:nvSpPr>
        <p:spPr>
          <a:xfrm>
            <a:off x="640080" y="1645920"/>
            <a:ext cx="10881360" cy="731520"/>
          </a:xfrm>
          <a:prstGeom prst="rect">
            <a:avLst/>
          </a:prstGeom>
          <a:noFill/>
        </p:spPr>
        <p:txBody>
          <a:bodyPr wrap="square" anchor="t">
            <a:spAutoFit/>
          </a:bodyPr>
          <a:lstStyle/>
          <a:p>
            <a:pPr algn="l"/>
            <a:r>
              <a:rPr sz="1800" b="0" i="0">
                <a:solidFill>
                  <a:srgbClr val="252B33"/>
                </a:solidFill>
                <a:latin typeface="Calibri"/>
              </a:rPr>
              <a:t>Infected u tries to infect susceptible neighbour w. Whether it succeeds is GATED:</a:t>
            </a:r>
          </a:p>
        </p:txBody>
      </p:sp>
      <p:sp>
        <p:nvSpPr>
          <p:cNvPr id="7" name="Rectangle 6"/>
          <p:cNvSpPr/>
          <p:nvPr/>
        </p:nvSpPr>
        <p:spPr>
          <a:xfrm>
            <a:off x="640080" y="2468880"/>
            <a:ext cx="822960" cy="658368"/>
          </a:xfrm>
          <a:prstGeom prst="rect">
            <a:avLst/>
          </a:prstGeom>
          <a:solidFill>
            <a:srgbClr val="1F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68880"/>
            <a:ext cx="822960" cy="658368"/>
          </a:xfrm>
          <a:prstGeom prst="rect">
            <a:avLst/>
          </a:prstGeom>
          <a:noFill/>
        </p:spPr>
        <p:txBody>
          <a:bodyPr wrap="square" anchor="ctr">
            <a:spAutoFit/>
          </a:bodyPr>
          <a:lstStyle/>
          <a:p>
            <a:pPr algn="ctr"/>
            <a:r>
              <a:rPr sz="1500" b="1" i="0">
                <a:solidFill>
                  <a:srgbClr val="FFFFFF"/>
                </a:solidFill>
                <a:latin typeface="Calibri"/>
              </a:rPr>
              <a:t>CHECK</a:t>
            </a:r>
          </a:p>
        </p:txBody>
      </p:sp>
      <p:sp>
        <p:nvSpPr>
          <p:cNvPr id="9" name="Rectangle 8"/>
          <p:cNvSpPr/>
          <p:nvPr/>
        </p:nvSpPr>
        <p:spPr>
          <a:xfrm>
            <a:off x="1554480" y="2468880"/>
            <a:ext cx="9966960" cy="6583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37360" y="2468880"/>
            <a:ext cx="9692640" cy="658368"/>
          </a:xfrm>
          <a:prstGeom prst="rect">
            <a:avLst/>
          </a:prstGeom>
          <a:noFill/>
        </p:spPr>
        <p:txBody>
          <a:bodyPr wrap="square" anchor="ctr">
            <a:spAutoFit/>
          </a:bodyPr>
          <a:lstStyle/>
          <a:p>
            <a:pPr algn="l"/>
            <a:r>
              <a:rPr sz="1550" b="0" i="0">
                <a:solidFill>
                  <a:srgbClr val="252B33"/>
                </a:solidFill>
                <a:latin typeface="Calibri"/>
              </a:rPr>
              <a:t>Does w carry the target CVE c*?  (Is w red-socks?)</a:t>
            </a:r>
          </a:p>
        </p:txBody>
      </p:sp>
      <p:sp>
        <p:nvSpPr>
          <p:cNvPr id="11" name="Rectangle 10"/>
          <p:cNvSpPr/>
          <p:nvPr/>
        </p:nvSpPr>
        <p:spPr>
          <a:xfrm>
            <a:off x="640080" y="3310128"/>
            <a:ext cx="822960" cy="658368"/>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310128"/>
            <a:ext cx="822960" cy="658368"/>
          </a:xfrm>
          <a:prstGeom prst="rect">
            <a:avLst/>
          </a:prstGeom>
          <a:noFill/>
        </p:spPr>
        <p:txBody>
          <a:bodyPr wrap="square" anchor="ctr">
            <a:spAutoFit/>
          </a:bodyPr>
          <a:lstStyle/>
          <a:p>
            <a:pPr algn="ctr"/>
            <a:r>
              <a:rPr sz="1500" b="1" i="0">
                <a:solidFill>
                  <a:srgbClr val="FFFFFF"/>
                </a:solidFill>
                <a:latin typeface="Calibri"/>
              </a:rPr>
              <a:t>NO</a:t>
            </a:r>
          </a:p>
        </p:txBody>
      </p:sp>
      <p:sp>
        <p:nvSpPr>
          <p:cNvPr id="13" name="Rectangle 12"/>
          <p:cNvSpPr/>
          <p:nvPr/>
        </p:nvSpPr>
        <p:spPr>
          <a:xfrm>
            <a:off x="1554480" y="3310128"/>
            <a:ext cx="9966960" cy="6583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3310128"/>
            <a:ext cx="9692640" cy="658368"/>
          </a:xfrm>
          <a:prstGeom prst="rect">
            <a:avLst/>
          </a:prstGeom>
          <a:noFill/>
        </p:spPr>
        <p:txBody>
          <a:bodyPr wrap="square" anchor="ctr">
            <a:spAutoFit/>
          </a:bodyPr>
          <a:lstStyle/>
          <a:p>
            <a:pPr algn="l"/>
            <a:r>
              <a:rPr sz="1550" b="0" i="0">
                <a:solidFill>
                  <a:srgbClr val="252B33"/>
                </a:solidFill>
                <a:latin typeface="Calibri"/>
              </a:rPr>
              <a:t>w is immune to this worm. Nothing happens — ever.</a:t>
            </a:r>
          </a:p>
        </p:txBody>
      </p:sp>
      <p:sp>
        <p:nvSpPr>
          <p:cNvPr id="15" name="Rectangle 14"/>
          <p:cNvSpPr/>
          <p:nvPr/>
        </p:nvSpPr>
        <p:spPr>
          <a:xfrm>
            <a:off x="640080" y="4151376"/>
            <a:ext cx="822960" cy="658368"/>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151376"/>
            <a:ext cx="822960" cy="658368"/>
          </a:xfrm>
          <a:prstGeom prst="rect">
            <a:avLst/>
          </a:prstGeom>
          <a:noFill/>
        </p:spPr>
        <p:txBody>
          <a:bodyPr wrap="square" anchor="ctr">
            <a:spAutoFit/>
          </a:bodyPr>
          <a:lstStyle/>
          <a:p>
            <a:pPr algn="ctr"/>
            <a:r>
              <a:rPr sz="1500" b="1" i="0">
                <a:solidFill>
                  <a:srgbClr val="FFFFFF"/>
                </a:solidFill>
                <a:latin typeface="Calibri"/>
              </a:rPr>
              <a:t>YES</a:t>
            </a:r>
          </a:p>
        </p:txBody>
      </p:sp>
      <p:sp>
        <p:nvSpPr>
          <p:cNvPr id="17" name="Rectangle 16"/>
          <p:cNvSpPr/>
          <p:nvPr/>
        </p:nvSpPr>
        <p:spPr>
          <a:xfrm>
            <a:off x="1554480" y="4151376"/>
            <a:ext cx="9966960" cy="6583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37360" y="4151376"/>
            <a:ext cx="9692640" cy="658368"/>
          </a:xfrm>
          <a:prstGeom prst="rect">
            <a:avLst/>
          </a:prstGeom>
          <a:noFill/>
        </p:spPr>
        <p:txBody>
          <a:bodyPr wrap="square" anchor="ctr">
            <a:spAutoFit/>
          </a:bodyPr>
          <a:lstStyle/>
          <a:p>
            <a:pPr algn="l"/>
            <a:r>
              <a:rPr sz="1550" b="0" i="0">
                <a:solidFill>
                  <a:srgbClr val="252B33"/>
                </a:solidFill>
                <a:latin typeface="Calibri"/>
              </a:rPr>
              <a:t>w gets infected with probability β (transmissibility).</a:t>
            </a:r>
          </a:p>
        </p:txBody>
      </p:sp>
      <p:sp>
        <p:nvSpPr>
          <p:cNvPr id="19" name="TextBox 18"/>
          <p:cNvSpPr txBox="1"/>
          <p:nvPr/>
        </p:nvSpPr>
        <p:spPr>
          <a:xfrm>
            <a:off x="640080" y="5084064"/>
            <a:ext cx="10881360" cy="822960"/>
          </a:xfrm>
          <a:prstGeom prst="rect">
            <a:avLst/>
          </a:prstGeom>
          <a:noFill/>
        </p:spPr>
        <p:txBody>
          <a:bodyPr wrap="square" anchor="t">
            <a:spAutoFit/>
          </a:bodyPr>
          <a:lstStyle/>
          <a:p>
            <a:pPr algn="l"/>
            <a:r>
              <a:rPr sz="1800" b="1" i="0">
                <a:solidFill>
                  <a:srgbClr val="1B7F4B"/>
                </a:solidFill>
                <a:latin typeface="Calibri"/>
              </a:rPr>
              <a:t>Repeat over all infected→susceptible edges each step → the outbreak grows within the red subgraph.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METHOD</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objective — three things at once</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12</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Containment is multi-objective; a good defender balances them, not just infection count.</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Minimize final/peak INFECTION (how much of the fleet falls).</a:t>
            </a:r>
          </a:p>
          <a:p>
            <a:pPr>
              <a:spcAft>
                <a:spcPts val="800"/>
              </a:spcAft>
            </a:pPr>
            <a:r>
              <a:rPr sz="1700" b="0" i="0">
                <a:solidFill>
                  <a:srgbClr val="252B33"/>
                </a:solidFill>
                <a:latin typeface="Calibri"/>
              </a:rPr>
              <a:t>•  Minimize AVAILABILITY loss (isolating machines takes them offline — collateral damage).</a:t>
            </a:r>
          </a:p>
          <a:p>
            <a:pPr>
              <a:spcAft>
                <a:spcPts val="800"/>
              </a:spcAft>
            </a:pPr>
            <a:r>
              <a:rPr sz="1700" b="0" i="0">
                <a:solidFill>
                  <a:srgbClr val="252B33"/>
                </a:solidFill>
                <a:latin typeface="Calibri"/>
              </a:rPr>
              <a:t>•  Minimize TIME-TO-CONTAINMENT (stop the outbreak fast).</a:t>
            </a:r>
          </a:p>
          <a:p>
            <a:pPr>
              <a:spcAft>
                <a:spcPts val="800"/>
              </a:spcAft>
            </a:pPr>
            <a:r>
              <a:rPr sz="1700" b="0" i="0">
                <a:solidFill>
                  <a:srgbClr val="2E6FB0"/>
                </a:solidFill>
                <a:latin typeface="Calibri"/>
              </a:rPr>
              <a:t>•  This is why PATCH vs ISOLATE matters: patching immunizes without downtime, but you only dare patch precisely once you’re confident which machines are truly at risk.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355E"/>
        </a:solidFill>
        <a:effectLst/>
      </p:bgPr>
    </p:bg>
    <p:spTree>
      <p:nvGrpSpPr>
        <p:cNvPr id="1" name=""/>
        <p:cNvGrpSpPr/>
        <p:nvPr/>
      </p:nvGrpSpPr>
      <p:grpSpPr/>
      <p:sp>
        <p:nvSpPr>
          <p:cNvPr id="2" name="TextBox 1"/>
          <p:cNvSpPr txBox="1"/>
          <p:nvPr/>
        </p:nvSpPr>
        <p:spPr>
          <a:xfrm>
            <a:off x="822960" y="2103120"/>
            <a:ext cx="5486400" cy="548640"/>
          </a:xfrm>
          <a:prstGeom prst="rect">
            <a:avLst/>
          </a:prstGeom>
          <a:noFill/>
        </p:spPr>
        <p:txBody>
          <a:bodyPr wrap="square" anchor="t">
            <a:spAutoFit/>
          </a:bodyPr>
          <a:lstStyle/>
          <a:p>
            <a:pPr algn="l"/>
            <a:r>
              <a:rPr sz="1800" b="1" i="0">
                <a:solidFill>
                  <a:srgbClr val="8FA6C8"/>
                </a:solidFill>
                <a:latin typeface="Calibri"/>
              </a:rPr>
              <a:t>PART 4</a:t>
            </a:r>
          </a:p>
        </p:txBody>
      </p:sp>
      <p:sp>
        <p:nvSpPr>
          <p:cNvPr id="3" name="TextBox 2"/>
          <p:cNvSpPr txBox="1"/>
          <p:nvPr/>
        </p:nvSpPr>
        <p:spPr>
          <a:xfrm>
            <a:off x="822960" y="2743200"/>
            <a:ext cx="10515600" cy="1463040"/>
          </a:xfrm>
          <a:prstGeom prst="rect">
            <a:avLst/>
          </a:prstGeom>
          <a:noFill/>
        </p:spPr>
        <p:txBody>
          <a:bodyPr wrap="square" anchor="t">
            <a:spAutoFit/>
          </a:bodyPr>
          <a:lstStyle/>
          <a:p>
            <a:pPr algn="l"/>
            <a:r>
              <a:rPr sz="4000" b="1" i="0">
                <a:solidFill>
                  <a:srgbClr val="FFFFFF"/>
                </a:solidFill>
                <a:latin typeface="Calibri"/>
              </a:rPr>
              <a:t>Theory — Identifiability</a:t>
            </a:r>
          </a:p>
        </p:txBody>
      </p:sp>
      <p:sp>
        <p:nvSpPr>
          <p:cNvPr id="4" name="TextBox 3"/>
          <p:cNvSpPr txBox="1"/>
          <p:nvPr/>
        </p:nvSpPr>
        <p:spPr>
          <a:xfrm>
            <a:off x="822960" y="4297680"/>
            <a:ext cx="10515600" cy="1097280"/>
          </a:xfrm>
          <a:prstGeom prst="rect">
            <a:avLst/>
          </a:prstGeom>
          <a:noFill/>
        </p:spPr>
        <p:txBody>
          <a:bodyPr wrap="square" anchor="t">
            <a:spAutoFit/>
          </a:bodyPr>
          <a:lstStyle/>
          <a:p>
            <a:pPr algn="l"/>
            <a:r>
              <a:rPr sz="1900" b="0" i="1">
                <a:solidFill>
                  <a:srgbClr val="C7D6EC"/>
                </a:solidFill>
                <a:latin typeface="Calibri"/>
              </a:rPr>
              <a:t>When can you actually figure out the exploit?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THEORY</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question the theory answers</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13</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Given only who’s infected, when is the hidden exploit uniquely recoverable?</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If you can pin the exact CVE, you can defend its subgraph exactly.</a:t>
            </a:r>
          </a:p>
          <a:p>
            <a:pPr>
              <a:spcAft>
                <a:spcPts val="800"/>
              </a:spcAft>
            </a:pPr>
            <a:r>
              <a:rPr sz="1700" b="0" i="0">
                <a:solidFill>
                  <a:srgbClr val="252B33"/>
                </a:solidFill>
                <a:latin typeface="Calibri"/>
              </a:rPr>
              <a:t>•  If two CVEs are indistinguishable from the infections seen, you must hedge across both.</a:t>
            </a:r>
          </a:p>
          <a:p>
            <a:pPr>
              <a:spcAft>
                <a:spcPts val="800"/>
              </a:spcAft>
            </a:pPr>
            <a:r>
              <a:rPr sz="1700" b="0" i="0">
                <a:solidFill>
                  <a:srgbClr val="252B33"/>
                </a:solidFill>
                <a:latin typeface="Calibri"/>
              </a:rPr>
              <a:t>•  We want a CHECKABLE condition — one a defender can evaluate in advance from its inventory, before any outbreak.</a:t>
            </a:r>
          </a:p>
          <a:p>
            <a:pPr>
              <a:spcAft>
                <a:spcPts val="800"/>
              </a:spcAft>
            </a:pPr>
            <a:r>
              <a:rPr sz="1700" b="0" i="0">
                <a:solidFill>
                  <a:srgbClr val="1F355E"/>
                </a:solidFill>
                <a:latin typeface="Calibri"/>
              </a:rPr>
              <a:t>•  It turns out to be a simple set-containment condition on observable attributes.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WORKED EXAMPLE</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Worked example: narrowing to the exploit</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14</a:t>
            </a:r>
          </a:p>
        </p:txBody>
      </p:sp>
      <p:sp>
        <p:nvSpPr>
          <p:cNvPr id="6" name="TextBox 5"/>
          <p:cNvSpPr txBox="1"/>
          <p:nvPr/>
        </p:nvSpPr>
        <p:spPr>
          <a:xfrm>
            <a:off x="640080" y="1645920"/>
            <a:ext cx="10881360" cy="731520"/>
          </a:xfrm>
          <a:prstGeom prst="rect">
            <a:avLst/>
          </a:prstGeom>
          <a:noFill/>
        </p:spPr>
        <p:txBody>
          <a:bodyPr wrap="square" anchor="t">
            <a:spAutoFit/>
          </a:bodyPr>
          <a:lstStyle/>
          <a:p>
            <a:pPr algn="l"/>
            <a:r>
              <a:rPr sz="1800" b="0" i="0">
                <a:solidFill>
                  <a:srgbClr val="252B33"/>
                </a:solidFill>
                <a:latin typeface="Calibri"/>
              </a:rPr>
              <a:t>Watch the candidate set shrink as machines fall. supp = intersection of infected profiles.</a:t>
            </a:r>
          </a:p>
        </p:txBody>
      </p:sp>
      <p:sp>
        <p:nvSpPr>
          <p:cNvPr id="7" name="Rectangle 6"/>
          <p:cNvSpPr/>
          <p:nvPr/>
        </p:nvSpPr>
        <p:spPr>
          <a:xfrm>
            <a:off x="640080" y="2468880"/>
            <a:ext cx="822960" cy="658368"/>
          </a:xfrm>
          <a:prstGeom prst="rect">
            <a:avLst/>
          </a:prstGeom>
          <a:solidFill>
            <a:srgbClr val="1F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68880"/>
            <a:ext cx="822960" cy="658368"/>
          </a:xfrm>
          <a:prstGeom prst="rect">
            <a:avLst/>
          </a:prstGeom>
          <a:noFill/>
        </p:spPr>
        <p:txBody>
          <a:bodyPr wrap="square" anchor="ctr">
            <a:spAutoFit/>
          </a:bodyPr>
          <a:lstStyle/>
          <a:p>
            <a:pPr algn="ctr"/>
            <a:r>
              <a:rPr sz="1500" b="1" i="0">
                <a:solidFill>
                  <a:srgbClr val="FFFFFF"/>
                </a:solidFill>
                <a:latin typeface="Calibri"/>
              </a:rPr>
              <a:t>Host A</a:t>
            </a:r>
          </a:p>
        </p:txBody>
      </p:sp>
      <p:sp>
        <p:nvSpPr>
          <p:cNvPr id="9" name="Rectangle 8"/>
          <p:cNvSpPr/>
          <p:nvPr/>
        </p:nvSpPr>
        <p:spPr>
          <a:xfrm>
            <a:off x="1554480" y="2468880"/>
            <a:ext cx="9966960" cy="6583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37360" y="2468880"/>
            <a:ext cx="9692640" cy="658368"/>
          </a:xfrm>
          <a:prstGeom prst="rect">
            <a:avLst/>
          </a:prstGeom>
          <a:noFill/>
        </p:spPr>
        <p:txBody>
          <a:bodyPr wrap="square" anchor="ctr">
            <a:spAutoFit/>
          </a:bodyPr>
          <a:lstStyle/>
          <a:p>
            <a:pPr algn="l"/>
            <a:r>
              <a:rPr sz="1550" b="0" i="0">
                <a:solidFill>
                  <a:srgbClr val="252B33"/>
                </a:solidFill>
                <a:latin typeface="Calibri"/>
              </a:rPr>
              <a:t>infected. Runs {CVE-1, CVE-2, CVE-5}.  Candidates = {1,2,5}.</a:t>
            </a:r>
          </a:p>
        </p:txBody>
      </p:sp>
      <p:sp>
        <p:nvSpPr>
          <p:cNvPr id="11" name="Rectangle 10"/>
          <p:cNvSpPr/>
          <p:nvPr/>
        </p:nvSpPr>
        <p:spPr>
          <a:xfrm>
            <a:off x="640080" y="3310128"/>
            <a:ext cx="822960" cy="658368"/>
          </a:xfrm>
          <a:prstGeom prst="rect">
            <a:avLst/>
          </a:prstGeom>
          <a:solidFill>
            <a:srgbClr val="1F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310128"/>
            <a:ext cx="822960" cy="658368"/>
          </a:xfrm>
          <a:prstGeom prst="rect">
            <a:avLst/>
          </a:prstGeom>
          <a:noFill/>
        </p:spPr>
        <p:txBody>
          <a:bodyPr wrap="square" anchor="ctr">
            <a:spAutoFit/>
          </a:bodyPr>
          <a:lstStyle/>
          <a:p>
            <a:pPr algn="ctr"/>
            <a:r>
              <a:rPr sz="1500" b="1" i="0">
                <a:solidFill>
                  <a:srgbClr val="FFFFFF"/>
                </a:solidFill>
                <a:latin typeface="Calibri"/>
              </a:rPr>
              <a:t>Host B</a:t>
            </a:r>
          </a:p>
        </p:txBody>
      </p:sp>
      <p:sp>
        <p:nvSpPr>
          <p:cNvPr id="13" name="Rectangle 12"/>
          <p:cNvSpPr/>
          <p:nvPr/>
        </p:nvSpPr>
        <p:spPr>
          <a:xfrm>
            <a:off x="1554480" y="3310128"/>
            <a:ext cx="9966960" cy="6583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3310128"/>
            <a:ext cx="9692640" cy="658368"/>
          </a:xfrm>
          <a:prstGeom prst="rect">
            <a:avLst/>
          </a:prstGeom>
          <a:noFill/>
        </p:spPr>
        <p:txBody>
          <a:bodyPr wrap="square" anchor="ctr">
            <a:spAutoFit/>
          </a:bodyPr>
          <a:lstStyle/>
          <a:p>
            <a:pPr algn="l"/>
            <a:r>
              <a:rPr sz="1550" b="0" i="0">
                <a:solidFill>
                  <a:srgbClr val="252B33"/>
                </a:solidFill>
                <a:latin typeface="Calibri"/>
              </a:rPr>
              <a:t>infected. Runs {CVE-2, CVE-5, CVE-9}.  Candidates = {1,2,5}∩{2,5,9} = {2,5}.</a:t>
            </a:r>
          </a:p>
        </p:txBody>
      </p:sp>
      <p:sp>
        <p:nvSpPr>
          <p:cNvPr id="15" name="Rectangle 14"/>
          <p:cNvSpPr/>
          <p:nvPr/>
        </p:nvSpPr>
        <p:spPr>
          <a:xfrm>
            <a:off x="640080" y="4151376"/>
            <a:ext cx="822960" cy="658368"/>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151376"/>
            <a:ext cx="822960" cy="658368"/>
          </a:xfrm>
          <a:prstGeom prst="rect">
            <a:avLst/>
          </a:prstGeom>
          <a:noFill/>
        </p:spPr>
        <p:txBody>
          <a:bodyPr wrap="square" anchor="ctr">
            <a:spAutoFit/>
          </a:bodyPr>
          <a:lstStyle/>
          <a:p>
            <a:pPr algn="ctr"/>
            <a:r>
              <a:rPr sz="1500" b="1" i="0">
                <a:solidFill>
                  <a:srgbClr val="FFFFFF"/>
                </a:solidFill>
                <a:latin typeface="Calibri"/>
              </a:rPr>
              <a:t>Host C</a:t>
            </a:r>
          </a:p>
        </p:txBody>
      </p:sp>
      <p:sp>
        <p:nvSpPr>
          <p:cNvPr id="17" name="Rectangle 16"/>
          <p:cNvSpPr/>
          <p:nvPr/>
        </p:nvSpPr>
        <p:spPr>
          <a:xfrm>
            <a:off x="1554480" y="4151376"/>
            <a:ext cx="9966960" cy="6583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37360" y="4151376"/>
            <a:ext cx="9692640" cy="658368"/>
          </a:xfrm>
          <a:prstGeom prst="rect">
            <a:avLst/>
          </a:prstGeom>
          <a:noFill/>
        </p:spPr>
        <p:txBody>
          <a:bodyPr wrap="square" anchor="ctr">
            <a:spAutoFit/>
          </a:bodyPr>
          <a:lstStyle/>
          <a:p>
            <a:pPr algn="l"/>
            <a:r>
              <a:rPr sz="1550" b="0" i="0">
                <a:solidFill>
                  <a:srgbClr val="252B33"/>
                </a:solidFill>
                <a:latin typeface="Calibri"/>
              </a:rPr>
              <a:t>infected. Runs {CVE-5, CVE-7}.  Candidates = {2,5}∩{5,7} = {5}.</a:t>
            </a:r>
          </a:p>
        </p:txBody>
      </p:sp>
      <p:sp>
        <p:nvSpPr>
          <p:cNvPr id="19" name="TextBox 18"/>
          <p:cNvSpPr txBox="1"/>
          <p:nvPr/>
        </p:nvSpPr>
        <p:spPr>
          <a:xfrm>
            <a:off x="640080" y="5084064"/>
            <a:ext cx="10881360" cy="822960"/>
          </a:xfrm>
          <a:prstGeom prst="rect">
            <a:avLst/>
          </a:prstGeom>
          <a:noFill/>
        </p:spPr>
        <p:txBody>
          <a:bodyPr wrap="square" anchor="t">
            <a:spAutoFit/>
          </a:bodyPr>
          <a:lstStyle/>
          <a:p>
            <a:pPr algn="l"/>
            <a:r>
              <a:rPr sz="1800" b="1" i="0">
                <a:solidFill>
                  <a:srgbClr val="1B7F4B"/>
                </a:solidFill>
                <a:latin typeface="Calibri"/>
              </a:rPr>
              <a:t>Intersection collapsed to a single CVE → the exploit is identified: it must be CVE-5.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THEORY</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identifiability theorem</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15</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c* is identifiable from a saturating outbreak over region R  ⟺  ∩(profiles in R) = {c*}.</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‘Saturating’ = the outbreak has infected everything it can reach in the vulnerable subgraph.</a:t>
            </a:r>
          </a:p>
          <a:p>
            <a:pPr>
              <a:spcAft>
                <a:spcPts val="800"/>
              </a:spcAft>
            </a:pPr>
            <a:r>
              <a:rPr sz="1700" b="0" i="0">
                <a:solidFill>
                  <a:srgbClr val="252B33"/>
                </a:solidFill>
                <a:latin typeface="Calibri"/>
              </a:rPr>
              <a:t>•  If the intersection is a single CVE, you know the attack exactly.</a:t>
            </a:r>
          </a:p>
          <a:p>
            <a:pPr>
              <a:spcAft>
                <a:spcPts val="800"/>
              </a:spcAft>
            </a:pPr>
            <a:r>
              <a:rPr sz="1700" b="0" i="0">
                <a:solidFill>
                  <a:srgbClr val="252B33"/>
                </a:solidFill>
                <a:latin typeface="Calibri"/>
              </a:rPr>
              <a:t>•  If it’s two or more, those CVEs are ‘confusable’ — no amount of watching this outbreak separates them.</a:t>
            </a:r>
          </a:p>
          <a:p>
            <a:pPr>
              <a:spcAft>
                <a:spcPts val="800"/>
              </a:spcAft>
            </a:pPr>
            <a:r>
              <a:rPr sz="1600" b="0" i="0">
                <a:solidFill>
                  <a:srgbClr val="B56A00"/>
                </a:solidFill>
                <a:latin typeface="Calibri"/>
              </a:rPr>
              <a:t>•  Honest caveat: the belief’s surviving support EQUALS this intersection by construction, so this is a CHARACTERIZATION of the observation model, not a deep theorem. The 100% ‘validation’ is a consistency check on the code, not an empirical prediction.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THEORY</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Confusability = the subset order</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16</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One CVE hides behind another exactly when its victims are a subset of the other’s.</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If carriers(c) ⊆ carriers(c′), then every c-victim also carries c′ — so a c-outbreak can never rule c′ out. c′ is a confuser of c.</a:t>
            </a:r>
          </a:p>
          <a:p>
            <a:pPr>
              <a:spcAft>
                <a:spcPts val="800"/>
              </a:spcAft>
            </a:pPr>
            <a:r>
              <a:rPr sz="1700" b="0" i="0">
                <a:solidFill>
                  <a:srgbClr val="252B33"/>
                </a:solidFill>
                <a:latin typeface="Calibri"/>
              </a:rPr>
              <a:t>•  This gives a clean structure: order CVEs by carrier-set containment. A CVE is globally identifiable iff no other CVE’s carrier set is a superset of its own.</a:t>
            </a:r>
          </a:p>
          <a:p>
            <a:pPr>
              <a:spcAft>
                <a:spcPts val="800"/>
              </a:spcAft>
            </a:pPr>
            <a:r>
              <a:rPr sz="1600" b="0" i="0">
                <a:solidFill>
                  <a:srgbClr val="1B7F4B"/>
                </a:solidFill>
                <a:latin typeface="Calibri"/>
              </a:rPr>
              <a:t>•  Powerful consequence for DEFENSE: even if you can’t tell c from its confuser c′, defending c′’s (larger) subgraph OVER-COVERS the true victims — so you still protect them.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THEORY</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It’s group testing — realized by contagion</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17</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The whole inference is an instance of online, graph-induced, adversarial group testing.</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Classic group testing: identify a defective item by pooling and testing subsets.</a:t>
            </a:r>
          </a:p>
          <a:p>
            <a:pPr>
              <a:spcAft>
                <a:spcPts val="800"/>
              </a:spcAft>
            </a:pPr>
            <a:r>
              <a:rPr sz="1700" b="0" i="0">
                <a:solidFill>
                  <a:srgbClr val="252B33"/>
                </a:solidFill>
                <a:latin typeface="Calibri"/>
              </a:rPr>
              <a:t>•  Here each infection is one ‘positive test’ whose profile-set is intersected into the running candidate set (Rényi separating systems; Kautz–Singleton cover-free families).</a:t>
            </a:r>
          </a:p>
          <a:p>
            <a:pPr>
              <a:spcAft>
                <a:spcPts val="800"/>
              </a:spcAft>
            </a:pPr>
            <a:r>
              <a:rPr sz="1700" b="0" i="0">
                <a:solidFill>
                  <a:srgbClr val="252B33"/>
                </a:solidFill>
                <a:latin typeface="Calibri"/>
              </a:rPr>
              <a:t>•  The twist that IS ours: the ‘tests’ aren’t designed — they’re the fleet’s given software profiles — and the outcomes are produced by an adversarial, graph-constrained spreading process, observed online as the outbreak grows.</a:t>
            </a:r>
          </a:p>
          <a:p>
            <a:pPr>
              <a:spcAft>
                <a:spcPts val="800"/>
              </a:spcAft>
            </a:pPr>
            <a:r>
              <a:rPr sz="1600" b="0" i="0">
                <a:solidFill>
                  <a:srgbClr val="2E6FB0"/>
                </a:solidFill>
                <a:latin typeface="Calibri"/>
              </a:rPr>
              <a:t>•  So the number of infections needed inherits the group-testing log₂K bit-bound.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THEORY</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Confusability structure (real NVD networks)</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18</a:t>
            </a:r>
          </a:p>
        </p:txBody>
      </p:sp>
      <p:pic>
        <p:nvPicPr>
          <p:cNvPr id="6" name="Picture 5" descr="confusability.png"/>
          <p:cNvPicPr>
            <a:picLocks noChangeAspect="1"/>
          </p:cNvPicPr>
          <p:nvPr/>
        </p:nvPicPr>
        <p:blipFill>
          <a:blip r:embed="rId2"/>
          <a:stretch>
            <a:fillRect/>
          </a:stretch>
        </p:blipFill>
        <p:spPr>
          <a:xfrm>
            <a:off x="883767" y="1645920"/>
            <a:ext cx="10424160" cy="3476475"/>
          </a:xfrm>
          <a:prstGeom prst="rect">
            <a:avLst/>
          </a:prstGeom>
        </p:spPr>
      </p:pic>
      <p:sp>
        <p:nvSpPr>
          <p:cNvPr id="7" name="Rectangle 6"/>
          <p:cNvSpPr/>
          <p:nvPr/>
        </p:nvSpPr>
        <p:spPr>
          <a:xfrm>
            <a:off x="640080" y="5532120"/>
            <a:ext cx="10881360" cy="1051560"/>
          </a:xfrm>
          <a:prstGeom prst="rect">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623560"/>
            <a:ext cx="10424160" cy="914400"/>
          </a:xfrm>
          <a:prstGeom prst="rect">
            <a:avLst/>
          </a:prstGeom>
          <a:noFill/>
        </p:spPr>
        <p:txBody>
          <a:bodyPr wrap="square" anchor="ctr">
            <a:spAutoFit/>
          </a:bodyPr>
          <a:lstStyle/>
          <a:p>
            <a:pPr algn="l"/>
            <a:r>
              <a:rPr sz="1450" b="0" i="0">
                <a:solidFill>
                  <a:srgbClr val="252B33"/>
                </a:solidFill>
                <a:latin typeface="Calibri"/>
              </a:rPr>
              <a:t>How to read it:  left: most CVEs have ZERO confusers (identifiable). middle: the identifiable fraction decays as the CVE universe K grows (more CVEs → more subset-order dominators). right: a drawn slice of the confusability graph.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THEORY</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Sample complexity — how fast you identify the exploit</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19</a:t>
            </a:r>
          </a:p>
        </p:txBody>
      </p:sp>
      <p:pic>
        <p:nvPicPr>
          <p:cNvPr id="6" name="Picture 5" descr="sample_complexity.png"/>
          <p:cNvPicPr>
            <a:picLocks noChangeAspect="1"/>
          </p:cNvPicPr>
          <p:nvPr/>
        </p:nvPicPr>
        <p:blipFill>
          <a:blip r:embed="rId2"/>
          <a:stretch>
            <a:fillRect/>
          </a:stretch>
        </p:blipFill>
        <p:spPr>
          <a:xfrm>
            <a:off x="1638147" y="1645920"/>
            <a:ext cx="8915400" cy="3566160"/>
          </a:xfrm>
          <a:prstGeom prst="rect">
            <a:avLst/>
          </a:prstGeom>
        </p:spPr>
      </p:pic>
      <p:sp>
        <p:nvSpPr>
          <p:cNvPr id="7" name="Rectangle 6"/>
          <p:cNvSpPr/>
          <p:nvPr/>
        </p:nvSpPr>
        <p:spPr>
          <a:xfrm>
            <a:off x="640080" y="5532120"/>
            <a:ext cx="10881360" cy="1051560"/>
          </a:xfrm>
          <a:prstGeom prst="rect">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623560"/>
            <a:ext cx="10424160" cy="914400"/>
          </a:xfrm>
          <a:prstGeom prst="rect">
            <a:avLst/>
          </a:prstGeom>
          <a:noFill/>
        </p:spPr>
        <p:txBody>
          <a:bodyPr wrap="square" anchor="ctr">
            <a:spAutoFit/>
          </a:bodyPr>
          <a:lstStyle/>
          <a:p>
            <a:pPr algn="l"/>
            <a:r>
              <a:rPr sz="1450" b="0" i="0">
                <a:solidFill>
                  <a:srgbClr val="252B33"/>
                </a:solidFill>
                <a:latin typeface="Calibri"/>
              </a:rPr>
              <a:t>How to read it:  distribution of how many propagation infections it takes for the candidate set to collapse to one CVE. Median ≈ 5 infections ≈ 1.02·log₂K — essentially the information-theoretic group-testing minimum. Real profile correlation bends the rate TOWARD the optimum.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F355E"/>
        </a:solidFill>
        <a:effectLst/>
      </p:bgPr>
    </p:bg>
    <p:spTree>
      <p:nvGrpSpPr>
        <p:cNvPr id="1" name=""/>
        <p:cNvGrpSpPr/>
        <p:nvPr/>
      </p:nvGrpSpPr>
      <p:grpSpPr/>
      <p:sp>
        <p:nvSpPr>
          <p:cNvPr id="2" name="TextBox 1"/>
          <p:cNvSpPr txBox="1"/>
          <p:nvPr/>
        </p:nvSpPr>
        <p:spPr>
          <a:xfrm>
            <a:off x="822960" y="2103120"/>
            <a:ext cx="5486400" cy="548640"/>
          </a:xfrm>
          <a:prstGeom prst="rect">
            <a:avLst/>
          </a:prstGeom>
          <a:noFill/>
        </p:spPr>
        <p:txBody>
          <a:bodyPr wrap="square" anchor="t">
            <a:spAutoFit/>
          </a:bodyPr>
          <a:lstStyle/>
          <a:p>
            <a:pPr algn="l"/>
            <a:r>
              <a:rPr sz="1800" b="1" i="0">
                <a:solidFill>
                  <a:srgbClr val="8FA6C8"/>
                </a:solidFill>
                <a:latin typeface="Calibri"/>
              </a:rPr>
              <a:t>PART 5</a:t>
            </a:r>
          </a:p>
        </p:txBody>
      </p:sp>
      <p:sp>
        <p:nvSpPr>
          <p:cNvPr id="3" name="TextBox 2"/>
          <p:cNvSpPr txBox="1"/>
          <p:nvPr/>
        </p:nvSpPr>
        <p:spPr>
          <a:xfrm>
            <a:off x="822960" y="2743200"/>
            <a:ext cx="10515600" cy="1463040"/>
          </a:xfrm>
          <a:prstGeom prst="rect">
            <a:avLst/>
          </a:prstGeom>
          <a:noFill/>
        </p:spPr>
        <p:txBody>
          <a:bodyPr wrap="square" anchor="t">
            <a:spAutoFit/>
          </a:bodyPr>
          <a:lstStyle/>
          <a:p>
            <a:pPr algn="l"/>
            <a:r>
              <a:rPr sz="4000" b="1" i="0">
                <a:solidFill>
                  <a:srgbClr val="FFFFFF"/>
                </a:solidFill>
                <a:latin typeface="Calibri"/>
              </a:rPr>
              <a:t>The Method</a:t>
            </a:r>
          </a:p>
        </p:txBody>
      </p:sp>
      <p:sp>
        <p:nvSpPr>
          <p:cNvPr id="4" name="TextBox 3"/>
          <p:cNvSpPr txBox="1"/>
          <p:nvPr/>
        </p:nvSpPr>
        <p:spPr>
          <a:xfrm>
            <a:off x="822960" y="4297680"/>
            <a:ext cx="10515600" cy="1097280"/>
          </a:xfrm>
          <a:prstGeom prst="rect">
            <a:avLst/>
          </a:prstGeom>
          <a:noFill/>
        </p:spPr>
        <p:txBody>
          <a:bodyPr wrap="square" anchor="t">
            <a:spAutoFit/>
          </a:bodyPr>
          <a:lstStyle/>
          <a:p>
            <a:pPr algn="l"/>
            <a:r>
              <a:rPr sz="1900" b="0" i="1">
                <a:solidFill>
                  <a:srgbClr val="C7D6EC"/>
                </a:solidFill>
                <a:latin typeface="Calibri"/>
              </a:rPr>
              <a:t>The belief, and the content-aware policy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WORKED EXAMPLE</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belief update, step by step</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20</a:t>
            </a:r>
          </a:p>
        </p:txBody>
      </p:sp>
      <p:sp>
        <p:nvSpPr>
          <p:cNvPr id="6" name="TextBox 5"/>
          <p:cNvSpPr txBox="1"/>
          <p:nvPr/>
        </p:nvSpPr>
        <p:spPr>
          <a:xfrm>
            <a:off x="640080" y="1645920"/>
            <a:ext cx="10881360" cy="731520"/>
          </a:xfrm>
          <a:prstGeom prst="rect">
            <a:avLst/>
          </a:prstGeom>
          <a:noFill/>
        </p:spPr>
        <p:txBody>
          <a:bodyPr wrap="square" anchor="t">
            <a:spAutoFit/>
          </a:bodyPr>
          <a:lstStyle/>
          <a:p>
            <a:pPr algn="l"/>
            <a:r>
              <a:rPr sz="1800" b="0" i="0">
                <a:solidFill>
                  <a:srgbClr val="252B33"/>
                </a:solidFill>
                <a:latin typeface="Calibri"/>
              </a:rPr>
              <a:t>The agent keeps a probability over which CVE is the attack, and sharpens it each step.</a:t>
            </a:r>
          </a:p>
        </p:txBody>
      </p:sp>
      <p:sp>
        <p:nvSpPr>
          <p:cNvPr id="7" name="Rectangle 6"/>
          <p:cNvSpPr/>
          <p:nvPr/>
        </p:nvSpPr>
        <p:spPr>
          <a:xfrm>
            <a:off x="640080" y="2468880"/>
            <a:ext cx="822960" cy="658368"/>
          </a:xfrm>
          <a:prstGeom prst="rect">
            <a:avLst/>
          </a:prstGeom>
          <a:solidFill>
            <a:srgbClr val="1F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68880"/>
            <a:ext cx="822960" cy="658368"/>
          </a:xfrm>
          <a:prstGeom prst="rect">
            <a:avLst/>
          </a:prstGeom>
          <a:noFill/>
        </p:spPr>
        <p:txBody>
          <a:bodyPr wrap="square" anchor="ctr">
            <a:spAutoFit/>
          </a:bodyPr>
          <a:lstStyle/>
          <a:p>
            <a:pPr algn="ctr"/>
            <a:r>
              <a:rPr sz="1500" b="1" i="0">
                <a:solidFill>
                  <a:srgbClr val="FFFFFF"/>
                </a:solidFill>
                <a:latin typeface="Calibri"/>
              </a:rPr>
              <a:t>PRIOR</a:t>
            </a:r>
          </a:p>
        </p:txBody>
      </p:sp>
      <p:sp>
        <p:nvSpPr>
          <p:cNvPr id="9" name="Rectangle 8"/>
          <p:cNvSpPr/>
          <p:nvPr/>
        </p:nvSpPr>
        <p:spPr>
          <a:xfrm>
            <a:off x="1554480" y="2468880"/>
            <a:ext cx="9966960" cy="6583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37360" y="2468880"/>
            <a:ext cx="9692640" cy="658368"/>
          </a:xfrm>
          <a:prstGeom prst="rect">
            <a:avLst/>
          </a:prstGeom>
          <a:noFill/>
        </p:spPr>
        <p:txBody>
          <a:bodyPr wrap="square" anchor="ctr">
            <a:spAutoFit/>
          </a:bodyPr>
          <a:lstStyle/>
          <a:p>
            <a:pPr algn="l"/>
            <a:r>
              <a:rPr sz="1550" b="0" i="0">
                <a:solidFill>
                  <a:srgbClr val="252B33"/>
                </a:solidFill>
                <a:latin typeface="Calibri"/>
              </a:rPr>
              <a:t>Start from CVE prevalence (or CVSS/LLM threat-intel for a cold start).</a:t>
            </a:r>
          </a:p>
        </p:txBody>
      </p:sp>
      <p:sp>
        <p:nvSpPr>
          <p:cNvPr id="11" name="Rectangle 10"/>
          <p:cNvSpPr/>
          <p:nvPr/>
        </p:nvSpPr>
        <p:spPr>
          <a:xfrm>
            <a:off x="640080" y="3310128"/>
            <a:ext cx="822960" cy="658368"/>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310128"/>
            <a:ext cx="822960" cy="658368"/>
          </a:xfrm>
          <a:prstGeom prst="rect">
            <a:avLst/>
          </a:prstGeom>
          <a:noFill/>
        </p:spPr>
        <p:txBody>
          <a:bodyPr wrap="square" anchor="ctr">
            <a:spAutoFit/>
          </a:bodyPr>
          <a:lstStyle/>
          <a:p>
            <a:pPr algn="ctr"/>
            <a:r>
              <a:rPr sz="1500" b="1" i="0">
                <a:solidFill>
                  <a:srgbClr val="FFFFFF"/>
                </a:solidFill>
                <a:latin typeface="Calibri"/>
              </a:rPr>
              <a:t>OBSERVE</a:t>
            </a:r>
          </a:p>
        </p:txBody>
      </p:sp>
      <p:sp>
        <p:nvSpPr>
          <p:cNvPr id="13" name="Rectangle 12"/>
          <p:cNvSpPr/>
          <p:nvPr/>
        </p:nvSpPr>
        <p:spPr>
          <a:xfrm>
            <a:off x="1554480" y="3310128"/>
            <a:ext cx="9966960" cy="6583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3310128"/>
            <a:ext cx="9692640" cy="658368"/>
          </a:xfrm>
          <a:prstGeom prst="rect">
            <a:avLst/>
          </a:prstGeom>
          <a:noFill/>
        </p:spPr>
        <p:txBody>
          <a:bodyPr wrap="square" anchor="ctr">
            <a:spAutoFit/>
          </a:bodyPr>
          <a:lstStyle/>
          <a:p>
            <a:pPr algn="l"/>
            <a:r>
              <a:rPr sz="1550" b="0" i="0">
                <a:solidFill>
                  <a:srgbClr val="252B33"/>
                </a:solidFill>
                <a:latin typeface="Calibri"/>
              </a:rPr>
              <a:t>New infections arrive. Each one must carry the true CVE.</a:t>
            </a:r>
          </a:p>
        </p:txBody>
      </p:sp>
      <p:sp>
        <p:nvSpPr>
          <p:cNvPr id="15" name="Rectangle 14"/>
          <p:cNvSpPr/>
          <p:nvPr/>
        </p:nvSpPr>
        <p:spPr>
          <a:xfrm>
            <a:off x="640080" y="4151376"/>
            <a:ext cx="822960" cy="658368"/>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151376"/>
            <a:ext cx="822960" cy="658368"/>
          </a:xfrm>
          <a:prstGeom prst="rect">
            <a:avLst/>
          </a:prstGeom>
          <a:noFill/>
        </p:spPr>
        <p:txBody>
          <a:bodyPr wrap="square" anchor="ctr">
            <a:spAutoFit/>
          </a:bodyPr>
          <a:lstStyle/>
          <a:p>
            <a:pPr algn="ctr"/>
            <a:r>
              <a:rPr sz="1500" b="1" i="0">
                <a:solidFill>
                  <a:srgbClr val="FFFFFF"/>
                </a:solidFill>
                <a:latin typeface="Calibri"/>
              </a:rPr>
              <a:t>UPDATE</a:t>
            </a:r>
          </a:p>
        </p:txBody>
      </p:sp>
      <p:sp>
        <p:nvSpPr>
          <p:cNvPr id="17" name="Rectangle 16"/>
          <p:cNvSpPr/>
          <p:nvPr/>
        </p:nvSpPr>
        <p:spPr>
          <a:xfrm>
            <a:off x="1554480" y="4151376"/>
            <a:ext cx="9966960" cy="6583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37360" y="4151376"/>
            <a:ext cx="9692640" cy="658368"/>
          </a:xfrm>
          <a:prstGeom prst="rect">
            <a:avLst/>
          </a:prstGeom>
          <a:noFill/>
        </p:spPr>
        <p:txBody>
          <a:bodyPr wrap="square" anchor="ctr">
            <a:spAutoFit/>
          </a:bodyPr>
          <a:lstStyle/>
          <a:p>
            <a:pPr algn="l"/>
            <a:r>
              <a:rPr sz="1550" b="0" i="0">
                <a:solidFill>
                  <a:srgbClr val="252B33"/>
                </a:solidFill>
                <a:latin typeface="Calibri"/>
              </a:rPr>
              <a:t>Down-weight (soft) or eliminate (hard) CVEs inconsistent with the new victims.</a:t>
            </a:r>
          </a:p>
        </p:txBody>
      </p:sp>
      <p:sp>
        <p:nvSpPr>
          <p:cNvPr id="19" name="Rectangle 18"/>
          <p:cNvSpPr/>
          <p:nvPr/>
        </p:nvSpPr>
        <p:spPr>
          <a:xfrm>
            <a:off x="640080" y="4992624"/>
            <a:ext cx="822960" cy="658368"/>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992624"/>
            <a:ext cx="822960" cy="658368"/>
          </a:xfrm>
          <a:prstGeom prst="rect">
            <a:avLst/>
          </a:prstGeom>
          <a:noFill/>
        </p:spPr>
        <p:txBody>
          <a:bodyPr wrap="square" anchor="ctr">
            <a:spAutoFit/>
          </a:bodyPr>
          <a:lstStyle/>
          <a:p>
            <a:pPr algn="ctr"/>
            <a:r>
              <a:rPr sz="1500" b="1" i="0">
                <a:solidFill>
                  <a:srgbClr val="FFFFFF"/>
                </a:solidFill>
                <a:latin typeface="Calibri"/>
              </a:rPr>
              <a:t>ACT</a:t>
            </a:r>
          </a:p>
        </p:txBody>
      </p:sp>
      <p:sp>
        <p:nvSpPr>
          <p:cNvPr id="21" name="Rectangle 20"/>
          <p:cNvSpPr/>
          <p:nvPr/>
        </p:nvSpPr>
        <p:spPr>
          <a:xfrm>
            <a:off x="1554480" y="4992624"/>
            <a:ext cx="9966960" cy="65836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37360" y="4992624"/>
            <a:ext cx="9692640" cy="658368"/>
          </a:xfrm>
          <a:prstGeom prst="rect">
            <a:avLst/>
          </a:prstGeom>
          <a:noFill/>
        </p:spPr>
        <p:txBody>
          <a:bodyPr wrap="square" anchor="ctr">
            <a:spAutoFit/>
          </a:bodyPr>
          <a:lstStyle/>
          <a:p>
            <a:pPr algn="l"/>
            <a:r>
              <a:rPr sz="1550" b="0" i="0">
                <a:solidFill>
                  <a:srgbClr val="252B33"/>
                </a:solidFill>
                <a:latin typeface="Calibri"/>
              </a:rPr>
              <a:t>Take the expectation of the defense score over the current belief.</a:t>
            </a:r>
          </a:p>
        </p:txBody>
      </p:sp>
      <p:sp>
        <p:nvSpPr>
          <p:cNvPr id="23" name="TextBox 22"/>
          <p:cNvSpPr txBox="1"/>
          <p:nvPr/>
        </p:nvSpPr>
        <p:spPr>
          <a:xfrm>
            <a:off x="640080" y="5925312"/>
            <a:ext cx="10881360" cy="822960"/>
          </a:xfrm>
          <a:prstGeom prst="rect">
            <a:avLst/>
          </a:prstGeom>
          <a:noFill/>
        </p:spPr>
        <p:txBody>
          <a:bodyPr wrap="square" anchor="t">
            <a:spAutoFit/>
          </a:bodyPr>
          <a:lstStyle/>
          <a:p>
            <a:pPr algn="l"/>
            <a:r>
              <a:rPr sz="1800" b="1" i="0">
                <a:solidFill>
                  <a:srgbClr val="1B7F4B"/>
                </a:solidFill>
                <a:latin typeface="Calibri"/>
              </a:rPr>
              <a:t>Early on the belief is broad → the agent hedges. As it sharpens → the agent commits.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METHOD</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Soft vs hard likelihood — why soft wins</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21</a:t>
            </a:r>
          </a:p>
        </p:txBody>
      </p:sp>
      <p:sp>
        <p:nvSpPr>
          <p:cNvPr id="6" name="Rectangle 5"/>
          <p:cNvSpPr/>
          <p:nvPr/>
        </p:nvSpPr>
        <p:spPr>
          <a:xfrm>
            <a:off x="640080" y="1691640"/>
            <a:ext cx="5166360" cy="502920"/>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5166360" cy="502920"/>
          </a:xfrm>
          <a:prstGeom prst="rect">
            <a:avLst/>
          </a:prstGeom>
          <a:noFill/>
        </p:spPr>
        <p:txBody>
          <a:bodyPr wrap="square" anchor="ctr">
            <a:spAutoFit/>
          </a:bodyPr>
          <a:lstStyle/>
          <a:p>
            <a:pPr algn="ctr"/>
            <a:r>
              <a:rPr sz="1600" b="1" i="0">
                <a:solidFill>
                  <a:srgbClr val="FFFFFF"/>
                </a:solidFill>
                <a:latin typeface="Calibri"/>
              </a:rPr>
              <a:t>HARD consistency (the theory)</a:t>
            </a:r>
          </a:p>
        </p:txBody>
      </p:sp>
      <p:sp>
        <p:nvSpPr>
          <p:cNvPr id="8" name="TextBox 7"/>
          <p:cNvSpPr txBox="1"/>
          <p:nvPr/>
        </p:nvSpPr>
        <p:spPr>
          <a:xfrm>
            <a:off x="640080" y="2331720"/>
            <a:ext cx="5166360" cy="4023360"/>
          </a:xfrm>
          <a:prstGeom prst="rect">
            <a:avLst/>
          </a:prstGeom>
          <a:noFill/>
        </p:spPr>
        <p:txBody>
          <a:bodyPr wrap="square">
            <a:spAutoFit/>
          </a:bodyPr>
          <a:lstStyle/>
          <a:p>
            <a:pPr>
              <a:spcAft>
                <a:spcPts val="800"/>
              </a:spcAft>
            </a:pPr>
            <a:r>
              <a:rPr sz="1550" b="0" i="0">
                <a:solidFill>
                  <a:srgbClr val="252B33"/>
                </a:solidFill>
                <a:latin typeface="Calibri"/>
              </a:rPr>
              <a:t>•  A CVE absent from any infected host’s profile is ELIMINATED outright.</a:t>
            </a:r>
          </a:p>
          <a:p>
            <a:pPr>
              <a:spcAft>
                <a:spcPts val="800"/>
              </a:spcAft>
            </a:pPr>
            <a:r>
              <a:rPr sz="1550" b="0" i="0">
                <a:solidFill>
                  <a:srgbClr val="252B33"/>
                </a:solidFill>
                <a:latin typeface="Calibri"/>
              </a:rPr>
              <a:t>•  Clean and exact — matches the identifiability theorem.</a:t>
            </a:r>
          </a:p>
          <a:p>
            <a:pPr>
              <a:spcAft>
                <a:spcPts val="800"/>
              </a:spcAft>
            </a:pPr>
            <a:r>
              <a:rPr sz="1550" b="0" i="0">
                <a:solidFill>
                  <a:srgbClr val="252B33"/>
                </a:solidFill>
                <a:latin typeface="Calibri"/>
              </a:rPr>
              <a:t>•  Fragile: a single false-positive detection (a machine wrongly flagged infected) can wrongly eliminate the TRUE CVE. One bad observation breaks it.</a:t>
            </a:r>
          </a:p>
        </p:txBody>
      </p:sp>
      <p:sp>
        <p:nvSpPr>
          <p:cNvPr id="9" name="Rectangle 8"/>
          <p:cNvSpPr/>
          <p:nvPr/>
        </p:nvSpPr>
        <p:spPr>
          <a:xfrm>
            <a:off x="6355080" y="1691640"/>
            <a:ext cx="5166360" cy="502920"/>
          </a:xfrm>
          <a:prstGeom prst="rect">
            <a:avLst/>
          </a:prstGeom>
          <a:solidFill>
            <a:srgbClr val="1F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91640"/>
            <a:ext cx="5166360" cy="502920"/>
          </a:xfrm>
          <a:prstGeom prst="rect">
            <a:avLst/>
          </a:prstGeom>
          <a:noFill/>
        </p:spPr>
        <p:txBody>
          <a:bodyPr wrap="square" anchor="ctr">
            <a:spAutoFit/>
          </a:bodyPr>
          <a:lstStyle/>
          <a:p>
            <a:pPr algn="ctr"/>
            <a:r>
              <a:rPr sz="1600" b="1" i="0">
                <a:solidFill>
                  <a:srgbClr val="FFFFFF"/>
                </a:solidFill>
                <a:latin typeface="Calibri"/>
              </a:rPr>
              <a:t>SOFT likelihood (what we deploy)</a:t>
            </a:r>
          </a:p>
        </p:txBody>
      </p:sp>
      <p:sp>
        <p:nvSpPr>
          <p:cNvPr id="11" name="TextBox 10"/>
          <p:cNvSpPr txBox="1"/>
          <p:nvPr/>
        </p:nvSpPr>
        <p:spPr>
          <a:xfrm>
            <a:off x="6355080" y="2331720"/>
            <a:ext cx="5166360" cy="4023360"/>
          </a:xfrm>
          <a:prstGeom prst="rect">
            <a:avLst/>
          </a:prstGeom>
          <a:noFill/>
        </p:spPr>
        <p:txBody>
          <a:bodyPr wrap="square">
            <a:spAutoFit/>
          </a:bodyPr>
          <a:lstStyle/>
          <a:p>
            <a:pPr>
              <a:spcAft>
                <a:spcPts val="800"/>
              </a:spcAft>
            </a:pPr>
            <a:r>
              <a:rPr sz="1550" b="0" i="0">
                <a:solidFill>
                  <a:srgbClr val="252B33"/>
                </a:solidFill>
                <a:latin typeface="Calibri"/>
              </a:rPr>
              <a:t>•  Each infected host DOWN-WEIGHTS rather than eliminates inconsistent CVEs.</a:t>
            </a:r>
          </a:p>
          <a:p>
            <a:pPr>
              <a:spcAft>
                <a:spcPts val="800"/>
              </a:spcAft>
            </a:pPr>
            <a:r>
              <a:rPr sz="1550" b="0" i="0">
                <a:solidFill>
                  <a:srgbClr val="252B33"/>
                </a:solidFill>
                <a:latin typeface="Calibri"/>
              </a:rPr>
              <a:t>•  One false detection can’t exclude the truth — it just nudges the belief.</a:t>
            </a:r>
          </a:p>
          <a:p>
            <a:pPr>
              <a:spcAft>
                <a:spcPts val="800"/>
              </a:spcAft>
            </a:pPr>
            <a:r>
              <a:rPr sz="1550" b="0" i="0">
                <a:solidFill>
                  <a:srgbClr val="252B33"/>
                </a:solidFill>
                <a:latin typeface="Calibri"/>
              </a:rPr>
              <a:t>•  Robust to noisy detection and to deliberate belief-poisoning.</a:t>
            </a:r>
          </a:p>
          <a:p>
            <a:pPr>
              <a:spcAft>
                <a:spcPts val="800"/>
              </a:spcAft>
            </a:pPr>
            <a:r>
              <a:rPr sz="1550" b="0" i="0">
                <a:solidFill>
                  <a:srgbClr val="252B33"/>
                </a:solidFill>
                <a:latin typeface="Calibri"/>
              </a:rPr>
              <a:t>•  This is the version used in all deployment-facing experiments.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METHOD</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content-aware policy — the scoring rule</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22</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Score each frontier host by its belief-weighted EXPOSED-VULNERABLE DEGREE.</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For a host v, ask: how many of its neighbours are (a) still susceptible AND (b) exploitable by a CVE the belief thinks is live?</a:t>
            </a:r>
          </a:p>
          <a:p>
            <a:pPr>
              <a:spcAft>
                <a:spcPts val="800"/>
              </a:spcAft>
            </a:pPr>
            <a:r>
              <a:rPr sz="1700" b="0" i="0">
                <a:solidFill>
                  <a:srgbClr val="252B33"/>
                </a:solidFill>
                <a:latin typeface="Calibri"/>
              </a:rPr>
              <a:t>•  That count — averaged over the belief — is v’s expected number of onward infections. Defend the hosts with the highest such score.</a:t>
            </a:r>
          </a:p>
          <a:p>
            <a:pPr>
              <a:spcAft>
                <a:spcPts val="800"/>
              </a:spcAft>
            </a:pPr>
            <a:r>
              <a:rPr sz="1700" b="0" i="0">
                <a:solidFill>
                  <a:srgbClr val="252B33"/>
                </a:solidFill>
                <a:latin typeface="Calibri"/>
              </a:rPr>
              <a:t>•  It generalizes classic ‘degree’ immunization to the uncertain-payload regime, and reduces to plain degree when the belief is uniform / everything is vulnerable.</a:t>
            </a:r>
          </a:p>
          <a:p>
            <a:pPr>
              <a:spcAft>
                <a:spcPts val="800"/>
              </a:spcAft>
            </a:pPr>
            <a:r>
              <a:rPr sz="1600" b="0" i="0">
                <a:solidFill>
                  <a:srgbClr val="2E6FB0"/>
                </a:solidFill>
                <a:latin typeface="Calibri"/>
              </a:rPr>
              <a:t>•  Then: while uncertain, ISOLATE (a blunt but certain cut); once the belief’s support collapses, switch to PATCH (immunize precisely, keep hosts online).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F355E"/>
        </a:solidFill>
        <a:effectLst/>
      </p:bgPr>
    </p:bg>
    <p:spTree>
      <p:nvGrpSpPr>
        <p:cNvPr id="1" name=""/>
        <p:cNvGrpSpPr/>
        <p:nvPr/>
      </p:nvGrpSpPr>
      <p:grpSpPr/>
      <p:sp>
        <p:nvSpPr>
          <p:cNvPr id="2" name="TextBox 1"/>
          <p:cNvSpPr txBox="1"/>
          <p:nvPr/>
        </p:nvSpPr>
        <p:spPr>
          <a:xfrm>
            <a:off x="822960" y="2103120"/>
            <a:ext cx="5486400" cy="548640"/>
          </a:xfrm>
          <a:prstGeom prst="rect">
            <a:avLst/>
          </a:prstGeom>
          <a:noFill/>
        </p:spPr>
        <p:txBody>
          <a:bodyPr wrap="square" anchor="t">
            <a:spAutoFit/>
          </a:bodyPr>
          <a:lstStyle/>
          <a:p>
            <a:pPr algn="l"/>
            <a:r>
              <a:rPr sz="1800" b="1" i="0">
                <a:solidFill>
                  <a:srgbClr val="8FA6C8"/>
                </a:solidFill>
                <a:latin typeface="Calibri"/>
              </a:rPr>
              <a:t>PART 6</a:t>
            </a:r>
          </a:p>
        </p:txBody>
      </p:sp>
      <p:sp>
        <p:nvSpPr>
          <p:cNvPr id="3" name="TextBox 2"/>
          <p:cNvSpPr txBox="1"/>
          <p:nvPr/>
        </p:nvSpPr>
        <p:spPr>
          <a:xfrm>
            <a:off x="822960" y="2743200"/>
            <a:ext cx="10515600" cy="1463040"/>
          </a:xfrm>
          <a:prstGeom prst="rect">
            <a:avLst/>
          </a:prstGeom>
          <a:noFill/>
        </p:spPr>
        <p:txBody>
          <a:bodyPr wrap="square" anchor="t">
            <a:spAutoFit/>
          </a:bodyPr>
          <a:lstStyle/>
          <a:p>
            <a:pPr algn="l"/>
            <a:r>
              <a:rPr sz="4000" b="1" i="0">
                <a:solidFill>
                  <a:srgbClr val="FFFFFF"/>
                </a:solidFill>
                <a:latin typeface="Calibri"/>
              </a:rPr>
              <a:t>Results</a:t>
            </a:r>
          </a:p>
        </p:txBody>
      </p:sp>
      <p:sp>
        <p:nvSpPr>
          <p:cNvPr id="4" name="TextBox 3"/>
          <p:cNvSpPr txBox="1"/>
          <p:nvPr/>
        </p:nvSpPr>
        <p:spPr>
          <a:xfrm>
            <a:off x="822960" y="4297680"/>
            <a:ext cx="10515600" cy="1097280"/>
          </a:xfrm>
          <a:prstGeom prst="rect">
            <a:avLst/>
          </a:prstGeom>
          <a:noFill/>
        </p:spPr>
        <p:txBody>
          <a:bodyPr wrap="square" anchor="t">
            <a:spAutoFit/>
          </a:bodyPr>
          <a:lstStyle/>
          <a:p>
            <a:pPr algn="l"/>
            <a:r>
              <a:rPr sz="1900" b="0" i="1">
                <a:solidFill>
                  <a:srgbClr val="C7D6EC"/>
                </a:solidFill>
                <a:latin typeface="Calibri"/>
              </a:rPr>
              <a:t>Synthetic, real-topology, and real-data — with honest scope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RESULTS</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Experimental design — why it’s trustworthy</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23</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Every policy faces the IDENTICAL outbreak (paired trials); numbers are statistically tested.</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Paired design: same graph, same target CVE, same seeds, same infection coin-flips for every defender in a trial. This slashes variance and makes deltas real, not noise.</a:t>
            </a:r>
          </a:p>
          <a:p>
            <a:pPr>
              <a:spcAft>
                <a:spcPts val="800"/>
              </a:spcAft>
            </a:pPr>
            <a:r>
              <a:rPr sz="1700" b="0" i="0">
                <a:solidFill>
                  <a:srgbClr val="252B33"/>
                </a:solidFill>
                <a:latin typeface="Calibri"/>
              </a:rPr>
              <a:t>•  Randomized target CVE per trial — no cherry-picked attack.</a:t>
            </a:r>
          </a:p>
          <a:p>
            <a:pPr>
              <a:spcAft>
                <a:spcPts val="800"/>
              </a:spcAft>
            </a:pPr>
            <a:r>
              <a:rPr sz="1700" b="0" i="0">
                <a:solidFill>
                  <a:srgbClr val="252B33"/>
                </a:solidFill>
                <a:latin typeface="Calibri"/>
              </a:rPr>
              <a:t>•  Real vulnerabilities from the NVD/CVE database; per-CVE transmissibility from CVSS.</a:t>
            </a:r>
          </a:p>
          <a:p>
            <a:pPr>
              <a:spcAft>
                <a:spcPts val="800"/>
              </a:spcAft>
            </a:pPr>
            <a:r>
              <a:rPr sz="1600" b="0" i="0">
                <a:solidFill>
                  <a:srgbClr val="1F355E"/>
                </a:solidFill>
                <a:latin typeface="Calibri"/>
              </a:rPr>
              <a:t>•  Paired Wilcoxon tests + family-wise (Holm-Bonferroni) correction on the headline claims. We also report per-trial WIN RATES, not just means.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RESULTS</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Headline — synthetic networks, real CVEs</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24</a:t>
            </a:r>
          </a:p>
        </p:txBody>
      </p:sp>
      <p:graphicFrame>
        <p:nvGraphicFramePr>
          <p:cNvPr id="6" name="Table 5"/>
          <p:cNvGraphicFramePr>
            <a:graphicFrameLocks noGrp="1"/>
          </p:cNvGraphicFramePr>
          <p:nvPr/>
        </p:nvGraphicFramePr>
        <p:xfrm>
          <a:off x="655167" y="1783080"/>
          <a:ext cx="10881360" cy="2286000"/>
        </p:xfrm>
        <a:graphic>
          <a:graphicData uri="http://schemas.openxmlformats.org/drawingml/2006/table">
            <a:tbl>
              <a:tblPr firstRow="1" bandRow="1">
                <a:tableStyleId>{5C22544A-7EE6-4342-B048-85BDC9FD1C3A}</a:tableStyleId>
              </a:tblPr>
              <a:tblGrid>
                <a:gridCol w="5760720"/>
                <a:gridCol w="1828800"/>
                <a:gridCol w="1920240"/>
                <a:gridCol w="1371600"/>
              </a:tblGrid>
              <a:tr h="457200">
                <a:tc>
                  <a:txBody>
                    <a:bodyPr/>
                    <a:lstStyle/>
                    <a:p>
                      <a:pPr algn="l"/>
                      <a:r>
                        <a:rPr sz="1500" b="1">
                          <a:solidFill>
                            <a:srgbClr val="FFFFFF"/>
                          </a:solidFill>
                        </a:rPr>
                        <a:t>Defender</a:t>
                      </a:r>
                    </a:p>
                  </a:txBody>
                  <a:tcPr>
                    <a:solidFill>
                      <a:srgbClr val="1F355E"/>
                    </a:solidFill>
                  </a:tcPr>
                </a:tc>
                <a:tc>
                  <a:txBody>
                    <a:bodyPr/>
                    <a:lstStyle/>
                    <a:p>
                      <a:pPr algn="ctr"/>
                      <a:r>
                        <a:rPr sz="1500" b="1">
                          <a:solidFill>
                            <a:srgbClr val="FFFFFF"/>
                          </a:solidFill>
                        </a:rPr>
                        <a:t>Infected ↓</a:t>
                      </a:r>
                    </a:p>
                  </a:txBody>
                  <a:tcPr>
                    <a:solidFill>
                      <a:srgbClr val="1F355E"/>
                    </a:solidFill>
                  </a:tcPr>
                </a:tc>
                <a:tc>
                  <a:txBody>
                    <a:bodyPr/>
                    <a:lstStyle/>
                    <a:p>
                      <a:pPr algn="ctr"/>
                      <a:r>
                        <a:rPr sz="1500" b="1">
                          <a:solidFill>
                            <a:srgbClr val="FFFFFF"/>
                          </a:solidFill>
                        </a:rPr>
                        <a:t>Availability ↑</a:t>
                      </a:r>
                    </a:p>
                  </a:txBody>
                  <a:tcPr>
                    <a:solidFill>
                      <a:srgbClr val="1F355E"/>
                    </a:solidFill>
                  </a:tcPr>
                </a:tc>
                <a:tc>
                  <a:txBody>
                    <a:bodyPr/>
                    <a:lstStyle/>
                    <a:p>
                      <a:pPr algn="ctr"/>
                      <a:r>
                        <a:rPr sz="1500" b="1">
                          <a:solidFill>
                            <a:srgbClr val="FFFFFF"/>
                          </a:solidFill>
                        </a:rPr>
                        <a:t>Contained@step ↓</a:t>
                      </a:r>
                    </a:p>
                  </a:txBody>
                  <a:tcPr>
                    <a:solidFill>
                      <a:srgbClr val="1F355E"/>
                    </a:solidFill>
                  </a:tcPr>
                </a:tc>
              </a:tr>
              <a:tr h="457200">
                <a:tc>
                  <a:txBody>
                    <a:bodyPr/>
                    <a:lstStyle/>
                    <a:p>
                      <a:pPr algn="l"/>
                      <a:r>
                        <a:rPr sz="1400" b="0">
                          <a:solidFill>
                            <a:srgbClr val="252B33"/>
                          </a:solidFill>
                        </a:rPr>
                        <a:t>No defense</a:t>
                      </a:r>
                    </a:p>
                  </a:txBody>
                  <a:tcPr>
                    <a:solidFill>
                      <a:srgbClr val="F3F6FA"/>
                    </a:solidFill>
                  </a:tcPr>
                </a:tc>
                <a:tc>
                  <a:txBody>
                    <a:bodyPr/>
                    <a:lstStyle/>
                    <a:p>
                      <a:pPr algn="ctr"/>
                      <a:r>
                        <a:rPr sz="1400" b="0">
                          <a:solidFill>
                            <a:srgbClr val="252B33"/>
                          </a:solidFill>
                        </a:rPr>
                        <a:t>36.6%</a:t>
                      </a:r>
                    </a:p>
                  </a:txBody>
                  <a:tcPr>
                    <a:solidFill>
                      <a:srgbClr val="F3F6FA"/>
                    </a:solidFill>
                  </a:tcPr>
                </a:tc>
                <a:tc>
                  <a:txBody>
                    <a:bodyPr/>
                    <a:lstStyle/>
                    <a:p>
                      <a:pPr algn="ctr"/>
                      <a:r>
                        <a:rPr sz="1400" b="0">
                          <a:solidFill>
                            <a:srgbClr val="252B33"/>
                          </a:solidFill>
                        </a:rPr>
                        <a:t>100%</a:t>
                      </a:r>
                    </a:p>
                  </a:txBody>
                  <a:tcPr>
                    <a:solidFill>
                      <a:srgbClr val="F3F6FA"/>
                    </a:solidFill>
                  </a:tcPr>
                </a:tc>
                <a:tc>
                  <a:txBody>
                    <a:bodyPr/>
                    <a:lstStyle/>
                    <a:p>
                      <a:pPr algn="ctr"/>
                      <a:r>
                        <a:rPr sz="1400" b="0">
                          <a:solidFill>
                            <a:srgbClr val="252B33"/>
                          </a:solidFill>
                        </a:rPr>
                        <a:t>14.2</a:t>
                      </a:r>
                    </a:p>
                  </a:txBody>
                  <a:tcPr>
                    <a:solidFill>
                      <a:srgbClr val="F3F6FA"/>
                    </a:solidFill>
                  </a:tcPr>
                </a:tc>
              </a:tr>
              <a:tr h="457200">
                <a:tc>
                  <a:txBody>
                    <a:bodyPr/>
                    <a:lstStyle/>
                    <a:p>
                      <a:pPr algn="l"/>
                      <a:r>
                        <a:rPr sz="1400" b="0">
                          <a:solidFill>
                            <a:srgbClr val="252B33"/>
                          </a:solidFill>
                        </a:rPr>
                        <a:t>Best structural (degree / betweenness)</a:t>
                      </a:r>
                    </a:p>
                  </a:txBody>
                  <a:tcPr>
                    <a:solidFill>
                      <a:srgbClr val="FFFFFF"/>
                    </a:solidFill>
                  </a:tcPr>
                </a:tc>
                <a:tc>
                  <a:txBody>
                    <a:bodyPr/>
                    <a:lstStyle/>
                    <a:p>
                      <a:pPr algn="ctr"/>
                      <a:r>
                        <a:rPr sz="1400" b="0">
                          <a:solidFill>
                            <a:srgbClr val="252B33"/>
                          </a:solidFill>
                        </a:rPr>
                        <a:t>3.4%</a:t>
                      </a:r>
                    </a:p>
                  </a:txBody>
                  <a:tcPr>
                    <a:solidFill>
                      <a:srgbClr val="FFFFFF"/>
                    </a:solidFill>
                  </a:tcPr>
                </a:tc>
                <a:tc>
                  <a:txBody>
                    <a:bodyPr/>
                    <a:lstStyle/>
                    <a:p>
                      <a:pPr algn="ctr"/>
                      <a:r>
                        <a:rPr sz="1400" b="0">
                          <a:solidFill>
                            <a:srgbClr val="252B33"/>
                          </a:solidFill>
                        </a:rPr>
                        <a:t>95.5%</a:t>
                      </a:r>
                    </a:p>
                  </a:txBody>
                  <a:tcPr>
                    <a:solidFill>
                      <a:srgbClr val="FFFFFF"/>
                    </a:solidFill>
                  </a:tcPr>
                </a:tc>
                <a:tc>
                  <a:txBody>
                    <a:bodyPr/>
                    <a:lstStyle/>
                    <a:p>
                      <a:pPr algn="ctr"/>
                      <a:r>
                        <a:rPr sz="1400" b="0">
                          <a:solidFill>
                            <a:srgbClr val="252B33"/>
                          </a:solidFill>
                        </a:rPr>
                        <a:t>4.5</a:t>
                      </a:r>
                    </a:p>
                  </a:txBody>
                  <a:tcPr>
                    <a:solidFill>
                      <a:srgbClr val="FFFFFF"/>
                    </a:solidFill>
                  </a:tcPr>
                </a:tc>
              </a:tr>
              <a:tr h="457200">
                <a:tc>
                  <a:txBody>
                    <a:bodyPr/>
                    <a:lstStyle/>
                    <a:p>
                      <a:pPr algn="l"/>
                      <a:r>
                        <a:rPr sz="1400" b="1">
                          <a:solidFill>
                            <a:srgbClr val="1B7F4B"/>
                          </a:solidFill>
                        </a:rPr>
                        <a:t>SERUM — content-aware (ours)</a:t>
                      </a:r>
                    </a:p>
                  </a:txBody>
                  <a:tcPr>
                    <a:solidFill>
                      <a:srgbClr val="E3F1E8"/>
                    </a:solidFill>
                  </a:tcPr>
                </a:tc>
                <a:tc>
                  <a:txBody>
                    <a:bodyPr/>
                    <a:lstStyle/>
                    <a:p>
                      <a:pPr algn="ctr"/>
                      <a:r>
                        <a:rPr sz="1400" b="1">
                          <a:solidFill>
                            <a:srgbClr val="1B7F4B"/>
                          </a:solidFill>
                        </a:rPr>
                        <a:t>1.8%</a:t>
                      </a:r>
                    </a:p>
                  </a:txBody>
                  <a:tcPr>
                    <a:solidFill>
                      <a:srgbClr val="E3F1E8"/>
                    </a:solidFill>
                  </a:tcPr>
                </a:tc>
                <a:tc>
                  <a:txBody>
                    <a:bodyPr/>
                    <a:lstStyle/>
                    <a:p>
                      <a:pPr algn="ctr"/>
                      <a:r>
                        <a:rPr sz="1400" b="1">
                          <a:solidFill>
                            <a:srgbClr val="1B7F4B"/>
                          </a:solidFill>
                        </a:rPr>
                        <a:t>98.5%</a:t>
                      </a:r>
                    </a:p>
                  </a:txBody>
                  <a:tcPr>
                    <a:solidFill>
                      <a:srgbClr val="E3F1E8"/>
                    </a:solidFill>
                  </a:tcPr>
                </a:tc>
                <a:tc>
                  <a:txBody>
                    <a:bodyPr/>
                    <a:lstStyle/>
                    <a:p>
                      <a:pPr algn="ctr"/>
                      <a:r>
                        <a:rPr sz="1400" b="1">
                          <a:solidFill>
                            <a:srgbClr val="1B7F4B"/>
                          </a:solidFill>
                        </a:rPr>
                        <a:t>3.0</a:t>
                      </a:r>
                    </a:p>
                  </a:txBody>
                  <a:tcPr>
                    <a:solidFill>
                      <a:srgbClr val="E3F1E8"/>
                    </a:solidFill>
                  </a:tcPr>
                </a:tc>
              </a:tr>
              <a:tr h="457200">
                <a:tc>
                  <a:txBody>
                    <a:bodyPr/>
                    <a:lstStyle/>
                    <a:p>
                      <a:pPr algn="l"/>
                      <a:r>
                        <a:rPr sz="1400" b="0">
                          <a:solidFill>
                            <a:srgbClr val="252B33"/>
                          </a:solidFill>
                        </a:rPr>
                        <a:t>Oracle (is told the exploit)</a:t>
                      </a:r>
                    </a:p>
                  </a:txBody>
                  <a:tcPr>
                    <a:solidFill>
                      <a:srgbClr val="FFFFFF"/>
                    </a:solidFill>
                  </a:tcPr>
                </a:tc>
                <a:tc>
                  <a:txBody>
                    <a:bodyPr/>
                    <a:lstStyle/>
                    <a:p>
                      <a:pPr algn="ctr"/>
                      <a:r>
                        <a:rPr sz="1400" b="0">
                          <a:solidFill>
                            <a:srgbClr val="252B33"/>
                          </a:solidFill>
                        </a:rPr>
                        <a:t>1.1%</a:t>
                      </a:r>
                    </a:p>
                  </a:txBody>
                  <a:tcPr>
                    <a:solidFill>
                      <a:srgbClr val="FFFFFF"/>
                    </a:solidFill>
                  </a:tcPr>
                </a:tc>
                <a:tc>
                  <a:txBody>
                    <a:bodyPr/>
                    <a:lstStyle/>
                    <a:p>
                      <a:pPr algn="ctr"/>
                      <a:r>
                        <a:rPr sz="1400" b="0">
                          <a:solidFill>
                            <a:srgbClr val="252B33"/>
                          </a:solidFill>
                        </a:rPr>
                        <a:t>100%</a:t>
                      </a:r>
                    </a:p>
                  </a:txBody>
                  <a:tcPr>
                    <a:solidFill>
                      <a:srgbClr val="FFFFFF"/>
                    </a:solidFill>
                  </a:tcPr>
                </a:tc>
                <a:tc>
                  <a:txBody>
                    <a:bodyPr/>
                    <a:lstStyle/>
                    <a:p>
                      <a:pPr algn="ctr"/>
                      <a:r>
                        <a:rPr sz="1400" b="0">
                          <a:solidFill>
                            <a:srgbClr val="252B33"/>
                          </a:solidFill>
                        </a:rPr>
                        <a:t>2.0</a:t>
                      </a:r>
                    </a:p>
                  </a:txBody>
                  <a:tcPr>
                    <a:solidFill>
                      <a:srgbClr val="FFFFFF"/>
                    </a:solidFill>
                  </a:tcPr>
                </a:tc>
              </a:tr>
            </a:tbl>
          </a:graphicData>
        </a:graphic>
      </p:graphicFrame>
      <p:sp>
        <p:nvSpPr>
          <p:cNvPr id="7" name="Rectangle 6"/>
          <p:cNvSpPr/>
          <p:nvPr/>
        </p:nvSpPr>
        <p:spPr>
          <a:xfrm>
            <a:off x="640080" y="4251960"/>
            <a:ext cx="10881360" cy="1143000"/>
          </a:xfrm>
          <a:prstGeom prst="rect">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343400"/>
            <a:ext cx="10424160" cy="1005840"/>
          </a:xfrm>
          <a:prstGeom prst="rect">
            <a:avLst/>
          </a:prstGeom>
          <a:noFill/>
        </p:spPr>
        <p:txBody>
          <a:bodyPr wrap="square" anchor="ctr">
            <a:spAutoFit/>
          </a:bodyPr>
          <a:lstStyle/>
          <a:p>
            <a:pPr algn="l"/>
            <a:r>
              <a:rPr sz="1450" b="0" i="0">
                <a:solidFill>
                  <a:srgbClr val="252B33"/>
                </a:solidFill>
                <a:latin typeface="Calibri"/>
              </a:rPr>
              <a:t>What it means:  Content-aware beats the best structural baseline on infection AND availability AND speed — without being told the attack — landing close to the oracle that IS told. Honest: the absolute gap here is small (1.8 vs 3.4 pts); the big, decisive gap shows up on real topology.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RESULTS — FLAGSHIP</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Flagship — a REAL organisational network</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25</a:t>
            </a:r>
          </a:p>
        </p:txBody>
      </p:sp>
      <p:graphicFrame>
        <p:nvGraphicFramePr>
          <p:cNvPr id="6" name="Table 5"/>
          <p:cNvGraphicFramePr>
            <a:graphicFrameLocks noGrp="1"/>
          </p:cNvGraphicFramePr>
          <p:nvPr/>
        </p:nvGraphicFramePr>
        <p:xfrm>
          <a:off x="655167" y="1783080"/>
          <a:ext cx="10789918" cy="2743200"/>
        </p:xfrm>
        <a:graphic>
          <a:graphicData uri="http://schemas.openxmlformats.org/drawingml/2006/table">
            <a:tbl>
              <a:tblPr firstRow="1" bandRow="1">
                <a:tableStyleId>{5C22544A-7EE6-4342-B048-85BDC9FD1C3A}</a:tableStyleId>
              </a:tblPr>
              <a:tblGrid>
                <a:gridCol w="7040880"/>
                <a:gridCol w="1874519"/>
                <a:gridCol w="1874519"/>
              </a:tblGrid>
              <a:tr h="457200">
                <a:tc>
                  <a:txBody>
                    <a:bodyPr/>
                    <a:lstStyle/>
                    <a:p>
                      <a:pPr algn="l"/>
                      <a:r>
                        <a:rPr sz="1500" b="1">
                          <a:solidFill>
                            <a:srgbClr val="FFFFFF"/>
                          </a:solidFill>
                        </a:rPr>
                        <a:t>Defender</a:t>
                      </a:r>
                    </a:p>
                  </a:txBody>
                  <a:tcPr>
                    <a:solidFill>
                      <a:srgbClr val="1F355E"/>
                    </a:solidFill>
                  </a:tcPr>
                </a:tc>
                <a:tc>
                  <a:txBody>
                    <a:bodyPr/>
                    <a:lstStyle/>
                    <a:p>
                      <a:pPr algn="ctr"/>
                      <a:r>
                        <a:rPr sz="1500" b="1">
                          <a:solidFill>
                            <a:srgbClr val="FFFFFF"/>
                          </a:solidFill>
                        </a:rPr>
                        <a:t>Infected ↓</a:t>
                      </a:r>
                    </a:p>
                  </a:txBody>
                  <a:tcPr>
                    <a:solidFill>
                      <a:srgbClr val="1F355E"/>
                    </a:solidFill>
                  </a:tcPr>
                </a:tc>
                <a:tc>
                  <a:txBody>
                    <a:bodyPr/>
                    <a:lstStyle/>
                    <a:p>
                      <a:pPr algn="ctr"/>
                      <a:r>
                        <a:rPr sz="1500" b="1">
                          <a:solidFill>
                            <a:srgbClr val="FFFFFF"/>
                          </a:solidFill>
                        </a:rPr>
                        <a:t>Availability ↑</a:t>
                      </a:r>
                    </a:p>
                  </a:txBody>
                  <a:tcPr>
                    <a:solidFill>
                      <a:srgbClr val="1F355E"/>
                    </a:solidFill>
                  </a:tcPr>
                </a:tc>
              </a:tr>
              <a:tr h="457200">
                <a:tc>
                  <a:txBody>
                    <a:bodyPr/>
                    <a:lstStyle/>
                    <a:p>
                      <a:pPr algn="l"/>
                      <a:r>
                        <a:rPr sz="1400" b="0">
                          <a:solidFill>
                            <a:srgbClr val="252B33"/>
                          </a:solidFill>
                        </a:rPr>
                        <a:t>No defense</a:t>
                      </a:r>
                    </a:p>
                  </a:txBody>
                  <a:tcPr>
                    <a:solidFill>
                      <a:srgbClr val="F3F6FA"/>
                    </a:solidFill>
                  </a:tcPr>
                </a:tc>
                <a:tc>
                  <a:txBody>
                    <a:bodyPr/>
                    <a:lstStyle/>
                    <a:p>
                      <a:pPr algn="ctr"/>
                      <a:r>
                        <a:rPr sz="1400" b="0">
                          <a:solidFill>
                            <a:srgbClr val="252B33"/>
                          </a:solidFill>
                        </a:rPr>
                        <a:t>20.1%</a:t>
                      </a:r>
                    </a:p>
                  </a:txBody>
                  <a:tcPr>
                    <a:solidFill>
                      <a:srgbClr val="F3F6FA"/>
                    </a:solidFill>
                  </a:tcPr>
                </a:tc>
                <a:tc>
                  <a:txBody>
                    <a:bodyPr/>
                    <a:lstStyle/>
                    <a:p>
                      <a:pPr algn="ctr"/>
                      <a:r>
                        <a:rPr sz="1400" b="0">
                          <a:solidFill>
                            <a:srgbClr val="252B33"/>
                          </a:solidFill>
                        </a:rPr>
                        <a:t>100%</a:t>
                      </a:r>
                    </a:p>
                  </a:txBody>
                  <a:tcPr>
                    <a:solidFill>
                      <a:srgbClr val="F3F6FA"/>
                    </a:solidFill>
                  </a:tcPr>
                </a:tc>
              </a:tr>
              <a:tr h="457200">
                <a:tc>
                  <a:txBody>
                    <a:bodyPr/>
                    <a:lstStyle/>
                    <a:p>
                      <a:pPr algn="l"/>
                      <a:r>
                        <a:rPr sz="1400" b="0">
                          <a:solidFill>
                            <a:srgbClr val="252B33"/>
                          </a:solidFill>
                        </a:rPr>
                        <a:t>Degree immunization</a:t>
                      </a:r>
                    </a:p>
                  </a:txBody>
                  <a:tcPr>
                    <a:solidFill>
                      <a:srgbClr val="FFFFFF"/>
                    </a:solidFill>
                  </a:tcPr>
                </a:tc>
                <a:tc>
                  <a:txBody>
                    <a:bodyPr/>
                    <a:lstStyle/>
                    <a:p>
                      <a:pPr algn="ctr"/>
                      <a:r>
                        <a:rPr sz="1400" b="0">
                          <a:solidFill>
                            <a:srgbClr val="252B33"/>
                          </a:solidFill>
                        </a:rPr>
                        <a:t>18.8%</a:t>
                      </a:r>
                    </a:p>
                  </a:txBody>
                  <a:tcPr>
                    <a:solidFill>
                      <a:srgbClr val="FFFFFF"/>
                    </a:solidFill>
                  </a:tcPr>
                </a:tc>
                <a:tc>
                  <a:txBody>
                    <a:bodyPr/>
                    <a:lstStyle/>
                    <a:p>
                      <a:pPr algn="ctr"/>
                      <a:r>
                        <a:rPr sz="1400" b="0">
                          <a:solidFill>
                            <a:srgbClr val="252B33"/>
                          </a:solidFill>
                        </a:rPr>
                        <a:t>92.2%</a:t>
                      </a:r>
                    </a:p>
                  </a:txBody>
                  <a:tcPr>
                    <a:solidFill>
                      <a:srgbClr val="FFFFFF"/>
                    </a:solidFill>
                  </a:tcPr>
                </a:tc>
              </a:tr>
              <a:tr h="457200">
                <a:tc>
                  <a:txBody>
                    <a:bodyPr/>
                    <a:lstStyle/>
                    <a:p>
                      <a:pPr algn="l"/>
                      <a:r>
                        <a:rPr sz="1400" b="0">
                          <a:solidFill>
                            <a:srgbClr val="252B33"/>
                          </a:solidFill>
                        </a:rPr>
                        <a:t>Betweenness (best structural)</a:t>
                      </a:r>
                    </a:p>
                  </a:txBody>
                  <a:tcPr>
                    <a:solidFill>
                      <a:srgbClr val="F3F6FA"/>
                    </a:solidFill>
                  </a:tcPr>
                </a:tc>
                <a:tc>
                  <a:txBody>
                    <a:bodyPr/>
                    <a:lstStyle/>
                    <a:p>
                      <a:pPr algn="ctr"/>
                      <a:r>
                        <a:rPr sz="1400" b="0">
                          <a:solidFill>
                            <a:srgbClr val="252B33"/>
                          </a:solidFill>
                        </a:rPr>
                        <a:t>17.6%</a:t>
                      </a:r>
                    </a:p>
                  </a:txBody>
                  <a:tcPr>
                    <a:solidFill>
                      <a:srgbClr val="F3F6FA"/>
                    </a:solidFill>
                  </a:tcPr>
                </a:tc>
                <a:tc>
                  <a:txBody>
                    <a:bodyPr/>
                    <a:lstStyle/>
                    <a:p>
                      <a:pPr algn="ctr"/>
                      <a:r>
                        <a:rPr sz="1400" b="0">
                          <a:solidFill>
                            <a:srgbClr val="252B33"/>
                          </a:solidFill>
                        </a:rPr>
                        <a:t>92.5%</a:t>
                      </a:r>
                    </a:p>
                  </a:txBody>
                  <a:tcPr>
                    <a:solidFill>
                      <a:srgbClr val="F3F6FA"/>
                    </a:solidFill>
                  </a:tcPr>
                </a:tc>
              </a:tr>
              <a:tr h="457200">
                <a:tc>
                  <a:txBody>
                    <a:bodyPr/>
                    <a:lstStyle/>
                    <a:p>
                      <a:pPr algn="l"/>
                      <a:r>
                        <a:rPr sz="1400" b="1">
                          <a:solidFill>
                            <a:srgbClr val="1B7F4B"/>
                          </a:solidFill>
                        </a:rPr>
                        <a:t>SERUM — content-aware (ours)</a:t>
                      </a:r>
                    </a:p>
                  </a:txBody>
                  <a:tcPr>
                    <a:solidFill>
                      <a:srgbClr val="E3F1E8"/>
                    </a:solidFill>
                  </a:tcPr>
                </a:tc>
                <a:tc>
                  <a:txBody>
                    <a:bodyPr/>
                    <a:lstStyle/>
                    <a:p>
                      <a:pPr algn="ctr"/>
                      <a:r>
                        <a:rPr sz="1400" b="1">
                          <a:solidFill>
                            <a:srgbClr val="1B7F4B"/>
                          </a:solidFill>
                        </a:rPr>
                        <a:t>11.7%</a:t>
                      </a:r>
                    </a:p>
                  </a:txBody>
                  <a:tcPr>
                    <a:solidFill>
                      <a:srgbClr val="E3F1E8"/>
                    </a:solidFill>
                  </a:tcPr>
                </a:tc>
                <a:tc>
                  <a:txBody>
                    <a:bodyPr/>
                    <a:lstStyle/>
                    <a:p>
                      <a:pPr algn="ctr"/>
                      <a:r>
                        <a:rPr sz="1400" b="1">
                          <a:solidFill>
                            <a:srgbClr val="1B7F4B"/>
                          </a:solidFill>
                        </a:rPr>
                        <a:t>97.5%</a:t>
                      </a:r>
                    </a:p>
                  </a:txBody>
                  <a:tcPr>
                    <a:solidFill>
                      <a:srgbClr val="E3F1E8"/>
                    </a:solidFill>
                  </a:tcPr>
                </a:tc>
              </a:tr>
              <a:tr h="457200">
                <a:tc>
                  <a:txBody>
                    <a:bodyPr/>
                    <a:lstStyle/>
                    <a:p>
                      <a:pPr algn="l"/>
                      <a:r>
                        <a:rPr sz="1400" b="0">
                          <a:solidFill>
                            <a:srgbClr val="252B33"/>
                          </a:solidFill>
                        </a:rPr>
                        <a:t>Content-aware oracle (bound)</a:t>
                      </a:r>
                    </a:p>
                  </a:txBody>
                  <a:tcPr>
                    <a:solidFill>
                      <a:srgbClr val="F3F6FA"/>
                    </a:solidFill>
                  </a:tcPr>
                </a:tc>
                <a:tc>
                  <a:txBody>
                    <a:bodyPr/>
                    <a:lstStyle/>
                    <a:p>
                      <a:pPr algn="ctr"/>
                      <a:r>
                        <a:rPr sz="1400" b="0">
                          <a:solidFill>
                            <a:srgbClr val="252B33"/>
                          </a:solidFill>
                        </a:rPr>
                        <a:t>9.1%</a:t>
                      </a:r>
                    </a:p>
                  </a:txBody>
                  <a:tcPr>
                    <a:solidFill>
                      <a:srgbClr val="F3F6FA"/>
                    </a:solidFill>
                  </a:tcPr>
                </a:tc>
                <a:tc>
                  <a:txBody>
                    <a:bodyPr/>
                    <a:lstStyle/>
                    <a:p>
                      <a:pPr algn="ctr"/>
                      <a:r>
                        <a:rPr sz="1400" b="0">
                          <a:solidFill>
                            <a:srgbClr val="252B33"/>
                          </a:solidFill>
                        </a:rPr>
                        <a:t>100%</a:t>
                      </a:r>
                    </a:p>
                  </a:txBody>
                  <a:tcPr>
                    <a:solidFill>
                      <a:srgbClr val="F3F6FA"/>
                    </a:solidFill>
                  </a:tcPr>
                </a:tc>
              </a:tr>
            </a:tbl>
          </a:graphicData>
        </a:graphic>
      </p:graphicFrame>
      <p:sp>
        <p:nvSpPr>
          <p:cNvPr id="7" name="Rectangle 6"/>
          <p:cNvSpPr/>
          <p:nvPr/>
        </p:nvSpPr>
        <p:spPr>
          <a:xfrm>
            <a:off x="640080" y="4709160"/>
            <a:ext cx="10881360" cy="1143000"/>
          </a:xfrm>
          <a:prstGeom prst="rect">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00600"/>
            <a:ext cx="10424160" cy="1005840"/>
          </a:xfrm>
          <a:prstGeom prst="rect">
            <a:avLst/>
          </a:prstGeom>
          <a:noFill/>
        </p:spPr>
        <p:txBody>
          <a:bodyPr wrap="square" anchor="ctr">
            <a:spAutoFit/>
          </a:bodyPr>
          <a:lstStyle/>
          <a:p>
            <a:pPr algn="l"/>
            <a:r>
              <a:rPr sz="1450" b="0" i="0">
                <a:solidFill>
                  <a:srgbClr val="252B33"/>
                </a:solidFill>
                <a:latin typeface="Calibri"/>
              </a:rPr>
              <a:t>What it means:  SNAP email-Eu-core: 1004 REAL hosts, 42 REAL departments used as software zones, real NVD CVEs. Structure-only BARELY helps (17.6% vs 20.1% no-defense) — because the vulnerable departments are NOT the network hubs. Content-aware cuts infection to 11.7%: −28.4%, Wilcoxon p = 1.7×10⁻⁷. This is the result we lead with.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RESULTS — FLAGSHIP</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Flagship — infection over time (real topology)</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26</a:t>
            </a:r>
          </a:p>
        </p:txBody>
      </p:sp>
      <p:pic>
        <p:nvPicPr>
          <p:cNvPr id="6" name="Picture 5" descr="flagship_infection_curves.png"/>
          <p:cNvPicPr>
            <a:picLocks noChangeAspect="1"/>
          </p:cNvPicPr>
          <p:nvPr/>
        </p:nvPicPr>
        <p:blipFill>
          <a:blip r:embed="rId2"/>
          <a:stretch>
            <a:fillRect/>
          </a:stretch>
        </p:blipFill>
        <p:spPr>
          <a:xfrm>
            <a:off x="3242919" y="1645920"/>
            <a:ext cx="5705856" cy="3566160"/>
          </a:xfrm>
          <a:prstGeom prst="rect">
            <a:avLst/>
          </a:prstGeom>
        </p:spPr>
      </p:pic>
      <p:sp>
        <p:nvSpPr>
          <p:cNvPr id="7" name="Rectangle 6"/>
          <p:cNvSpPr/>
          <p:nvPr/>
        </p:nvSpPr>
        <p:spPr>
          <a:xfrm>
            <a:off x="640080" y="5532120"/>
            <a:ext cx="10881360" cy="1051560"/>
          </a:xfrm>
          <a:prstGeom prst="rect">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623560"/>
            <a:ext cx="10424160" cy="914400"/>
          </a:xfrm>
          <a:prstGeom prst="rect">
            <a:avLst/>
          </a:prstGeom>
          <a:noFill/>
        </p:spPr>
        <p:txBody>
          <a:bodyPr wrap="square" anchor="ctr">
            <a:spAutoFit/>
          </a:bodyPr>
          <a:lstStyle/>
          <a:p>
            <a:pPr algn="l"/>
            <a:r>
              <a:rPr sz="1450" b="0" i="0">
                <a:solidFill>
                  <a:srgbClr val="252B33"/>
                </a:solidFill>
                <a:latin typeface="Calibri"/>
              </a:rPr>
              <a:t>How to read it:  each curve = mean infected fraction over time for one defender. The structure-only curves sit right on top of no-defense; the content-aware curve is far below, hugging the oracle. The gap between them is the value of content-awareness.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RESULTS</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lead result is NOT a fragile minority effect</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27</a:t>
            </a:r>
          </a:p>
        </p:txBody>
      </p:sp>
      <p:sp>
        <p:nvSpPr>
          <p:cNvPr id="6" name="Rectangle 5"/>
          <p:cNvSpPr/>
          <p:nvPr/>
        </p:nvSpPr>
        <p:spPr>
          <a:xfrm>
            <a:off x="640080" y="1828800"/>
            <a:ext cx="4754880" cy="3291840"/>
          </a:xfrm>
          <a:prstGeom prst="rect">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94560"/>
            <a:ext cx="4754880" cy="1280160"/>
          </a:xfrm>
          <a:prstGeom prst="rect">
            <a:avLst/>
          </a:prstGeom>
          <a:noFill/>
        </p:spPr>
        <p:txBody>
          <a:bodyPr wrap="square" anchor="t">
            <a:spAutoFit/>
          </a:bodyPr>
          <a:lstStyle/>
          <a:p>
            <a:pPr algn="ctr"/>
            <a:r>
              <a:rPr sz="7600" b="1" i="0">
                <a:solidFill>
                  <a:srgbClr val="1B7F4B"/>
                </a:solidFill>
                <a:latin typeface="Calibri"/>
              </a:rPr>
              <a:t>20 / 20</a:t>
            </a:r>
          </a:p>
        </p:txBody>
      </p:sp>
      <p:sp>
        <p:nvSpPr>
          <p:cNvPr id="8" name="TextBox 7"/>
          <p:cNvSpPr txBox="1"/>
          <p:nvPr/>
        </p:nvSpPr>
        <p:spPr>
          <a:xfrm>
            <a:off x="822960" y="3566160"/>
            <a:ext cx="4389120" cy="1463040"/>
          </a:xfrm>
          <a:prstGeom prst="rect">
            <a:avLst/>
          </a:prstGeom>
          <a:noFill/>
        </p:spPr>
        <p:txBody>
          <a:bodyPr wrap="square" anchor="t">
            <a:spAutoFit/>
          </a:bodyPr>
          <a:lstStyle/>
          <a:p>
            <a:pPr algn="ctr"/>
            <a:r>
              <a:rPr sz="1600" b="0" i="0">
                <a:solidFill>
                  <a:srgbClr val="252B33"/>
                </a:solidFill>
                <a:latin typeface="Calibri"/>
              </a:rPr>
              <a:t>paired outbreaks WON on the real topology — vs betweenness AND vs the ensemble oracle (p = 8.8×10⁻⁵). 37/40 in a budget-8 replication.</a:t>
            </a:r>
          </a:p>
        </p:txBody>
      </p:sp>
      <p:sp>
        <p:nvSpPr>
          <p:cNvPr id="9" name="TextBox 8"/>
          <p:cNvSpPr txBox="1"/>
          <p:nvPr/>
        </p:nvSpPr>
        <p:spPr>
          <a:xfrm>
            <a:off x="5760720" y="1828800"/>
            <a:ext cx="5852160" cy="4206240"/>
          </a:xfrm>
          <a:prstGeom prst="rect">
            <a:avLst/>
          </a:prstGeom>
          <a:noFill/>
        </p:spPr>
        <p:txBody>
          <a:bodyPr wrap="square">
            <a:spAutoFit/>
          </a:bodyPr>
          <a:lstStyle/>
          <a:p>
            <a:pPr>
              <a:spcAft>
                <a:spcPts val="800"/>
              </a:spcAft>
            </a:pPr>
            <a:r>
              <a:rPr sz="1800" b="1" i="0">
                <a:solidFill>
                  <a:srgbClr val="1F355E"/>
                </a:solidFill>
                <a:latin typeface="Calibri"/>
              </a:rPr>
              <a:t>Why this slide exists:</a:t>
            </a:r>
          </a:p>
          <a:p>
            <a:pPr>
              <a:spcAft>
                <a:spcPts val="800"/>
              </a:spcAft>
            </a:pPr>
            <a:r>
              <a:rPr sz="1600" b="0" i="0">
                <a:solidFill>
                  <a:srgbClr val="252B33"/>
                </a:solidFill>
                <a:latin typeface="Calibri"/>
              </a:rPr>
              <a:t>•  On the small synthetic margins, content-aware wins only a MINORITY of individual trials — the mean is carried by a few big wins. A fair critic would pounce on that.</a:t>
            </a:r>
          </a:p>
          <a:p>
            <a:pPr>
              <a:spcAft>
                <a:spcPts val="800"/>
              </a:spcAft>
            </a:pPr>
            <a:r>
              <a:rPr sz="1600" b="0" i="0">
                <a:solidFill>
                  <a:srgbClr val="252B33"/>
                </a:solidFill>
                <a:latin typeface="Calibri"/>
              </a:rPr>
              <a:t>•  On the REAL topology it’s the opposite: it wins essentially EVERY paired outbreak, by 5.9 points absolute. That’s why we lead with this, not the synthetic table.</a:t>
            </a:r>
          </a:p>
          <a:p>
            <a:pPr>
              <a:spcAft>
                <a:spcPts val="800"/>
              </a:spcAft>
            </a:pPr>
            <a:r>
              <a:rPr sz="1600" b="0" i="0">
                <a:solidFill>
                  <a:srgbClr val="B56A00"/>
                </a:solidFill>
                <a:latin typeface="Calibri"/>
              </a:rPr>
              <a:t>•  Honest boundary: on hub-aligned or near-universal-exploit regimes the edge is small or vanishes. We say so.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RESULTS</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Pareto dominance — infection vs availability</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28</a:t>
            </a:r>
          </a:p>
        </p:txBody>
      </p:sp>
      <p:pic>
        <p:nvPicPr>
          <p:cNvPr id="6" name="Picture 5" descr="pareto.png"/>
          <p:cNvPicPr>
            <a:picLocks noChangeAspect="1"/>
          </p:cNvPicPr>
          <p:nvPr/>
        </p:nvPicPr>
        <p:blipFill>
          <a:blip r:embed="rId2"/>
          <a:stretch>
            <a:fillRect/>
          </a:stretch>
        </p:blipFill>
        <p:spPr>
          <a:xfrm>
            <a:off x="3524097" y="1645920"/>
            <a:ext cx="5143500" cy="3566160"/>
          </a:xfrm>
          <a:prstGeom prst="rect">
            <a:avLst/>
          </a:prstGeom>
        </p:spPr>
      </p:pic>
      <p:sp>
        <p:nvSpPr>
          <p:cNvPr id="7" name="Rectangle 6"/>
          <p:cNvSpPr/>
          <p:nvPr/>
        </p:nvSpPr>
        <p:spPr>
          <a:xfrm>
            <a:off x="640080" y="5532120"/>
            <a:ext cx="10881360" cy="1051560"/>
          </a:xfrm>
          <a:prstGeom prst="rect">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623560"/>
            <a:ext cx="10424160" cy="914400"/>
          </a:xfrm>
          <a:prstGeom prst="rect">
            <a:avLst/>
          </a:prstGeom>
          <a:noFill/>
        </p:spPr>
        <p:txBody>
          <a:bodyPr wrap="square" anchor="ctr">
            <a:spAutoFit/>
          </a:bodyPr>
          <a:lstStyle/>
          <a:p>
            <a:pPr algn="l"/>
            <a:r>
              <a:rPr sz="1450" b="0" i="0">
                <a:solidFill>
                  <a:srgbClr val="252B33"/>
                </a:solidFill>
                <a:latin typeface="Calibri"/>
              </a:rPr>
              <a:t>How to read it:  each point = one defender at one budget. Down-and-right is better (less infection, more uptime). Content-aware sits in the bottom-right corner at EVERY budget — simultaneously lower-infection and higher-availability than every structural baseline.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RESULTS</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advantage scales with outbreak severity</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29</a:t>
            </a:r>
          </a:p>
        </p:txBody>
      </p:sp>
      <p:pic>
        <p:nvPicPr>
          <p:cNvPr id="6" name="Picture 5" descr="prevalence_curve.png"/>
          <p:cNvPicPr>
            <a:picLocks noChangeAspect="1"/>
          </p:cNvPicPr>
          <p:nvPr/>
        </p:nvPicPr>
        <p:blipFill>
          <a:blip r:embed="rId2"/>
          <a:stretch>
            <a:fillRect/>
          </a:stretch>
        </p:blipFill>
        <p:spPr>
          <a:xfrm>
            <a:off x="3188651" y="1645920"/>
            <a:ext cx="5814391" cy="3566160"/>
          </a:xfrm>
          <a:prstGeom prst="rect">
            <a:avLst/>
          </a:prstGeom>
        </p:spPr>
      </p:pic>
      <p:sp>
        <p:nvSpPr>
          <p:cNvPr id="7" name="Rectangle 6"/>
          <p:cNvSpPr/>
          <p:nvPr/>
        </p:nvSpPr>
        <p:spPr>
          <a:xfrm>
            <a:off x="640080" y="5532120"/>
            <a:ext cx="10881360" cy="1051560"/>
          </a:xfrm>
          <a:prstGeom prst="rect">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623560"/>
            <a:ext cx="10424160" cy="914400"/>
          </a:xfrm>
          <a:prstGeom prst="rect">
            <a:avLst/>
          </a:prstGeom>
          <a:noFill/>
        </p:spPr>
        <p:txBody>
          <a:bodyPr wrap="square" anchor="ctr">
            <a:spAutoFit/>
          </a:bodyPr>
          <a:lstStyle/>
          <a:p>
            <a:pPr algn="l"/>
            <a:r>
              <a:rPr sz="1450" b="0" i="0">
                <a:solidFill>
                  <a:srgbClr val="252B33"/>
                </a:solidFill>
                <a:latin typeface="Calibri"/>
              </a:rPr>
              <a:t>How to read it:  relative infection reduction vs the best structural baseline, across exploit-prevalence bands. It grows with severity. Honest: in the low-prevalence bands content-aware wins a MINORITY of individual trials and one band isn’t significant; significance grows with severity.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RESULTS — VS PRIOR WORK</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Head-to-head vs the CLOSEST prior systems</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30</a:t>
            </a:r>
          </a:p>
        </p:txBody>
      </p:sp>
      <p:graphicFrame>
        <p:nvGraphicFramePr>
          <p:cNvPr id="6" name="Table 5"/>
          <p:cNvGraphicFramePr>
            <a:graphicFrameLocks noGrp="1"/>
          </p:cNvGraphicFramePr>
          <p:nvPr/>
        </p:nvGraphicFramePr>
        <p:xfrm>
          <a:off x="655167" y="1783080"/>
          <a:ext cx="10881360" cy="1828800"/>
        </p:xfrm>
        <a:graphic>
          <a:graphicData uri="http://schemas.openxmlformats.org/drawingml/2006/table">
            <a:tbl>
              <a:tblPr firstRow="1" bandRow="1">
                <a:tableStyleId>{5C22544A-7EE6-4342-B048-85BDC9FD1C3A}</a:tableStyleId>
              </a:tblPr>
              <a:tblGrid>
                <a:gridCol w="6400800"/>
                <a:gridCol w="1828800"/>
                <a:gridCol w="2651760"/>
              </a:tblGrid>
              <a:tr h="457200">
                <a:tc>
                  <a:txBody>
                    <a:bodyPr/>
                    <a:lstStyle/>
                    <a:p>
                      <a:pPr algn="l"/>
                      <a:r>
                        <a:rPr sz="1500" b="1">
                          <a:solidFill>
                            <a:srgbClr val="FFFFFF"/>
                          </a:solidFill>
                        </a:rPr>
                        <a:t>Defender (of this class)</a:t>
                      </a:r>
                    </a:p>
                  </a:txBody>
                  <a:tcPr>
                    <a:solidFill>
                      <a:srgbClr val="1F355E"/>
                    </a:solidFill>
                  </a:tcPr>
                </a:tc>
                <a:tc>
                  <a:txBody>
                    <a:bodyPr/>
                    <a:lstStyle/>
                    <a:p>
                      <a:pPr algn="ctr"/>
                      <a:r>
                        <a:rPr sz="1500" b="1">
                          <a:solidFill>
                            <a:srgbClr val="FFFFFF"/>
                          </a:solidFill>
                        </a:rPr>
                        <a:t>Infected ↓</a:t>
                      </a:r>
                    </a:p>
                  </a:txBody>
                  <a:tcPr>
                    <a:solidFill>
                      <a:srgbClr val="1F355E"/>
                    </a:solidFill>
                  </a:tcPr>
                </a:tc>
                <a:tc>
                  <a:txBody>
                    <a:bodyPr/>
                    <a:lstStyle/>
                    <a:p>
                      <a:pPr algn="ctr"/>
                      <a:r>
                        <a:rPr sz="1500" b="1">
                          <a:solidFill>
                            <a:srgbClr val="FFFFFF"/>
                          </a:solidFill>
                        </a:rPr>
                        <a:t>vs ours</a:t>
                      </a:r>
                    </a:p>
                  </a:txBody>
                  <a:tcPr>
                    <a:solidFill>
                      <a:srgbClr val="1F355E"/>
                    </a:solidFill>
                  </a:tcPr>
                </a:tc>
              </a:tr>
              <a:tr h="457200">
                <a:tc>
                  <a:txBody>
                    <a:bodyPr/>
                    <a:lstStyle/>
                    <a:p>
                      <a:pPr algn="l"/>
                      <a:r>
                        <a:rPr sz="1400" b="0">
                          <a:solidFill>
                            <a:srgbClr val="252B33"/>
                          </a:solidFill>
                        </a:rPr>
                        <a:t>DAVA-style — data-aware but exploit-blind</a:t>
                      </a:r>
                    </a:p>
                  </a:txBody>
                  <a:tcPr>
                    <a:solidFill>
                      <a:srgbClr val="F3F6FA"/>
                    </a:solidFill>
                  </a:tcPr>
                </a:tc>
                <a:tc>
                  <a:txBody>
                    <a:bodyPr/>
                    <a:lstStyle/>
                    <a:p>
                      <a:pPr algn="ctr"/>
                      <a:r>
                        <a:rPr sz="1400" b="0">
                          <a:solidFill>
                            <a:srgbClr val="252B33"/>
                          </a:solidFill>
                        </a:rPr>
                        <a:t>1.70%</a:t>
                      </a:r>
                    </a:p>
                  </a:txBody>
                  <a:tcPr>
                    <a:solidFill>
                      <a:srgbClr val="F3F6FA"/>
                    </a:solidFill>
                  </a:tcPr>
                </a:tc>
                <a:tc>
                  <a:txBody>
                    <a:bodyPr/>
                    <a:lstStyle/>
                    <a:p>
                      <a:pPr algn="ctr"/>
                      <a:r>
                        <a:rPr sz="1400" b="0">
                          <a:solidFill>
                            <a:srgbClr val="252B33"/>
                          </a:solidFill>
                        </a:rPr>
                        <a:t>+43.8%  ·  p=2.8×10⁻⁴</a:t>
                      </a:r>
                    </a:p>
                  </a:txBody>
                  <a:tcPr>
                    <a:solidFill>
                      <a:srgbClr val="F3F6FA"/>
                    </a:solidFill>
                  </a:tcPr>
                </a:tc>
              </a:tr>
              <a:tr h="457200">
                <a:tc>
                  <a:txBody>
                    <a:bodyPr/>
                    <a:lstStyle/>
                    <a:p>
                      <a:pPr algn="l"/>
                      <a:r>
                        <a:rPr sz="1400" b="0">
                          <a:solidFill>
                            <a:srgbClr val="252B33"/>
                          </a:solidFill>
                        </a:rPr>
                        <a:t>CyGym-style — static prior, no online update</a:t>
                      </a:r>
                    </a:p>
                  </a:txBody>
                  <a:tcPr>
                    <a:solidFill>
                      <a:srgbClr val="FFFFFF"/>
                    </a:solidFill>
                  </a:tcPr>
                </a:tc>
                <a:tc>
                  <a:txBody>
                    <a:bodyPr/>
                    <a:lstStyle/>
                    <a:p>
                      <a:pPr algn="ctr"/>
                      <a:r>
                        <a:rPr sz="1400" b="0">
                          <a:solidFill>
                            <a:srgbClr val="252B33"/>
                          </a:solidFill>
                        </a:rPr>
                        <a:t>1.15%</a:t>
                      </a:r>
                    </a:p>
                  </a:txBody>
                  <a:tcPr>
                    <a:solidFill>
                      <a:srgbClr val="FFFFFF"/>
                    </a:solidFill>
                  </a:tcPr>
                </a:tc>
                <a:tc>
                  <a:txBody>
                    <a:bodyPr/>
                    <a:lstStyle/>
                    <a:p>
                      <a:pPr algn="ctr"/>
                      <a:r>
                        <a:rPr sz="1400" b="0">
                          <a:solidFill>
                            <a:srgbClr val="252B33"/>
                          </a:solidFill>
                        </a:rPr>
                        <a:t>+16.6%  ·  p=1.1×10⁻²</a:t>
                      </a:r>
                    </a:p>
                  </a:txBody>
                  <a:tcPr>
                    <a:solidFill>
                      <a:srgbClr val="FFFFFF"/>
                    </a:solidFill>
                  </a:tcPr>
                </a:tc>
              </a:tr>
              <a:tr h="457200">
                <a:tc>
                  <a:txBody>
                    <a:bodyPr/>
                    <a:lstStyle/>
                    <a:p>
                      <a:pPr algn="l"/>
                      <a:r>
                        <a:rPr sz="1400" b="1">
                          <a:solidFill>
                            <a:srgbClr val="1B7F4B"/>
                          </a:solidFill>
                        </a:rPr>
                        <a:t>SERUM — content-aware (ours)</a:t>
                      </a:r>
                    </a:p>
                  </a:txBody>
                  <a:tcPr>
                    <a:solidFill>
                      <a:srgbClr val="E3F1E8"/>
                    </a:solidFill>
                  </a:tcPr>
                </a:tc>
                <a:tc>
                  <a:txBody>
                    <a:bodyPr/>
                    <a:lstStyle/>
                    <a:p>
                      <a:pPr algn="ctr"/>
                      <a:r>
                        <a:rPr sz="1400" b="1">
                          <a:solidFill>
                            <a:srgbClr val="1B7F4B"/>
                          </a:solidFill>
                        </a:rPr>
                        <a:t>0.95%</a:t>
                      </a:r>
                    </a:p>
                  </a:txBody>
                  <a:tcPr>
                    <a:solidFill>
                      <a:srgbClr val="E3F1E8"/>
                    </a:solidFill>
                  </a:tcPr>
                </a:tc>
                <a:tc>
                  <a:txBody>
                    <a:bodyPr/>
                    <a:lstStyle/>
                    <a:p>
                      <a:pPr algn="ctr"/>
                      <a:r>
                        <a:rPr sz="1400" b="1">
                          <a:solidFill>
                            <a:srgbClr val="1B7F4B"/>
                          </a:solidFill>
                        </a:rPr>
                        <a:t>—</a:t>
                      </a:r>
                    </a:p>
                  </a:txBody>
                  <a:tcPr>
                    <a:solidFill>
                      <a:srgbClr val="E3F1E8"/>
                    </a:solidFill>
                  </a:tcPr>
                </a:tc>
              </a:tr>
            </a:tbl>
          </a:graphicData>
        </a:graphic>
      </p:graphicFrame>
      <p:sp>
        <p:nvSpPr>
          <p:cNvPr id="7" name="Rectangle 6"/>
          <p:cNvSpPr/>
          <p:nvPr/>
        </p:nvSpPr>
        <p:spPr>
          <a:xfrm>
            <a:off x="640080" y="3794760"/>
            <a:ext cx="10881360" cy="1143000"/>
          </a:xfrm>
          <a:prstGeom prst="rect">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886200"/>
            <a:ext cx="10424160" cy="1005840"/>
          </a:xfrm>
          <a:prstGeom prst="rect">
            <a:avLst/>
          </a:prstGeom>
          <a:noFill/>
        </p:spPr>
        <p:txBody>
          <a:bodyPr wrap="square" anchor="ctr">
            <a:spAutoFit/>
          </a:bodyPr>
          <a:lstStyle/>
          <a:p>
            <a:pPr algn="l"/>
            <a:r>
              <a:rPr sz="1450" b="0" i="0">
                <a:solidFill>
                  <a:srgbClr val="252B33"/>
                </a:solidFill>
                <a:latin typeface="Calibri"/>
              </a:rPr>
              <a:t>What it means:  We beat BOTH nearest systems. DAVA even underperforms plain degree — vaccinating exposed-but-non-exploitable hosts wastes budget, i.e. the thesis. Honest scope: these are faithful reimplementations of each system’s STANCE, not the full originals — a fair caveat we state, with a released-code port as the follow-up.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ANALYSIS</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When does the ONLINE inference actually matter?</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31</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Honest finding: content-AWARENESS is the driver; the online UPDATE is a smaller refinement.</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Under a GOOD prior, online updating beats a frozen (static) prior by only +0.19pp — consistent with our ablation that freezing the belief costs almost nothing.</a:t>
            </a:r>
          </a:p>
          <a:p>
            <a:pPr>
              <a:spcAft>
                <a:spcPts val="800"/>
              </a:spcAft>
            </a:pPr>
            <a:r>
              <a:rPr sz="1700" b="0" i="0">
                <a:solidFill>
                  <a:srgbClr val="252B33"/>
                </a:solidFill>
                <a:latin typeface="Calibri"/>
              </a:rPr>
              <a:t>•  It earns its keep when the prior is WRONG: under a deliberately misleading prior, the edge roughly DOUBLES to +0.44pp (p=1.8×10⁻²).</a:t>
            </a:r>
          </a:p>
          <a:p>
            <a:pPr>
              <a:spcAft>
                <a:spcPts val="800"/>
              </a:spcAft>
            </a:pPr>
            <a:r>
              <a:rPr sz="1600" b="0" i="0">
                <a:solidFill>
                  <a:srgbClr val="B56A00"/>
                </a:solidFill>
                <a:latin typeface="Calibri"/>
              </a:rPr>
              <a:t>•  So online inference is a refinement that matters most under bad threat intel — NOT the main source of the win. We say this plainly rather than overselling ‘online inference’.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F355E"/>
        </a:solidFill>
        <a:effectLst/>
      </p:bgPr>
    </p:bg>
    <p:spTree>
      <p:nvGrpSpPr>
        <p:cNvPr id="1" name=""/>
        <p:cNvGrpSpPr/>
        <p:nvPr/>
      </p:nvGrpSpPr>
      <p:grpSpPr/>
      <p:sp>
        <p:nvSpPr>
          <p:cNvPr id="2" name="TextBox 1"/>
          <p:cNvSpPr txBox="1"/>
          <p:nvPr/>
        </p:nvSpPr>
        <p:spPr>
          <a:xfrm>
            <a:off x="822960" y="2103120"/>
            <a:ext cx="5486400" cy="548640"/>
          </a:xfrm>
          <a:prstGeom prst="rect">
            <a:avLst/>
          </a:prstGeom>
          <a:noFill/>
        </p:spPr>
        <p:txBody>
          <a:bodyPr wrap="square" anchor="t">
            <a:spAutoFit/>
          </a:bodyPr>
          <a:lstStyle/>
          <a:p>
            <a:pPr algn="l"/>
            <a:r>
              <a:rPr sz="1800" b="1" i="0">
                <a:solidFill>
                  <a:srgbClr val="8FA6C8"/>
                </a:solidFill>
                <a:latin typeface="Calibri"/>
              </a:rPr>
              <a:t>PART 7</a:t>
            </a:r>
          </a:p>
        </p:txBody>
      </p:sp>
      <p:sp>
        <p:nvSpPr>
          <p:cNvPr id="3" name="TextBox 2"/>
          <p:cNvSpPr txBox="1"/>
          <p:nvPr/>
        </p:nvSpPr>
        <p:spPr>
          <a:xfrm>
            <a:off x="822960" y="2743200"/>
            <a:ext cx="10515600" cy="1463040"/>
          </a:xfrm>
          <a:prstGeom prst="rect">
            <a:avLst/>
          </a:prstGeom>
          <a:noFill/>
        </p:spPr>
        <p:txBody>
          <a:bodyPr wrap="square" anchor="t">
            <a:spAutoFit/>
          </a:bodyPr>
          <a:lstStyle/>
          <a:p>
            <a:pPr algn="l"/>
            <a:r>
              <a:rPr sz="4000" b="1" i="0">
                <a:solidFill>
                  <a:srgbClr val="FFFFFF"/>
                </a:solidFill>
                <a:latin typeface="Calibri"/>
              </a:rPr>
              <a:t>Robustness</a:t>
            </a:r>
          </a:p>
        </p:txBody>
      </p:sp>
      <p:sp>
        <p:nvSpPr>
          <p:cNvPr id="4" name="TextBox 3"/>
          <p:cNvSpPr txBox="1"/>
          <p:nvPr/>
        </p:nvSpPr>
        <p:spPr>
          <a:xfrm>
            <a:off x="822960" y="4297680"/>
            <a:ext cx="10515600" cy="1097280"/>
          </a:xfrm>
          <a:prstGeom prst="rect">
            <a:avLst/>
          </a:prstGeom>
          <a:noFill/>
        </p:spPr>
        <p:txBody>
          <a:bodyPr wrap="square" anchor="t">
            <a:spAutoFit/>
          </a:bodyPr>
          <a:lstStyle/>
          <a:p>
            <a:pPr algn="l"/>
            <a:r>
              <a:rPr sz="1900" b="0" i="1">
                <a:solidFill>
                  <a:srgbClr val="C7D6EC"/>
                </a:solidFill>
                <a:latin typeface="Calibri"/>
              </a:rPr>
              <a:t>Can an attacker defeat the defender by attacking its inference?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ROBUSTNESS</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Attacking the inference BACKFIRES</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32</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An attacker who picks a hard-to-identify (confusable) payload does not help itself.</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Intuition from the subset-order theory: a confusable exploit’s victims are a SUBSET of its confuser’s victims.</a:t>
            </a:r>
          </a:p>
          <a:p>
            <a:pPr>
              <a:spcAft>
                <a:spcPts val="800"/>
              </a:spcAft>
            </a:pPr>
            <a:r>
              <a:rPr sz="1700" b="0" i="0">
                <a:solidFill>
                  <a:srgbClr val="252B33"/>
                </a:solidFill>
                <a:latin typeface="Calibri"/>
              </a:rPr>
              <a:t>•  So even a hedged belief that can’t tell them apart still DEFENDS the true victims — they’re inside the set it’s protecting.</a:t>
            </a:r>
          </a:p>
          <a:p>
            <a:pPr>
              <a:spcAft>
                <a:spcPts val="800"/>
              </a:spcAft>
            </a:pPr>
            <a:r>
              <a:rPr sz="1700" b="0" i="0">
                <a:solidFill>
                  <a:srgbClr val="252B33"/>
                </a:solidFill>
                <a:latin typeface="Calibri"/>
              </a:rPr>
              <a:t>•  Empirically the content-aware edge is actually LARGER under an evasive attacker (+22.4%) than a random one (+17.7%).</a:t>
            </a:r>
          </a:p>
          <a:p>
            <a:pPr>
              <a:spcAft>
                <a:spcPts val="800"/>
              </a:spcAft>
            </a:pPr>
            <a:r>
              <a:rPr sz="1600" b="0" i="0">
                <a:solidFill>
                  <a:srgbClr val="1B7F4B"/>
                </a:solidFill>
                <a:latin typeface="Calibri"/>
              </a:rPr>
              <a:t>•  Inference-evasion is not a winning strategy. This is a structural guarantee, not luck.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ROBUSTNESS</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Belief poisoning, and the honest limit</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33</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A stronger attacker plants FAKE infections to mislead the belief. Here’s what actually happens.</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The fix: a RobustAgent audits its belief against the real spread and hedges toward structure-only defense when they stop matching — poisoning is one-shot, the real worm keeps revealing the truth.</a:t>
            </a:r>
          </a:p>
          <a:p>
            <a:pPr>
              <a:spcAft>
                <a:spcPts val="800"/>
              </a:spcAft>
            </a:pPr>
            <a:r>
              <a:rPr sz="1700" b="0" i="0">
                <a:solidFill>
                  <a:srgbClr val="252B33"/>
                </a:solidFill>
                <a:latin typeface="Calibri"/>
              </a:rPr>
              <a:t>•  Against a white-box, audit-AWARE adaptive poisoner, it holds up to a poisoning budget of 6% of the fleet; only at an extreme 10% does the attacker gain a small edge (which fails multiple-comparison correction).</a:t>
            </a:r>
          </a:p>
          <a:p>
            <a:pPr>
              <a:spcAft>
                <a:spcPts val="800"/>
              </a:spcAft>
            </a:pPr>
            <a:r>
              <a:rPr sz="1500" b="0" i="0">
                <a:solidFill>
                  <a:srgbClr val="B56A00"/>
                </a:solidFill>
                <a:latin typeface="Calibri"/>
              </a:rPr>
              <a:t>•  HONEST framing: this is GRACEFUL DEGRADATION, not a robustness win. Under poisoning the content-aware advantage evaporates and the agent falls back to — never below — structure-only. It’s a safety net, not superiority under attack.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ROBUSTNESS / THREATS TO VALIDITY</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Two more robustness stresses</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34</a:t>
            </a:r>
          </a:p>
        </p:txBody>
      </p:sp>
      <p:sp>
        <p:nvSpPr>
          <p:cNvPr id="6" name="Rectangle 5"/>
          <p:cNvSpPr/>
          <p:nvPr/>
        </p:nvSpPr>
        <p:spPr>
          <a:xfrm>
            <a:off x="640080" y="1691640"/>
            <a:ext cx="5166360" cy="502920"/>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5166360" cy="502920"/>
          </a:xfrm>
          <a:prstGeom prst="rect">
            <a:avLst/>
          </a:prstGeom>
          <a:noFill/>
        </p:spPr>
        <p:txBody>
          <a:bodyPr wrap="square" anchor="ctr">
            <a:spAutoFit/>
          </a:bodyPr>
          <a:lstStyle/>
          <a:p>
            <a:pPr algn="ctr"/>
            <a:r>
              <a:rPr sz="1600" b="1" i="0">
                <a:solidFill>
                  <a:srgbClr val="FFFFFF"/>
                </a:solidFill>
                <a:latin typeface="Calibri"/>
              </a:rPr>
              <a:t>Imperfect detection sensors</a:t>
            </a:r>
          </a:p>
        </p:txBody>
      </p:sp>
      <p:sp>
        <p:nvSpPr>
          <p:cNvPr id="8" name="TextBox 7"/>
          <p:cNvSpPr txBox="1"/>
          <p:nvPr/>
        </p:nvSpPr>
        <p:spPr>
          <a:xfrm>
            <a:off x="640080" y="2331720"/>
            <a:ext cx="5166360" cy="4023360"/>
          </a:xfrm>
          <a:prstGeom prst="rect">
            <a:avLst/>
          </a:prstGeom>
          <a:noFill/>
        </p:spPr>
        <p:txBody>
          <a:bodyPr wrap="square">
            <a:spAutoFit/>
          </a:bodyPr>
          <a:lstStyle/>
          <a:p>
            <a:pPr>
              <a:spcAft>
                <a:spcPts val="800"/>
              </a:spcAft>
            </a:pPr>
            <a:r>
              <a:rPr sz="1550" b="0" i="0">
                <a:solidFill>
                  <a:srgbClr val="252B33"/>
                </a:solidFill>
                <a:latin typeface="Calibri"/>
              </a:rPr>
              <a:t>•  Model missed detections + persistent false alarms.</a:t>
            </a:r>
          </a:p>
          <a:p>
            <a:pPr>
              <a:spcAft>
                <a:spcPts val="800"/>
              </a:spcAft>
            </a:pPr>
            <a:r>
              <a:rPr sz="1550" b="0" i="0">
                <a:solidFill>
                  <a:srgbClr val="252B33"/>
                </a:solidFill>
                <a:latin typeface="Calibri"/>
              </a:rPr>
              <a:t>•  Content-aware degrades GRACEFULLY: positive edge at 9 of 10 noise points.</a:t>
            </a:r>
          </a:p>
          <a:p>
            <a:pPr>
              <a:spcAft>
                <a:spcPts val="800"/>
              </a:spcAft>
            </a:pPr>
            <a:r>
              <a:rPr sz="1550" b="0" i="0">
                <a:solidFill>
                  <a:srgbClr val="252B33"/>
                </a:solidFill>
                <a:latin typeface="Calibri"/>
              </a:rPr>
              <a:t>•  False alarms (which poison the belief) are the sensitive channel.</a:t>
            </a:r>
          </a:p>
          <a:p>
            <a:pPr>
              <a:spcAft>
                <a:spcPts val="800"/>
              </a:spcAft>
            </a:pPr>
            <a:r>
              <a:rPr sz="1550" b="0" i="0">
                <a:solidFill>
                  <a:srgbClr val="252B33"/>
                </a:solidFill>
                <a:latin typeface="Calibri"/>
              </a:rPr>
              <a:t>•  Not a new significant win — a graceful-degradation result.</a:t>
            </a:r>
          </a:p>
        </p:txBody>
      </p:sp>
      <p:sp>
        <p:nvSpPr>
          <p:cNvPr id="9" name="Rectangle 8"/>
          <p:cNvSpPr/>
          <p:nvPr/>
        </p:nvSpPr>
        <p:spPr>
          <a:xfrm>
            <a:off x="6355080" y="1691640"/>
            <a:ext cx="5166360" cy="502920"/>
          </a:xfrm>
          <a:prstGeom prst="rect">
            <a:avLst/>
          </a:prstGeom>
          <a:solidFill>
            <a:srgbClr val="1F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91640"/>
            <a:ext cx="5166360" cy="502920"/>
          </a:xfrm>
          <a:prstGeom prst="rect">
            <a:avLst/>
          </a:prstGeom>
          <a:noFill/>
        </p:spPr>
        <p:txBody>
          <a:bodyPr wrap="square" anchor="ctr">
            <a:spAutoFit/>
          </a:bodyPr>
          <a:lstStyle/>
          <a:p>
            <a:pPr algn="ctr"/>
            <a:r>
              <a:rPr sz="1600" b="1" i="0">
                <a:solidFill>
                  <a:srgbClr val="FFFFFF"/>
                </a:solidFill>
                <a:latin typeface="Calibri"/>
              </a:rPr>
              <a:t>Is the win a manufactured artifact?</a:t>
            </a:r>
          </a:p>
        </p:txBody>
      </p:sp>
      <p:sp>
        <p:nvSpPr>
          <p:cNvPr id="11" name="TextBox 10"/>
          <p:cNvSpPr txBox="1"/>
          <p:nvPr/>
        </p:nvSpPr>
        <p:spPr>
          <a:xfrm>
            <a:off x="6355080" y="2331720"/>
            <a:ext cx="5166360" cy="4023360"/>
          </a:xfrm>
          <a:prstGeom prst="rect">
            <a:avLst/>
          </a:prstGeom>
          <a:noFill/>
        </p:spPr>
        <p:txBody>
          <a:bodyPr wrap="square">
            <a:spAutoFit/>
          </a:bodyPr>
          <a:lstStyle/>
          <a:p>
            <a:pPr>
              <a:spcAft>
                <a:spcPts val="800"/>
              </a:spcAft>
            </a:pPr>
            <a:r>
              <a:rPr sz="1550" b="0" i="0">
                <a:solidFill>
                  <a:srgbClr val="252B33"/>
                </a:solidFill>
                <a:latin typeface="Calibri"/>
              </a:rPr>
              <a:t>•  Worry: the ‘homophily’ knob manufactures the favorable regime.</a:t>
            </a:r>
          </a:p>
          <a:p>
            <a:pPr>
              <a:spcAft>
                <a:spcPts val="800"/>
              </a:spcAft>
            </a:pPr>
            <a:r>
              <a:rPr sz="1550" b="0" i="0">
                <a:solidFill>
                  <a:srgbClr val="252B33"/>
                </a:solidFill>
                <a:latin typeface="Calibri"/>
              </a:rPr>
              <a:t>•  We sweep it 0→0.8. Surprise: the edge is significant even at 0 (no monoculture).</a:t>
            </a:r>
          </a:p>
          <a:p>
            <a:pPr>
              <a:spcAft>
                <a:spcPts val="800"/>
              </a:spcAft>
            </a:pPr>
            <a:r>
              <a:rPr sz="1550" b="0" i="0">
                <a:solidFill>
                  <a:srgbClr val="252B33"/>
                </a:solidFill>
                <a:latin typeface="Calibri"/>
              </a:rPr>
              <a:t>•  So it’s NOT a knob artifact — homophily only controls spatial clustering.</a:t>
            </a:r>
          </a:p>
          <a:p>
            <a:pPr>
              <a:spcAft>
                <a:spcPts val="800"/>
              </a:spcAft>
            </a:pPr>
            <a:r>
              <a:rPr sz="1550" b="0" i="0">
                <a:solidFill>
                  <a:srgbClr val="252B33"/>
                </a:solidFill>
                <a:latin typeface="Calibri"/>
              </a:rPr>
              <a:t>•  Honest: this rebuts the KNOB worry, not the semi-synthetic-data limitation.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F355E"/>
        </a:solidFill>
        <a:effectLst/>
      </p:bgPr>
    </p:bg>
    <p:spTree>
      <p:nvGrpSpPr>
        <p:cNvPr id="1" name=""/>
        <p:cNvGrpSpPr/>
        <p:nvPr/>
      </p:nvGrpSpPr>
      <p:grpSpPr/>
      <p:sp>
        <p:nvSpPr>
          <p:cNvPr id="2" name="TextBox 1"/>
          <p:cNvSpPr txBox="1"/>
          <p:nvPr/>
        </p:nvSpPr>
        <p:spPr>
          <a:xfrm>
            <a:off x="822960" y="2103120"/>
            <a:ext cx="5486400" cy="548640"/>
          </a:xfrm>
          <a:prstGeom prst="rect">
            <a:avLst/>
          </a:prstGeom>
          <a:noFill/>
        </p:spPr>
        <p:txBody>
          <a:bodyPr wrap="square" anchor="t">
            <a:spAutoFit/>
          </a:bodyPr>
          <a:lstStyle/>
          <a:p>
            <a:pPr algn="l"/>
            <a:r>
              <a:rPr sz="1800" b="1" i="0">
                <a:solidFill>
                  <a:srgbClr val="8FA6C8"/>
                </a:solidFill>
                <a:latin typeface="Calibri"/>
              </a:rPr>
              <a:t>PART 8</a:t>
            </a:r>
          </a:p>
        </p:txBody>
      </p:sp>
      <p:sp>
        <p:nvSpPr>
          <p:cNvPr id="3" name="TextBox 2"/>
          <p:cNvSpPr txBox="1"/>
          <p:nvPr/>
        </p:nvSpPr>
        <p:spPr>
          <a:xfrm>
            <a:off x="822960" y="2743200"/>
            <a:ext cx="10515600" cy="1463040"/>
          </a:xfrm>
          <a:prstGeom prst="rect">
            <a:avLst/>
          </a:prstGeom>
          <a:noFill/>
        </p:spPr>
        <p:txBody>
          <a:bodyPr wrap="square" anchor="t">
            <a:spAutoFit/>
          </a:bodyPr>
          <a:lstStyle/>
          <a:p>
            <a:pPr algn="l"/>
            <a:r>
              <a:rPr sz="4000" b="1" i="0">
                <a:solidFill>
                  <a:srgbClr val="FFFFFF"/>
                </a:solidFill>
                <a:latin typeface="Calibri"/>
              </a:rPr>
              <a:t>Breadth</a:t>
            </a:r>
          </a:p>
        </p:txBody>
      </p:sp>
      <p:sp>
        <p:nvSpPr>
          <p:cNvPr id="4" name="TextBox 3"/>
          <p:cNvSpPr txBox="1"/>
          <p:nvPr/>
        </p:nvSpPr>
        <p:spPr>
          <a:xfrm>
            <a:off x="822960" y="4297680"/>
            <a:ext cx="10515600" cy="1097280"/>
          </a:xfrm>
          <a:prstGeom prst="rect">
            <a:avLst/>
          </a:prstGeom>
          <a:noFill/>
        </p:spPr>
        <p:txBody>
          <a:bodyPr wrap="square" anchor="t">
            <a:spAutoFit/>
          </a:bodyPr>
          <a:lstStyle/>
          <a:p>
            <a:pPr algn="l"/>
            <a:r>
              <a:rPr sz="1900" b="0" i="1">
                <a:solidFill>
                  <a:srgbClr val="C7D6EC"/>
                </a:solidFill>
                <a:latin typeface="Calibri"/>
              </a:rPr>
              <a:t>The framework generalizes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BREADTH</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Application &amp; learned policy</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35</a:t>
            </a:r>
          </a:p>
        </p:txBody>
      </p:sp>
      <p:sp>
        <p:nvSpPr>
          <p:cNvPr id="6" name="Rectangle 5"/>
          <p:cNvSpPr/>
          <p:nvPr/>
        </p:nvSpPr>
        <p:spPr>
          <a:xfrm>
            <a:off x="640080" y="1691640"/>
            <a:ext cx="5166360" cy="502920"/>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5166360" cy="502920"/>
          </a:xfrm>
          <a:prstGeom prst="rect">
            <a:avLst/>
          </a:prstGeom>
          <a:noFill/>
        </p:spPr>
        <p:txBody>
          <a:bodyPr wrap="square" anchor="ctr">
            <a:spAutoFit/>
          </a:bodyPr>
          <a:lstStyle/>
          <a:p>
            <a:pPr algn="ctr"/>
            <a:r>
              <a:rPr sz="1600" b="1" i="0">
                <a:solidFill>
                  <a:srgbClr val="FFFFFF"/>
                </a:solidFill>
                <a:latin typeface="Calibri"/>
              </a:rPr>
              <a:t>IoT botnet (Mirai-style)</a:t>
            </a:r>
          </a:p>
        </p:txBody>
      </p:sp>
      <p:sp>
        <p:nvSpPr>
          <p:cNvPr id="8" name="TextBox 7"/>
          <p:cNvSpPr txBox="1"/>
          <p:nvPr/>
        </p:nvSpPr>
        <p:spPr>
          <a:xfrm>
            <a:off x="640080" y="2331720"/>
            <a:ext cx="5166360" cy="4023360"/>
          </a:xfrm>
          <a:prstGeom prst="rect">
            <a:avLst/>
          </a:prstGeom>
          <a:noFill/>
        </p:spPr>
        <p:txBody>
          <a:bodyPr wrap="square">
            <a:spAutoFit/>
          </a:bodyPr>
          <a:lstStyle/>
          <a:p>
            <a:pPr>
              <a:spcAft>
                <a:spcPts val="800"/>
              </a:spcAft>
            </a:pPr>
            <a:r>
              <a:rPr sz="1550" b="0" i="0">
                <a:solidFill>
                  <a:srgbClr val="252B33"/>
                </a:solidFill>
                <a:latin typeface="Calibri"/>
              </a:rPr>
              <a:t>•  Device-type firmware monoculture; payload targets default telnet credentials.</a:t>
            </a:r>
          </a:p>
          <a:p>
            <a:pPr>
              <a:spcAft>
                <a:spcPts val="800"/>
              </a:spcAft>
            </a:pPr>
            <a:r>
              <a:rPr sz="1550" b="0" i="0">
                <a:solidFill>
                  <a:srgbClr val="252B33"/>
                </a:solidFill>
                <a:latin typeface="Calibri"/>
              </a:rPr>
              <a:t>•  Host value = uplink Mbps, so ‘blast radius’ = the DDoS capacity a botnet conscripts.</a:t>
            </a:r>
          </a:p>
          <a:p>
            <a:pPr>
              <a:spcAft>
                <a:spcPts val="800"/>
              </a:spcAft>
            </a:pPr>
            <a:r>
              <a:rPr sz="1550" b="0" i="0">
                <a:solidFill>
                  <a:srgbClr val="252B33"/>
                </a:solidFill>
                <a:latin typeface="Calibri"/>
              </a:rPr>
              <a:t>•  Content-aware cuts DDoS blast −8.71pp vs degree (20/20 wins), higher availability.</a:t>
            </a:r>
          </a:p>
          <a:p>
            <a:pPr>
              <a:spcAft>
                <a:spcPts val="800"/>
              </a:spcAft>
            </a:pPr>
            <a:r>
              <a:rPr sz="1550" b="0" i="0">
                <a:solidFill>
                  <a:srgbClr val="252B33"/>
                </a:solidFill>
                <a:latin typeface="Calibri"/>
              </a:rPr>
              <a:t>•  Absolute infection stays high — tight-budget Mirai does form botnets; read the deltas.</a:t>
            </a:r>
          </a:p>
        </p:txBody>
      </p:sp>
      <p:sp>
        <p:nvSpPr>
          <p:cNvPr id="9" name="Rectangle 8"/>
          <p:cNvSpPr/>
          <p:nvPr/>
        </p:nvSpPr>
        <p:spPr>
          <a:xfrm>
            <a:off x="6355080" y="1691640"/>
            <a:ext cx="5166360" cy="502920"/>
          </a:xfrm>
          <a:prstGeom prst="rect">
            <a:avLst/>
          </a:prstGeom>
          <a:solidFill>
            <a:srgbClr val="1F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91640"/>
            <a:ext cx="5166360" cy="502920"/>
          </a:xfrm>
          <a:prstGeom prst="rect">
            <a:avLst/>
          </a:prstGeom>
          <a:noFill/>
        </p:spPr>
        <p:txBody>
          <a:bodyPr wrap="square" anchor="ctr">
            <a:spAutoFit/>
          </a:bodyPr>
          <a:lstStyle/>
          <a:p>
            <a:pPr algn="ctr"/>
            <a:r>
              <a:rPr sz="1600" b="1" i="0">
                <a:solidFill>
                  <a:srgbClr val="FFFFFF"/>
                </a:solidFill>
                <a:latin typeface="Calibri"/>
              </a:rPr>
              <a:t>Learned policy (validation, not headline)</a:t>
            </a:r>
          </a:p>
        </p:txBody>
      </p:sp>
      <p:sp>
        <p:nvSpPr>
          <p:cNvPr id="11" name="TextBox 10"/>
          <p:cNvSpPr txBox="1"/>
          <p:nvPr/>
        </p:nvSpPr>
        <p:spPr>
          <a:xfrm>
            <a:off x="6355080" y="2331720"/>
            <a:ext cx="5166360" cy="4023360"/>
          </a:xfrm>
          <a:prstGeom prst="rect">
            <a:avLst/>
          </a:prstGeom>
          <a:noFill/>
        </p:spPr>
        <p:txBody>
          <a:bodyPr wrap="square">
            <a:spAutoFit/>
          </a:bodyPr>
          <a:lstStyle/>
          <a:p>
            <a:pPr>
              <a:spcAft>
                <a:spcPts val="800"/>
              </a:spcAft>
            </a:pPr>
            <a:r>
              <a:rPr sz="1550" b="0" i="0">
                <a:solidFill>
                  <a:srgbClr val="252B33"/>
                </a:solidFill>
                <a:latin typeface="Calibri"/>
              </a:rPr>
              <a:t>•  A cross-entropy-method policy over belief-augmented features…</a:t>
            </a:r>
          </a:p>
          <a:p>
            <a:pPr>
              <a:spcAft>
                <a:spcPts val="800"/>
              </a:spcAft>
            </a:pPr>
            <a:r>
              <a:rPr sz="1550" b="0" i="0">
                <a:solidFill>
                  <a:srgbClr val="252B33"/>
                </a:solidFill>
                <a:latin typeface="Calibri"/>
              </a:rPr>
              <a:t>•  …matches the hand-designed agent (1.09% vs 1.04%) and beats degree/betweenness.</a:t>
            </a:r>
          </a:p>
          <a:p>
            <a:pPr>
              <a:spcAft>
                <a:spcPts val="800"/>
              </a:spcAft>
            </a:pPr>
            <a:r>
              <a:rPr sz="1550" b="0" i="0">
                <a:solidFill>
                  <a:srgbClr val="252B33"/>
                </a:solidFill>
                <a:latin typeface="Calibri"/>
              </a:rPr>
              <a:t>•  It independently learns to weight the belief features most — validating the design.</a:t>
            </a:r>
          </a:p>
          <a:p>
            <a:pPr>
              <a:spcAft>
                <a:spcPts val="800"/>
              </a:spcAft>
            </a:pPr>
            <a:r>
              <a:rPr sz="1550" b="0" i="0">
                <a:solidFill>
                  <a:srgbClr val="252B33"/>
                </a:solidFill>
                <a:latin typeface="Calibri"/>
              </a:rPr>
              <a:t>•  This is learning UNDER exploit uncertainty, not vanilla GNN-RL immunization.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F355E"/>
        </a:solidFill>
        <a:effectLst/>
      </p:bgPr>
    </p:bg>
    <p:spTree>
      <p:nvGrpSpPr>
        <p:cNvPr id="1" name=""/>
        <p:cNvGrpSpPr/>
        <p:nvPr/>
      </p:nvGrpSpPr>
      <p:grpSpPr/>
      <p:sp>
        <p:nvSpPr>
          <p:cNvPr id="2" name="TextBox 1"/>
          <p:cNvSpPr txBox="1"/>
          <p:nvPr/>
        </p:nvSpPr>
        <p:spPr>
          <a:xfrm>
            <a:off x="822960" y="2103120"/>
            <a:ext cx="5486400" cy="548640"/>
          </a:xfrm>
          <a:prstGeom prst="rect">
            <a:avLst/>
          </a:prstGeom>
          <a:noFill/>
        </p:spPr>
        <p:txBody>
          <a:bodyPr wrap="square" anchor="t">
            <a:spAutoFit/>
          </a:bodyPr>
          <a:lstStyle/>
          <a:p>
            <a:pPr algn="l"/>
            <a:r>
              <a:rPr sz="1800" b="1" i="0">
                <a:solidFill>
                  <a:srgbClr val="8FA6C8"/>
                </a:solidFill>
                <a:latin typeface="Calibri"/>
              </a:rPr>
              <a:t>PART 9</a:t>
            </a:r>
          </a:p>
        </p:txBody>
      </p:sp>
      <p:sp>
        <p:nvSpPr>
          <p:cNvPr id="3" name="TextBox 2"/>
          <p:cNvSpPr txBox="1"/>
          <p:nvPr/>
        </p:nvSpPr>
        <p:spPr>
          <a:xfrm>
            <a:off x="822960" y="2743200"/>
            <a:ext cx="10515600" cy="1463040"/>
          </a:xfrm>
          <a:prstGeom prst="rect">
            <a:avLst/>
          </a:prstGeom>
          <a:noFill/>
        </p:spPr>
        <p:txBody>
          <a:bodyPr wrap="square" anchor="t">
            <a:spAutoFit/>
          </a:bodyPr>
          <a:lstStyle/>
          <a:p>
            <a:pPr algn="l"/>
            <a:r>
              <a:rPr sz="4000" b="1" i="0">
                <a:solidFill>
                  <a:srgbClr val="FFFFFF"/>
                </a:solidFill>
                <a:latin typeface="Calibri"/>
              </a:rPr>
              <a:t>Positioning &amp; Honesty</a:t>
            </a:r>
          </a:p>
        </p:txBody>
      </p:sp>
      <p:sp>
        <p:nvSpPr>
          <p:cNvPr id="4" name="TextBox 3"/>
          <p:cNvSpPr txBox="1"/>
          <p:nvPr/>
        </p:nvSpPr>
        <p:spPr>
          <a:xfrm>
            <a:off x="822960" y="4297680"/>
            <a:ext cx="10515600" cy="1097280"/>
          </a:xfrm>
          <a:prstGeom prst="rect">
            <a:avLst/>
          </a:prstGeom>
          <a:noFill/>
        </p:spPr>
        <p:txBody>
          <a:bodyPr wrap="square" anchor="t">
            <a:spAutoFit/>
          </a:bodyPr>
          <a:lstStyle/>
          <a:p>
            <a:pPr algn="l"/>
            <a:r>
              <a:rPr sz="1900" b="0" i="1">
                <a:solidFill>
                  <a:srgbClr val="C7D6EC"/>
                </a:solidFill>
                <a:latin typeface="Calibri"/>
              </a:rPr>
              <a:t>Nearest work, and the limits we own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RELATED WORK</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The three nearest systems — cite, then differentiate</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36</a:t>
            </a:r>
          </a:p>
        </p:txBody>
      </p:sp>
      <p:graphicFrame>
        <p:nvGraphicFramePr>
          <p:cNvPr id="6" name="Table 5"/>
          <p:cNvGraphicFramePr>
            <a:graphicFrameLocks noGrp="1"/>
          </p:cNvGraphicFramePr>
          <p:nvPr/>
        </p:nvGraphicFramePr>
        <p:xfrm>
          <a:off x="655167" y="1783080"/>
          <a:ext cx="10881360" cy="1828800"/>
        </p:xfrm>
        <a:graphic>
          <a:graphicData uri="http://schemas.openxmlformats.org/drawingml/2006/table">
            <a:tbl>
              <a:tblPr firstRow="1" bandRow="1">
                <a:tableStyleId>{5C22544A-7EE6-4342-B048-85BDC9FD1C3A}</a:tableStyleId>
              </a:tblPr>
              <a:tblGrid>
                <a:gridCol w="2651760"/>
                <a:gridCol w="4114800"/>
                <a:gridCol w="4114800"/>
              </a:tblGrid>
              <a:tr h="457200">
                <a:tc>
                  <a:txBody>
                    <a:bodyPr/>
                    <a:lstStyle/>
                    <a:p>
                      <a:pPr algn="l"/>
                      <a:r>
                        <a:rPr sz="1500" b="1">
                          <a:solidFill>
                            <a:srgbClr val="FFFFFF"/>
                          </a:solidFill>
                        </a:rPr>
                        <a:t>Prior work</a:t>
                      </a:r>
                    </a:p>
                  </a:txBody>
                  <a:tcPr>
                    <a:solidFill>
                      <a:srgbClr val="1F355E"/>
                    </a:solidFill>
                  </a:tcPr>
                </a:tc>
                <a:tc>
                  <a:txBody>
                    <a:bodyPr/>
                    <a:lstStyle/>
                    <a:p>
                      <a:pPr algn="ctr"/>
                      <a:r>
                        <a:rPr sz="1500" b="1">
                          <a:solidFill>
                            <a:srgbClr val="FFFFFF"/>
                          </a:solidFill>
                        </a:rPr>
                        <a:t>What it shares with SERUM</a:t>
                      </a:r>
                    </a:p>
                  </a:txBody>
                  <a:tcPr>
                    <a:solidFill>
                      <a:srgbClr val="1F355E"/>
                    </a:solidFill>
                  </a:tcPr>
                </a:tc>
                <a:tc>
                  <a:txBody>
                    <a:bodyPr/>
                    <a:lstStyle/>
                    <a:p>
                      <a:pPr algn="ctr"/>
                      <a:r>
                        <a:rPr sz="1500" b="1">
                          <a:solidFill>
                            <a:srgbClr val="FFFFFF"/>
                          </a:solidFill>
                        </a:rPr>
                        <a:t>The gap SERUM fills</a:t>
                      </a:r>
                    </a:p>
                  </a:txBody>
                  <a:tcPr>
                    <a:solidFill>
                      <a:srgbClr val="1F355E"/>
                    </a:solidFill>
                  </a:tcPr>
                </a:tc>
              </a:tr>
              <a:tr h="457200">
                <a:tc>
                  <a:txBody>
                    <a:bodyPr/>
                    <a:lstStyle/>
                    <a:p>
                      <a:pPr algn="l"/>
                      <a:r>
                        <a:rPr sz="1400" b="0">
                          <a:solidFill>
                            <a:srgbClr val="252B33"/>
                          </a:solidFill>
                        </a:rPr>
                        <a:t>CyGym (2025)</a:t>
                      </a:r>
                    </a:p>
                  </a:txBody>
                  <a:tcPr>
                    <a:solidFill>
                      <a:srgbClr val="F3F6FA"/>
                    </a:solidFill>
                  </a:tcPr>
                </a:tc>
                <a:tc>
                  <a:txBody>
                    <a:bodyPr/>
                    <a:lstStyle/>
                    <a:p>
                      <a:pPr algn="ctr"/>
                      <a:r>
                        <a:rPr sz="1400" b="0">
                          <a:solidFill>
                            <a:srgbClr val="252B33"/>
                          </a:solidFill>
                        </a:rPr>
                        <a:t>vuln-gated spread + a cost model</a:t>
                      </a:r>
                    </a:p>
                  </a:txBody>
                  <a:tcPr>
                    <a:solidFill>
                      <a:srgbClr val="F3F6FA"/>
                    </a:solidFill>
                  </a:tcPr>
                </a:tc>
                <a:tc>
                  <a:txBody>
                    <a:bodyPr/>
                    <a:lstStyle/>
                    <a:p>
                      <a:pPr algn="ctr"/>
                      <a:r>
                        <a:rPr sz="1400" b="0">
                          <a:solidFill>
                            <a:srgbClr val="252B33"/>
                          </a:solidFill>
                        </a:rPr>
                        <a:t>STATIC zero-day prior; no online belief update</a:t>
                      </a:r>
                    </a:p>
                  </a:txBody>
                  <a:tcPr>
                    <a:solidFill>
                      <a:srgbClr val="F3F6FA"/>
                    </a:solidFill>
                  </a:tcPr>
                </a:tc>
              </a:tr>
              <a:tr h="457200">
                <a:tc>
                  <a:txBody>
                    <a:bodyPr/>
                    <a:lstStyle/>
                    <a:p>
                      <a:pPr algn="l"/>
                      <a:r>
                        <a:rPr sz="1400" b="0">
                          <a:solidFill>
                            <a:srgbClr val="252B33"/>
                          </a:solidFill>
                        </a:rPr>
                        <a:t>SCENARIOID (KDD 2023)</a:t>
                      </a:r>
                    </a:p>
                  </a:txBody>
                  <a:tcPr>
                    <a:solidFill>
                      <a:srgbClr val="FFFFFF"/>
                    </a:solidFill>
                  </a:tcPr>
                </a:tc>
                <a:tc>
                  <a:txBody>
                    <a:bodyPr/>
                    <a:lstStyle/>
                    <a:p>
                      <a:pPr algn="ctr"/>
                      <a:r>
                        <a:rPr sz="1400" b="0">
                          <a:solidFill>
                            <a:srgbClr val="252B33"/>
                          </a:solidFill>
                        </a:rPr>
                        <a:t>infer which mechanism produced a cascade</a:t>
                      </a:r>
                    </a:p>
                  </a:txBody>
                  <a:tcPr>
                    <a:solidFill>
                      <a:srgbClr val="FFFFFF"/>
                    </a:solidFill>
                  </a:tcPr>
                </a:tc>
                <a:tc>
                  <a:txBody>
                    <a:bodyPr/>
                    <a:lstStyle/>
                    <a:p>
                      <a:pPr algn="ctr"/>
                      <a:r>
                        <a:rPr sz="1400" b="0">
                          <a:solidFill>
                            <a:srgbClr val="252B33"/>
                          </a:solidFill>
                        </a:rPr>
                        <a:t>OFFLINE, feature-engineered; no identifiability guarantee</a:t>
                      </a:r>
                    </a:p>
                  </a:txBody>
                  <a:tcPr>
                    <a:solidFill>
                      <a:srgbClr val="FFFFFF"/>
                    </a:solidFill>
                  </a:tcPr>
                </a:tc>
              </a:tr>
              <a:tr h="457200">
                <a:tc>
                  <a:txBody>
                    <a:bodyPr/>
                    <a:lstStyle/>
                    <a:p>
                      <a:pPr algn="l"/>
                      <a:r>
                        <a:rPr sz="1400" b="0">
                          <a:solidFill>
                            <a:srgbClr val="252B33"/>
                          </a:solidFill>
                        </a:rPr>
                        <a:t>Hoffmann et al. (ICML 2020)</a:t>
                      </a:r>
                    </a:p>
                  </a:txBody>
                  <a:tcPr>
                    <a:solidFill>
                      <a:srgbClr val="F3F6FA"/>
                    </a:solidFill>
                  </a:tcPr>
                </a:tc>
                <a:tc>
                  <a:txBody>
                    <a:bodyPr/>
                    <a:lstStyle/>
                    <a:p>
                      <a:pPr algn="ctr"/>
                      <a:r>
                        <a:rPr sz="1400" b="0">
                          <a:solidFill>
                            <a:srgbClr val="252B33"/>
                          </a:solidFill>
                        </a:rPr>
                        <a:t>identifiability from cascades</a:t>
                      </a:r>
                    </a:p>
                  </a:txBody>
                  <a:tcPr>
                    <a:solidFill>
                      <a:srgbClr val="F3F6FA"/>
                    </a:solidFill>
                  </a:tcPr>
                </a:tc>
                <a:tc>
                  <a:txBody>
                    <a:bodyPr/>
                    <a:lstStyle/>
                    <a:p>
                      <a:pPr algn="ctr"/>
                      <a:r>
                        <a:rPr sz="1400" b="0">
                          <a:solidFill>
                            <a:srgbClr val="252B33"/>
                          </a:solidFill>
                        </a:rPr>
                        <a:t>condition on LATENT edges; batch (an arguably harder setting)</a:t>
                      </a:r>
                    </a:p>
                  </a:txBody>
                  <a:tcPr>
                    <a:solidFill>
                      <a:srgbClr val="F3F6FA"/>
                    </a:solidFill>
                  </a:tcPr>
                </a:tc>
              </a:tr>
            </a:tbl>
          </a:graphicData>
        </a:graphic>
      </p:graphicFrame>
      <p:sp>
        <p:nvSpPr>
          <p:cNvPr id="7" name="Rectangle 6"/>
          <p:cNvSpPr/>
          <p:nvPr/>
        </p:nvSpPr>
        <p:spPr>
          <a:xfrm>
            <a:off x="640080" y="3794760"/>
            <a:ext cx="10881360" cy="1143000"/>
          </a:xfrm>
          <a:prstGeom prst="rect">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886200"/>
            <a:ext cx="10424160" cy="1005840"/>
          </a:xfrm>
          <a:prstGeom prst="rect">
            <a:avLst/>
          </a:prstGeom>
          <a:noFill/>
        </p:spPr>
        <p:txBody>
          <a:bodyPr wrap="square" anchor="ctr">
            <a:spAutoFit/>
          </a:bodyPr>
          <a:lstStyle/>
          <a:p>
            <a:pPr algn="l"/>
            <a:r>
              <a:rPr sz="1450" b="0" i="0">
                <a:solidFill>
                  <a:srgbClr val="252B33"/>
                </a:solidFill>
                <a:latin typeface="Calibri"/>
              </a:rPr>
              <a:t>What it means:  We cite all three prominently and state each delta in the same breath — including, honestly, that our observable-attribute setting is in some ways EASIER than Hoffmann’s latent one, not strictly stronger. Reviewers pattern-match to these three; we get ahead of it.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HONESTY</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Honest limitations (several are load-bearing)</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37</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We state these plainly; a paper is stronger for owning them.</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500" b="0" i="0">
                <a:solidFill>
                  <a:srgbClr val="252B33"/>
                </a:solidFill>
                <a:latin typeface="Calibri"/>
              </a:rPr>
              <a:t>•  L1 — Not yet validated on real HOST-LEVEL data: measured per-host inventories on a real segmented network are proprietary scan data. The single most important gap.</a:t>
            </a:r>
          </a:p>
          <a:p>
            <a:pPr>
              <a:spcAft>
                <a:spcPts val="800"/>
              </a:spcAft>
            </a:pPr>
            <a:r>
              <a:rPr sz="1500" b="0" i="0">
                <a:solidFill>
                  <a:srgbClr val="252B33"/>
                </a:solidFill>
                <a:latin typeface="Calibri"/>
              </a:rPr>
              <a:t>•  L2 — Online inference is a REFINEMENT, not the driver (our own ablation shows this).</a:t>
            </a:r>
          </a:p>
          <a:p>
            <a:pPr>
              <a:spcAft>
                <a:spcPts val="800"/>
              </a:spcAft>
            </a:pPr>
            <a:r>
              <a:rPr sz="1500" b="0" i="0">
                <a:solidFill>
                  <a:srgbClr val="252B33"/>
                </a:solidFill>
                <a:latin typeface="Calibri"/>
              </a:rPr>
              <a:t>•  L3 — The host↔CVE mapping is MODELED (semi-synthetic), not measured.</a:t>
            </a:r>
          </a:p>
          <a:p>
            <a:pPr>
              <a:spcAft>
                <a:spcPts val="800"/>
              </a:spcAft>
            </a:pPr>
            <a:r>
              <a:rPr sz="1500" b="0" i="0">
                <a:solidFill>
                  <a:srgbClr val="252B33"/>
                </a:solidFill>
                <a:latin typeface="Calibri"/>
              </a:rPr>
              <a:t>•  L4 — Detection noise: addressed (graceful degradation). L5 — Adaptive adversary: addressed, bounded. L6 — Multiplicity: corrected, but forking paths remain. L7 — Abstract model: no packet-level malware, scanning, or C2 layer.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HONESTY</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L1 — ready to close in ONE command</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38</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We can’t close L1 without proprietary data — but we made the project ready the instant it exists.</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We will NOT fabricate a real inventory, and another synthetic model wouldn’t satisfy L1.</a:t>
            </a:r>
          </a:p>
          <a:p>
            <a:pPr>
              <a:spcAft>
                <a:spcPts val="800"/>
              </a:spcAft>
            </a:pPr>
            <a:r>
              <a:rPr sz="1700" b="0" i="0">
                <a:solidFill>
                  <a:srgbClr val="252B33"/>
                </a:solidFill>
                <a:latin typeface="Calibri"/>
              </a:rPr>
              <a:t>•  Instead we ship a TESTED import pipeline: serum/data/real_inventory.py + scripts/validate_real_inventory.py.</a:t>
            </a:r>
          </a:p>
          <a:p>
            <a:pPr>
              <a:spcAft>
                <a:spcPts val="800"/>
              </a:spcAft>
            </a:pPr>
            <a:r>
              <a:rPr sz="1700" b="0" i="0">
                <a:solidFill>
                  <a:srgbClr val="252B33"/>
                </a:solidFill>
                <a:latin typeface="Calibri"/>
              </a:rPr>
              <a:t>•  Feed it a real scan (measured host,CVE findings) + a topology edge list, and it runs the full evaluation — taking each host’s vulnerabilities VERBATIM from the scan (measured, not modeled). Every downstream component works unchanged.</a:t>
            </a:r>
          </a:p>
          <a:p>
            <a:pPr>
              <a:spcAft>
                <a:spcPts val="800"/>
              </a:spcAft>
            </a:pPr>
            <a:r>
              <a:rPr sz="1600" b="0" i="0">
                <a:solidFill>
                  <a:srgbClr val="1B7F4B"/>
                </a:solidFill>
                <a:latin typeface="Calibri"/>
              </a:rPr>
              <a:t>•  So L1 is gated on DATA ACCESS, not on method or engineering. One command away.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SUMMARY</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What holds up under grilling</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39</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This was hardened through five rounds of hostile self-review.</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Pareto dominance: at least as good on infection, strictly better on availability &amp; speed.</a:t>
            </a:r>
          </a:p>
          <a:p>
            <a:pPr>
              <a:spcAft>
                <a:spcPts val="800"/>
              </a:spcAft>
            </a:pPr>
            <a:r>
              <a:rPr sz="1700" b="0" i="0">
                <a:solidFill>
                  <a:srgbClr val="252B33"/>
                </a:solidFill>
                <a:latin typeface="Calibri"/>
              </a:rPr>
              <a:t>•  Real-topology flagship: −28.4%, p=1.7×10⁻⁷, wins 20/20 paired outbreaks.</a:t>
            </a:r>
          </a:p>
          <a:p>
            <a:pPr>
              <a:spcAft>
                <a:spcPts val="800"/>
              </a:spcAft>
            </a:pPr>
            <a:r>
              <a:rPr sz="1700" b="0" i="0">
                <a:solidFill>
                  <a:srgbClr val="252B33"/>
                </a:solidFill>
                <a:latin typeface="Calibri"/>
              </a:rPr>
              <a:t>•  Beats the closest prior systems (CyGym-style, DAVA-style) head-to-head.</a:t>
            </a:r>
          </a:p>
          <a:p>
            <a:pPr>
              <a:spcAft>
                <a:spcPts val="800"/>
              </a:spcAft>
            </a:pPr>
            <a:r>
              <a:rPr sz="1600" b="0" i="0">
                <a:solidFill>
                  <a:srgbClr val="1B7F4B"/>
                </a:solidFill>
                <a:latin typeface="Calibri"/>
              </a:rPr>
              <a:t>•  Every headline number is backed by a committed result file and guarded by a test; the experiments are seeded and reproduce bit-for-bit; the paper compiles clean; 141 tests green.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F355E"/>
        </a:solidFill>
        <a:effectLst/>
      </p:bgPr>
    </p:bg>
    <p:spTree>
      <p:nvGrpSpPr>
        <p:cNvPr id="1" name=""/>
        <p:cNvGrpSpPr/>
        <p:nvPr/>
      </p:nvGrpSpPr>
      <p:grpSpPr/>
      <p:sp>
        <p:nvSpPr>
          <p:cNvPr id="2" name="TextBox 1"/>
          <p:cNvSpPr txBox="1"/>
          <p:nvPr/>
        </p:nvSpPr>
        <p:spPr>
          <a:xfrm>
            <a:off x="822960" y="2103120"/>
            <a:ext cx="5486400" cy="548640"/>
          </a:xfrm>
          <a:prstGeom prst="rect">
            <a:avLst/>
          </a:prstGeom>
          <a:noFill/>
        </p:spPr>
        <p:txBody>
          <a:bodyPr wrap="square" anchor="t">
            <a:spAutoFit/>
          </a:bodyPr>
          <a:lstStyle/>
          <a:p>
            <a:pPr algn="l"/>
            <a:r>
              <a:rPr sz="1800" b="1" i="0">
                <a:solidFill>
                  <a:srgbClr val="8FA6C8"/>
                </a:solidFill>
                <a:latin typeface="Calibri"/>
              </a:rPr>
              <a:t>PART 10</a:t>
            </a:r>
          </a:p>
        </p:txBody>
      </p:sp>
      <p:sp>
        <p:nvSpPr>
          <p:cNvPr id="3" name="TextBox 2"/>
          <p:cNvSpPr txBox="1"/>
          <p:nvPr/>
        </p:nvSpPr>
        <p:spPr>
          <a:xfrm>
            <a:off x="822960" y="2743200"/>
            <a:ext cx="10515600" cy="1463040"/>
          </a:xfrm>
          <a:prstGeom prst="rect">
            <a:avLst/>
          </a:prstGeom>
          <a:noFill/>
        </p:spPr>
        <p:txBody>
          <a:bodyPr wrap="square" anchor="t">
            <a:spAutoFit/>
          </a:bodyPr>
          <a:lstStyle/>
          <a:p>
            <a:pPr algn="l"/>
            <a:r>
              <a:rPr sz="4000" b="1" i="0">
                <a:solidFill>
                  <a:srgbClr val="FFFFFF"/>
                </a:solidFill>
                <a:latin typeface="Calibri"/>
              </a:rPr>
              <a:t>Outlook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nchor="t">
            <a:spAutoFit/>
          </a:bodyPr>
          <a:lstStyle/>
          <a:p>
            <a:pPr algn="l"/>
            <a:r>
              <a:rPr sz="1250" b="1" i="0">
                <a:solidFill>
                  <a:srgbClr val="2E6FB0"/>
                </a:solidFill>
                <a:latin typeface="Calibri"/>
              </a:rPr>
              <a:t>OUTLOOK</a:t>
            </a:r>
          </a:p>
        </p:txBody>
      </p:sp>
      <p:sp>
        <p:nvSpPr>
          <p:cNvPr id="3" name="TextBox 2"/>
          <p:cNvSpPr txBox="1"/>
          <p:nvPr/>
        </p:nvSpPr>
        <p:spPr>
          <a:xfrm>
            <a:off x="548640" y="640080"/>
            <a:ext cx="11109960" cy="868680"/>
          </a:xfrm>
          <a:prstGeom prst="rect">
            <a:avLst/>
          </a:prstGeom>
          <a:noFill/>
        </p:spPr>
        <p:txBody>
          <a:bodyPr wrap="square" anchor="t">
            <a:spAutoFit/>
          </a:bodyPr>
          <a:lstStyle/>
          <a:p>
            <a:pPr algn="l"/>
            <a:r>
              <a:rPr sz="2700" b="1" i="0">
                <a:solidFill>
                  <a:srgbClr val="1F355E"/>
                </a:solidFill>
                <a:latin typeface="Calibri"/>
              </a:rPr>
              <a:t>Future work</a:t>
            </a:r>
          </a:p>
        </p:txBody>
      </p:sp>
      <p:sp>
        <p:nvSpPr>
          <p:cNvPr id="4" name="Rectangle 3"/>
          <p:cNvSpPr/>
          <p:nvPr/>
        </p:nvSpPr>
        <p:spPr>
          <a:xfrm>
            <a:off x="0" y="1463040"/>
            <a:ext cx="12191695" cy="54864"/>
          </a:xfrm>
          <a:prstGeom prst="rect">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0" y="6446520"/>
            <a:ext cx="457200" cy="365760"/>
          </a:xfrm>
          <a:prstGeom prst="rect">
            <a:avLst/>
          </a:prstGeom>
          <a:noFill/>
        </p:spPr>
        <p:txBody>
          <a:bodyPr wrap="square" anchor="t">
            <a:spAutoFit/>
          </a:bodyPr>
          <a:lstStyle/>
          <a:p>
            <a:pPr algn="r"/>
            <a:r>
              <a:rPr sz="1100" b="0" i="0">
                <a:solidFill>
                  <a:srgbClr val="5A636E"/>
                </a:solidFill>
                <a:latin typeface="Calibri"/>
              </a:rPr>
              <a:t>40</a:t>
            </a:r>
          </a:p>
        </p:txBody>
      </p:sp>
      <p:sp>
        <p:nvSpPr>
          <p:cNvPr id="6" name="TextBox 5"/>
          <p:cNvSpPr txBox="1"/>
          <p:nvPr/>
        </p:nvSpPr>
        <p:spPr>
          <a:xfrm>
            <a:off x="640080" y="1691640"/>
            <a:ext cx="10881360" cy="914400"/>
          </a:xfrm>
          <a:prstGeom prst="rect">
            <a:avLst/>
          </a:prstGeom>
          <a:noFill/>
        </p:spPr>
        <p:txBody>
          <a:bodyPr wrap="square" anchor="t">
            <a:spAutoFit/>
          </a:bodyPr>
          <a:lstStyle/>
          <a:p>
            <a:pPr algn="l"/>
            <a:r>
              <a:rPr sz="2100" b="1" i="0">
                <a:solidFill>
                  <a:srgbClr val="1F355E"/>
                </a:solidFill>
                <a:latin typeface="Calibri"/>
              </a:rPr>
              <a:t>The method is frozen and honest; the frontier is data and adversaries.</a:t>
            </a:r>
          </a:p>
        </p:txBody>
      </p:sp>
      <p:sp>
        <p:nvSpPr>
          <p:cNvPr id="7" name="TextBox 6"/>
          <p:cNvSpPr txBox="1"/>
          <p:nvPr/>
        </p:nvSpPr>
        <p:spPr>
          <a:xfrm>
            <a:off x="640080" y="2697480"/>
            <a:ext cx="10881360" cy="3657600"/>
          </a:xfrm>
          <a:prstGeom prst="rect">
            <a:avLst/>
          </a:prstGeom>
          <a:noFill/>
        </p:spPr>
        <p:txBody>
          <a:bodyPr wrap="square">
            <a:spAutoFit/>
          </a:bodyPr>
          <a:lstStyle/>
          <a:p>
            <a:pPr>
              <a:spcAft>
                <a:spcPts val="800"/>
              </a:spcAft>
            </a:pPr>
            <a:r>
              <a:rPr sz="1700" b="0" i="0">
                <a:solidFill>
                  <a:srgbClr val="252B33"/>
                </a:solidFill>
                <a:latin typeface="Calibri"/>
              </a:rPr>
              <a:t>•  Validate on a real host-level enterprise inventory (L1) — the highest-value next step.</a:t>
            </a:r>
          </a:p>
          <a:p>
            <a:pPr>
              <a:spcAft>
                <a:spcPts val="800"/>
              </a:spcAft>
            </a:pPr>
            <a:r>
              <a:rPr sz="1700" b="0" i="0">
                <a:solidFill>
                  <a:srgbClr val="252B33"/>
                </a:solidFill>
                <a:latin typeface="Calibri"/>
              </a:rPr>
              <a:t>•  A jointly-adaptive adversary that best-responds on payload + timing + placement together.</a:t>
            </a:r>
          </a:p>
          <a:p>
            <a:pPr>
              <a:spcAft>
                <a:spcPts val="800"/>
              </a:spcAft>
            </a:pPr>
            <a:r>
              <a:rPr sz="1700" b="0" i="0">
                <a:solidFill>
                  <a:srgbClr val="252B33"/>
                </a:solidFill>
                <a:latin typeface="Calibri"/>
              </a:rPr>
              <a:t>•  End-to-end containment for polymorphic (multi-exploit) worms.</a:t>
            </a:r>
          </a:p>
          <a:p>
            <a:pPr>
              <a:spcAft>
                <a:spcPts val="800"/>
              </a:spcAft>
            </a:pPr>
            <a:r>
              <a:rPr sz="1700" b="0" i="0">
                <a:solidFill>
                  <a:srgbClr val="252B33"/>
                </a:solidFill>
                <a:latin typeface="Calibri"/>
              </a:rPr>
              <a:t>•  A learned GNN policy and an LLM tool-use agent that reads structured threat intel.</a:t>
            </a:r>
          </a:p>
          <a:p>
            <a:pPr>
              <a:spcAft>
                <a:spcPts val="800"/>
              </a:spcAft>
            </a:pPr>
            <a:r>
              <a:rPr sz="1700" b="0" i="0">
                <a:solidFill>
                  <a:srgbClr val="252B33"/>
                </a:solidFill>
                <a:latin typeface="Calibri"/>
              </a:rPr>
              <a:t>•  An emulation bridge (packet-level) from the abstract epidemiological model.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F355E"/>
        </a:solidFill>
        <a:effectLst/>
      </p:bgPr>
    </p:bg>
    <p:spTree>
      <p:nvGrpSpPr>
        <p:cNvPr id="1" name=""/>
        <p:cNvGrpSpPr/>
        <p:nvPr/>
      </p:nvGrpSpPr>
      <p:grpSpPr/>
      <p:sp>
        <p:nvSpPr>
          <p:cNvPr id="2" name="TextBox 1"/>
          <p:cNvSpPr txBox="1"/>
          <p:nvPr/>
        </p:nvSpPr>
        <p:spPr>
          <a:xfrm>
            <a:off x="822960" y="2011680"/>
            <a:ext cx="10607040" cy="914400"/>
          </a:xfrm>
          <a:prstGeom prst="rect">
            <a:avLst/>
          </a:prstGeom>
          <a:noFill/>
        </p:spPr>
        <p:txBody>
          <a:bodyPr wrap="square" anchor="t">
            <a:spAutoFit/>
          </a:bodyPr>
          <a:lstStyle/>
          <a:p>
            <a:pPr algn="l"/>
            <a:r>
              <a:rPr sz="4200" b="1" i="0">
                <a:solidFill>
                  <a:srgbClr val="FFFFFF"/>
                </a:solidFill>
                <a:latin typeface="Calibri"/>
              </a:rPr>
              <a:t>Defend what’s spreading —</a:t>
            </a:r>
          </a:p>
        </p:txBody>
      </p:sp>
      <p:sp>
        <p:nvSpPr>
          <p:cNvPr id="3" name="TextBox 2"/>
          <p:cNvSpPr txBox="1"/>
          <p:nvPr/>
        </p:nvSpPr>
        <p:spPr>
          <a:xfrm>
            <a:off x="822960" y="2971800"/>
            <a:ext cx="10607040" cy="914400"/>
          </a:xfrm>
          <a:prstGeom prst="rect">
            <a:avLst/>
          </a:prstGeom>
          <a:noFill/>
        </p:spPr>
        <p:txBody>
          <a:bodyPr wrap="square" anchor="t">
            <a:spAutoFit/>
          </a:bodyPr>
          <a:lstStyle/>
          <a:p>
            <a:pPr algn="l"/>
            <a:r>
              <a:rPr sz="4200" b="1" i="0">
                <a:solidFill>
                  <a:srgbClr val="C7D6EC"/>
                </a:solidFill>
                <a:latin typeface="Calibri"/>
              </a:rPr>
              <a:t>not just who’s connected.</a:t>
            </a:r>
          </a:p>
        </p:txBody>
      </p:sp>
      <p:sp>
        <p:nvSpPr>
          <p:cNvPr id="4" name="TextBox 3"/>
          <p:cNvSpPr txBox="1"/>
          <p:nvPr/>
        </p:nvSpPr>
        <p:spPr>
          <a:xfrm>
            <a:off x="822960" y="4160520"/>
            <a:ext cx="10607040" cy="914400"/>
          </a:xfrm>
          <a:prstGeom prst="rect">
            <a:avLst/>
          </a:prstGeom>
          <a:noFill/>
        </p:spPr>
        <p:txBody>
          <a:bodyPr wrap="square" anchor="t">
            <a:spAutoFit/>
          </a:bodyPr>
          <a:lstStyle/>
          <a:p>
            <a:pPr algn="l"/>
            <a:r>
              <a:rPr sz="1800" b="0" i="1">
                <a:solidFill>
                  <a:srgbClr val="9FB4D4"/>
                </a:solidFill>
                <a:latin typeface="Calibri"/>
              </a:rPr>
              <a:t>Infer the unseen exploit from the shape of the outbreak, and defend the machines that can actually catch it.</a:t>
            </a:r>
          </a:p>
        </p:txBody>
      </p:sp>
      <p:sp>
        <p:nvSpPr>
          <p:cNvPr id="5" name="TextBox 4"/>
          <p:cNvSpPr txBox="1"/>
          <p:nvPr/>
        </p:nvSpPr>
        <p:spPr>
          <a:xfrm>
            <a:off x="822960" y="5669280"/>
            <a:ext cx="10607040" cy="548640"/>
          </a:xfrm>
          <a:prstGeom prst="rect">
            <a:avLst/>
          </a:prstGeom>
          <a:noFill/>
        </p:spPr>
        <p:txBody>
          <a:bodyPr wrap="square" anchor="t">
            <a:spAutoFit/>
          </a:bodyPr>
          <a:lstStyle/>
          <a:p>
            <a:pPr algn="l"/>
            <a:r>
              <a:rPr sz="1300" b="0" i="0">
                <a:solidFill>
                  <a:srgbClr val="7F94B4"/>
                </a:solidFill>
                <a:latin typeface="Calibri"/>
              </a:rPr>
              <a:t>SERUM — Semantic Epidemic Response under Unknown Malware   ·   Amritha S.   ·   Defensive research; no weaponizable attack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