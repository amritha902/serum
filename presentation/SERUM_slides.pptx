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SERUM is about containing a spreading computer worm when you don't know what vulnerability it's exploiting. I'll build the problem from scratch, give the method, the theory, the results, and be very honest about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The Problem. Why containing malware is hard when you can't see the attack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familiar epidemic-on-a-graph picture, then add the one twist that changes everything: infection only happens if the target machine is actually vulnerable. That gating is the whole basis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kid-friendly version and it’s exactly right. Red socks = vulnerable software. The worm can only infect red machines. Keep this picture in mind — every later idea is about finding and defending the red machines.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conceptual point: don’t defend the physical graph, defend the propagation graph. The rest of the talk is about how to do that when you can’t directly see which machines are on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failure mode we beat. Structure-only defense is strong when the vulnerable set coincides with the hubs, but useless when it doesn’t — and real networks are often the latter.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partial observability. If you knew the exploit, this would be easy — defend its subgraph. The difficulty and the contribution are about acting well WITHOUT that knowledge.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‘aha’. The infected set isn’t just damage — it’s evidence. Every infection narrows down the attack. This is the hook the whole method hangs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Thesis &amp; Contributions. What we claim, and what we honestly do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one-sentence thesis. Content beats structure, because malware can only traverse exploitable hosts — and we can pull it off without seeing the payload.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Disarm the novelty attack up front. Each ingredient is known; the combination and the real-data grounding are the contribution. Reviewers respect this honesty.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Notice we demote robustness to a note — it’s a null result (never worse than structure), not a win. Leading with the real-data result is deliberate.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Problem Formulation. The containment POMDP, precisely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element slowly. The key line is ‘the defender never sees c*’ and ‘every observation is the infected set’. That defines the inference problem.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Concretely: spread is a coin flip with probability β, but only for neighbours that are actually vulnerable. Blue neighbours never get infected. This gating is enforced in code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incident response isn’t just ‘fewest infections’ — taking critical machines offline is itself a cost. Our agent gets to keep more machines online because it knows WHICH ones to protect.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Theory — Identifiability. When can you actually figure out the exploit?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theory as answering a practical question: can I know the attack, or must I hedge? And crucially, can I tell in advance? Yes — from the asset inventory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inference in one slide. Every infected host’s software profile is intersected in. When the intersection hits a single CVE, you’ve identified the attack. If it stalls at two or more, those are ‘confusers’.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theorem, then immediately own its modesty — this is exactly the honesty a committee rewards. The real value is the RATE (next), and knowing in advance which CVEs are confusable.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subset-order idea is why the method is robust: confusable exploits SHARE victims, so hedging over them still defends the truth. It’s also why an attacker can’t win by picking a confusable payload — more on that in the robustness section.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Placing it in group testing gives the theorem a rigorous home and preempts the information-theory reviewer. Our novelty is the online, contagion-realized, adversarial instantiation, not the separating condition itself.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panels. Takeaway: on real data a majority of CVEs are individually identifiable, and identifiability gets harder as the vulnerability catalog grows — exactly as the subset-order theory predicts.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non-trivial, testable content of the theory. log₂K is the theoretical minimum number of yes/no tests to find one item among K. We hit it — about 5 infected machines, ~1% of the fleet, identify the attack. That’s remarkably efficient.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The Method. The belief, and the content-aware policy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belief is just Bayesian filtering over the CVE. The important design choice is SOFT vs HARD, on the next slide. And note: the agent acts under UNCERTAINTY — it doesn’t wait to be sure.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detection is noisy. Hard elimination is brittle; soft down-weighting is robust. This single choice is what makes the agent survive noise and poisoning later.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‘content-aware’. It’s a payload-conditioned centrality: not ‘who is connected’ but ‘who can actually spread THIS worm next’. The isolate→patch switch is how it protects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Results. Synthetic, real-topology, and real-data — with honest scope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Sell the rigor before the numbers. Paired trials are the reason a 0.6-point mean difference can be highly significant — every defender fought the exact same outbreak.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headline. Note three axes, not one — we keep more machines online too. But be honest: on these synthetic networks the absolute numbers are small. The next slides are where it really matters.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On a real network with real community structure, ‘protect the hubs’ is almost worthless because the vulnerable machines aren’t the hubs — exactly the regime the thesis predicts. We cut infections by nearly a third, highly significant.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Visually: structure-only can’t separate from doing nothing here, while content-aware tracks the ‘cheating’ oracle. This picture IS the paper’s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‘tiny effect / you lose most trials’ attack head-on. It’s TRUE for the synthetic regime and we admit it — but the flagship, our actual headline, wins 20/20. Leading with the flagship is the honest, strong move.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trade-off is being hidden. At every budget, content-aware is better on BOTH axes. It achieves this by patching precisely once its belief sharpens, instead of isolating blindly.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worse the outbreak, the more content-awareness helps. But we report the uncomfortable part too: at low severity the per-trial win rate is below half. Honesty over hype.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‘did you compare to the real competitors?’. Yes. Content beats data-aware (DAVA) and static-prior (CyGym). We’re upfront that these are reimplementations of their epistemic stance, not the full systems.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subtle, honest point. Our own experiments show the online update is a small effect under a good prior. The real win is defending the vulnerable subgraph at all (content-awareness). We reframed the paper to say this.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Robustness. Can an attacker defeat the defender by attacking its inference?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attacker’s natural move — hide behind a common CVE — doesn’t work, because hiding means sharing victims, and we defend shared victims anyway. Elegant and it’s proven, not just measured.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we’re most careful not to overclaim. The robust agent guarantees you’re never WORSE than a dumb heuristic under poisoning. That’s worth stating — but it’s a null result, not a victory, and we label it as such.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stress tests. Left: noisy sensors — degrades gracefully. Right: we tried to break our OWN result by turning off the monoculture knob, and the advantage survived. That rebuttal makes the result stronger.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Breadth. The framework generalizes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breadth results. IoT shows the framework instantiates on a real threat model. The learned policy shows a from-scratch learner rediscovers our hand-designed signal — evidence the design is right, not a separate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9: Positioning &amp; Honesty. Nearest work, and the limits we 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papers a committee will say ‘isn’t this just…’. We name them first and state exactly what’s different — and where we’re actually the easier problem. Honesty buys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bury limitations — lead with them. L1 is the big one. Note we cross-reference which are addressed (L4, L5, L6) and which are genuine open scope (L1, L3, L7).</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 the biggest weakness into a readiness story. We didn’t fake the result; we built the exact, tested pipeline that produces it the moment someone shares a Nessus/Tenable export. Great answer to ‘so you have no real result’.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arc with what survived scrutiny. The reproducibility and test-guarding matter to reviewers — nothing here is a number we can’t regenerate on demand.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10: Outlook. </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item is L1 — real data. Everything else is depth. We’re transparent that the exciting open work is external (data) and adversarial, not more tuning.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one-line takeaway. Thank the audience; invite the hardest question — especially about L1, which we’re ready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1737360"/>
            <a:ext cx="10515600" cy="1188720"/>
          </a:xfrm>
          <a:prstGeom prst="rect">
            <a:avLst/>
          </a:prstGeom>
          <a:noFill/>
        </p:spPr>
        <p:txBody>
          <a:bodyPr wrap="square" anchor="t">
            <a:spAutoFit/>
          </a:bodyPr>
          <a:lstStyle/>
          <a:p>
            <a:pPr algn="l"/>
            <a:r>
              <a:rPr sz="6600" b="1" i="0">
                <a:solidFill>
                  <a:srgbClr val="FFFFFF"/>
                </a:solidFill>
                <a:latin typeface="Calibri"/>
              </a:rPr>
              <a:t>SERUM</a:t>
            </a:r>
          </a:p>
        </p:txBody>
      </p:sp>
      <p:sp>
        <p:nvSpPr>
          <p:cNvPr id="3" name="TextBox 2"/>
          <p:cNvSpPr txBox="1"/>
          <p:nvPr/>
        </p:nvSpPr>
        <p:spPr>
          <a:xfrm>
            <a:off x="822960" y="2926080"/>
            <a:ext cx="10607040" cy="914400"/>
          </a:xfrm>
          <a:prstGeom prst="rect">
            <a:avLst/>
          </a:prstGeom>
          <a:noFill/>
        </p:spPr>
        <p:txBody>
          <a:bodyPr wrap="square" anchor="t">
            <a:spAutoFit/>
          </a:bodyPr>
          <a:lstStyle/>
          <a:p>
            <a:pPr algn="l"/>
            <a:r>
              <a:rPr sz="2300" b="0" i="0">
                <a:solidFill>
                  <a:srgbClr val="C7D6EC"/>
                </a:solidFill>
                <a:latin typeface="Calibri"/>
              </a:rPr>
              <a:t>Content-Aware Agentic Containment of Malware Under an Unobserved Payload</a:t>
            </a:r>
          </a:p>
        </p:txBody>
      </p:sp>
      <p:sp>
        <p:nvSpPr>
          <p:cNvPr id="4" name="TextBox 3"/>
          <p:cNvSpPr txBox="1"/>
          <p:nvPr/>
        </p:nvSpPr>
        <p:spPr>
          <a:xfrm>
            <a:off x="822960" y="3794760"/>
            <a:ext cx="10515600" cy="457200"/>
          </a:xfrm>
          <a:prstGeom prst="rect">
            <a:avLst/>
          </a:prstGeom>
          <a:noFill/>
        </p:spPr>
        <p:txBody>
          <a:bodyPr wrap="square" anchor="t">
            <a:spAutoFit/>
          </a:bodyPr>
          <a:lstStyle/>
          <a:p>
            <a:pPr algn="l"/>
            <a:r>
              <a:rPr sz="1500" b="0" i="1">
                <a:solidFill>
                  <a:srgbClr val="9FB4D4"/>
                </a:solidFill>
                <a:latin typeface="Calibri"/>
              </a:rPr>
              <a:t>Semantic Epidemic Response under Unknown Malware</a:t>
            </a:r>
          </a:p>
        </p:txBody>
      </p:sp>
      <p:sp>
        <p:nvSpPr>
          <p:cNvPr id="5" name="TextBox 4"/>
          <p:cNvSpPr txBox="1"/>
          <p:nvPr/>
        </p:nvSpPr>
        <p:spPr>
          <a:xfrm>
            <a:off x="822960" y="5029200"/>
            <a:ext cx="5486400" cy="457200"/>
          </a:xfrm>
          <a:prstGeom prst="rect">
            <a:avLst/>
          </a:prstGeom>
          <a:noFill/>
        </p:spPr>
        <p:txBody>
          <a:bodyPr wrap="square" anchor="t">
            <a:spAutoFit/>
          </a:bodyPr>
          <a:lstStyle/>
          <a:p>
            <a:pPr algn="l"/>
            <a:r>
              <a:rPr sz="2000" b="1" i="0">
                <a:solidFill>
                  <a:srgbClr val="FFFFFF"/>
                </a:solidFill>
                <a:latin typeface="Calibri"/>
              </a:rPr>
              <a:t>Amritha S.</a:t>
            </a:r>
          </a:p>
        </p:txBody>
      </p:sp>
      <p:sp>
        <p:nvSpPr>
          <p:cNvPr id="6" name="TextBox 5"/>
          <p:cNvSpPr txBox="1"/>
          <p:nvPr/>
        </p:nvSpPr>
        <p:spPr>
          <a:xfrm>
            <a:off x="822960" y="5468112"/>
            <a:ext cx="10058400" cy="548640"/>
          </a:xfrm>
          <a:prstGeom prst="rect">
            <a:avLst/>
          </a:prstGeom>
          <a:noFill/>
        </p:spPr>
        <p:txBody>
          <a:bodyPr wrap="square" anchor="t">
            <a:spAutoFit/>
          </a:bodyPr>
          <a:lstStyle/>
          <a:p>
            <a:pPr algn="l"/>
            <a:r>
              <a:rPr sz="1400" b="0" i="0">
                <a:solidFill>
                  <a:srgbClr val="9FB4D4"/>
                </a:solidFill>
                <a:latin typeface="Calibri"/>
              </a:rPr>
              <a:t>A defensive research testbed at the intersection of cybersecurity, network science, and agentic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1</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The Problem</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Why containing malware is hard when you can't see the attack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 PROBLEM</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Malware spreads like an epidemic — but a picky one</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A self-propagating worm moves host to host, like a disease over a contact network.</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Classic view: model it as an epidemic (SI/SIR) spreading over a graph of machines.</a:t>
            </a:r>
          </a:p>
          <a:p>
            <a:pPr>
              <a:spcAft>
                <a:spcPts val="800"/>
              </a:spcAft>
            </a:pPr>
            <a:r>
              <a:rPr sz="1700" b="0" i="0">
                <a:solidFill>
                  <a:srgbClr val="252B33"/>
                </a:solidFill>
                <a:latin typeface="Calibri"/>
              </a:rPr>
              <a:t>•  The catch specific to malware: a worm exploiting vulnerability c can infect a neighbour ONLY IF that neighbour runs the vulnerable software (carries c).</a:t>
            </a:r>
          </a:p>
          <a:p>
            <a:pPr>
              <a:spcAft>
                <a:spcPts val="800"/>
              </a:spcAft>
            </a:pPr>
            <a:r>
              <a:rPr sz="1700" b="0" i="0">
                <a:solidFill>
                  <a:srgbClr val="252B33"/>
                </a:solidFill>
                <a:latin typeface="Calibri"/>
              </a:rPr>
              <a:t>•  So infection is “vulnerability-gated”. A machine that doesn’t have the weakness is simply immune to THIS worm — the germ bounces off.</a:t>
            </a:r>
          </a:p>
          <a:p>
            <a:pPr>
              <a:spcAft>
                <a:spcPts val="800"/>
              </a:spcAft>
            </a:pPr>
            <a:r>
              <a:rPr sz="1700" b="0" i="0">
                <a:solidFill>
                  <a:srgbClr val="2E6FB0"/>
                </a:solidFill>
                <a:latin typeface="Calibri"/>
              </a:rPr>
              <a:t>•  Consequence: the worm does not travel the whole network. It travels only the sub-network of machines that share its target weakness.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WORKED EXAMPLE</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picky germ, concretely</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a:t>
            </a:r>
          </a:p>
        </p:txBody>
      </p:sp>
      <p:sp>
        <p:nvSpPr>
          <p:cNvPr id="6" name="TextBox 5"/>
          <p:cNvSpPr txBox="1"/>
          <p:nvPr/>
        </p:nvSpPr>
        <p:spPr>
          <a:xfrm>
            <a:off x="640080" y="1645920"/>
            <a:ext cx="10881360" cy="731520"/>
          </a:xfrm>
          <a:prstGeom prst="rect">
            <a:avLst/>
          </a:prstGeom>
          <a:noFill/>
        </p:spPr>
        <p:txBody>
          <a:bodyPr wrap="square" anchor="t">
            <a:spAutoFit/>
          </a:bodyPr>
          <a:lstStyle/>
          <a:p>
            <a:pPr algn="l"/>
            <a:r>
              <a:rPr sz="1800" b="0" i="0">
                <a:solidFill>
                  <a:srgbClr val="252B33"/>
                </a:solidFill>
                <a:latin typeface="Calibri"/>
              </a:rPr>
              <a:t>Think of each machine as ‘wearing socks’ — the software it runs. The worm only infects one colour.</a:t>
            </a:r>
          </a:p>
        </p:txBody>
      </p:sp>
      <p:sp>
        <p:nvSpPr>
          <p:cNvPr id="7" name="Rectangle 6"/>
          <p:cNvSpPr/>
          <p:nvPr/>
        </p:nvSpPr>
        <p:spPr>
          <a:xfrm>
            <a:off x="640080" y="2468880"/>
            <a:ext cx="822960" cy="65836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468880"/>
            <a:ext cx="822960" cy="658368"/>
          </a:xfrm>
          <a:prstGeom prst="rect">
            <a:avLst/>
          </a:prstGeom>
          <a:noFill/>
        </p:spPr>
        <p:txBody>
          <a:bodyPr wrap="square" anchor="ctr">
            <a:spAutoFit/>
          </a:bodyPr>
          <a:lstStyle/>
          <a:p>
            <a:pPr algn="ctr"/>
            <a:r>
              <a:rPr sz="1500" b="1" i="0">
                <a:solidFill>
                  <a:srgbClr val="FFFFFF"/>
                </a:solidFill>
                <a:latin typeface="Calibri"/>
              </a:rPr>
              <a:t>RED</a:t>
            </a:r>
          </a:p>
        </p:txBody>
      </p:sp>
      <p:sp>
        <p:nvSpPr>
          <p:cNvPr id="9" name="Rectangle 8"/>
          <p:cNvSpPr/>
          <p:nvPr/>
        </p:nvSpPr>
        <p:spPr>
          <a:xfrm>
            <a:off x="1554480" y="2468880"/>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37360" y="2468880"/>
            <a:ext cx="9692640" cy="658368"/>
          </a:xfrm>
          <a:prstGeom prst="rect">
            <a:avLst/>
          </a:prstGeom>
          <a:noFill/>
        </p:spPr>
        <p:txBody>
          <a:bodyPr wrap="square" anchor="ctr">
            <a:spAutoFit/>
          </a:bodyPr>
          <a:lstStyle/>
          <a:p>
            <a:pPr algn="l"/>
            <a:r>
              <a:rPr sz="1550" b="0" i="0">
                <a:solidFill>
                  <a:srgbClr val="252B33"/>
                </a:solidFill>
                <a:latin typeface="Calibri"/>
              </a:rPr>
              <a:t>Machines running the vulnerable software (carry the target CVE) — CAN catch it.</a:t>
            </a:r>
          </a:p>
        </p:txBody>
      </p:sp>
      <p:sp>
        <p:nvSpPr>
          <p:cNvPr id="11" name="Rectangle 10"/>
          <p:cNvSpPr/>
          <p:nvPr/>
        </p:nvSpPr>
        <p:spPr>
          <a:xfrm>
            <a:off x="640080" y="3310128"/>
            <a:ext cx="822960" cy="658368"/>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0128"/>
            <a:ext cx="822960" cy="658368"/>
          </a:xfrm>
          <a:prstGeom prst="rect">
            <a:avLst/>
          </a:prstGeom>
          <a:noFill/>
        </p:spPr>
        <p:txBody>
          <a:bodyPr wrap="square" anchor="ctr">
            <a:spAutoFit/>
          </a:bodyPr>
          <a:lstStyle/>
          <a:p>
            <a:pPr algn="ctr"/>
            <a:r>
              <a:rPr sz="1500" b="1" i="0">
                <a:solidFill>
                  <a:srgbClr val="FFFFFF"/>
                </a:solidFill>
                <a:latin typeface="Calibri"/>
              </a:rPr>
              <a:t>BLUE</a:t>
            </a:r>
          </a:p>
        </p:txBody>
      </p:sp>
      <p:sp>
        <p:nvSpPr>
          <p:cNvPr id="13" name="Rectangle 12"/>
          <p:cNvSpPr/>
          <p:nvPr/>
        </p:nvSpPr>
        <p:spPr>
          <a:xfrm>
            <a:off x="1554480" y="3310128"/>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3310128"/>
            <a:ext cx="9692640" cy="658368"/>
          </a:xfrm>
          <a:prstGeom prst="rect">
            <a:avLst/>
          </a:prstGeom>
          <a:noFill/>
        </p:spPr>
        <p:txBody>
          <a:bodyPr wrap="square" anchor="ctr">
            <a:spAutoFit/>
          </a:bodyPr>
          <a:lstStyle/>
          <a:p>
            <a:pPr algn="l"/>
            <a:r>
              <a:rPr sz="1550" b="0" i="0">
                <a:solidFill>
                  <a:srgbClr val="252B33"/>
                </a:solidFill>
                <a:latin typeface="Calibri"/>
              </a:rPr>
              <a:t>Machines running something else — the worm bounces off. Totally safe.</a:t>
            </a:r>
          </a:p>
        </p:txBody>
      </p:sp>
      <p:sp>
        <p:nvSpPr>
          <p:cNvPr id="15" name="Rectangle 14"/>
          <p:cNvSpPr/>
          <p:nvPr/>
        </p:nvSpPr>
        <p:spPr>
          <a:xfrm>
            <a:off x="640080" y="4151376"/>
            <a:ext cx="822960" cy="658368"/>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51376"/>
            <a:ext cx="822960" cy="658368"/>
          </a:xfrm>
          <a:prstGeom prst="rect">
            <a:avLst/>
          </a:prstGeom>
          <a:noFill/>
        </p:spPr>
        <p:txBody>
          <a:bodyPr wrap="square" anchor="ctr">
            <a:spAutoFit/>
          </a:bodyPr>
          <a:lstStyle/>
          <a:p>
            <a:pPr algn="ctr"/>
            <a:r>
              <a:rPr sz="1500" b="1" i="0">
                <a:solidFill>
                  <a:srgbClr val="FFFFFF"/>
                </a:solidFill>
                <a:latin typeface="Calibri"/>
              </a:rPr>
              <a:t>SPREAD</a:t>
            </a:r>
          </a:p>
        </p:txBody>
      </p:sp>
      <p:sp>
        <p:nvSpPr>
          <p:cNvPr id="17" name="Rectangle 16"/>
          <p:cNvSpPr/>
          <p:nvPr/>
        </p:nvSpPr>
        <p:spPr>
          <a:xfrm>
            <a:off x="1554480" y="4151376"/>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37360" y="4151376"/>
            <a:ext cx="9692640" cy="658368"/>
          </a:xfrm>
          <a:prstGeom prst="rect">
            <a:avLst/>
          </a:prstGeom>
          <a:noFill/>
        </p:spPr>
        <p:txBody>
          <a:bodyPr wrap="square" anchor="ctr">
            <a:spAutoFit/>
          </a:bodyPr>
          <a:lstStyle/>
          <a:p>
            <a:pPr algn="l"/>
            <a:r>
              <a:rPr sz="1550" b="0" i="0">
                <a:solidFill>
                  <a:srgbClr val="252B33"/>
                </a:solidFill>
                <a:latin typeface="Calibri"/>
              </a:rPr>
              <a:t>The worm walks the network but only crosses into RED machines.</a:t>
            </a:r>
          </a:p>
        </p:txBody>
      </p:sp>
      <p:sp>
        <p:nvSpPr>
          <p:cNvPr id="19" name="TextBox 18"/>
          <p:cNvSpPr txBox="1"/>
          <p:nvPr/>
        </p:nvSpPr>
        <p:spPr>
          <a:xfrm>
            <a:off x="640080" y="5084064"/>
            <a:ext cx="10881360" cy="822960"/>
          </a:xfrm>
          <a:prstGeom prst="rect">
            <a:avLst/>
          </a:prstGeom>
          <a:noFill/>
        </p:spPr>
        <p:txBody>
          <a:bodyPr wrap="square" anchor="t">
            <a:spAutoFit/>
          </a:bodyPr>
          <a:lstStyle/>
          <a:p>
            <a:pPr algn="l"/>
            <a:r>
              <a:rPr sz="1800" b="1" i="0">
                <a:solidFill>
                  <a:srgbClr val="1B7F4B"/>
                </a:solidFill>
                <a:latin typeface="Calibri"/>
              </a:rPr>
              <a:t>So the ‘real’ network the worm uses = the RED sub-network, not the whole graph.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 PROBLEM</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physical network is NOT the propagation graph</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The network a worm actually traverses is a payload-specific SUB-graph of the real network.</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Physical topology: every machine and every link.</a:t>
            </a:r>
          </a:p>
          <a:p>
            <a:pPr>
              <a:spcAft>
                <a:spcPts val="800"/>
              </a:spcAft>
            </a:pPr>
            <a:r>
              <a:rPr sz="1700" b="0" i="0">
                <a:solidFill>
                  <a:srgbClr val="252B33"/>
                </a:solidFill>
                <a:latin typeface="Calibri"/>
              </a:rPr>
              <a:t>•  Propagation graph: only the machines carrying the target CVE, and the links between them.</a:t>
            </a:r>
          </a:p>
          <a:p>
            <a:pPr>
              <a:spcAft>
                <a:spcPts val="800"/>
              </a:spcAft>
            </a:pPr>
            <a:r>
              <a:rPr sz="1700" b="0" i="0">
                <a:solidFill>
                  <a:srgbClr val="252B33"/>
                </a:solidFill>
                <a:latin typeface="Calibri"/>
              </a:rPr>
              <a:t>•  These two graphs can look completely different — the vulnerable machines might be scattered in a corner, not spread across the hubs.</a:t>
            </a:r>
          </a:p>
          <a:p>
            <a:pPr>
              <a:spcAft>
                <a:spcPts val="800"/>
              </a:spcAft>
            </a:pPr>
            <a:r>
              <a:rPr sz="1700" b="0" i="0">
                <a:solidFill>
                  <a:srgbClr val="B56A00"/>
                </a:solidFill>
                <a:latin typeface="Calibri"/>
              </a:rPr>
              <a:t>•  A defender who confuses the two will defend the wrong 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 PROBLEM</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Why the usual defense wastes its budget</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4</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Conventional defenses protect the most-connected machines (the ‘hubs’). Often that’s wasted.</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You never have enough budget to protect every machine — you pick a few.</a:t>
            </a:r>
          </a:p>
          <a:p>
            <a:pPr>
              <a:spcAft>
                <a:spcPts val="800"/>
              </a:spcAft>
            </a:pPr>
            <a:r>
              <a:rPr sz="1700" b="0" i="0">
                <a:solidFill>
                  <a:srgbClr val="252B33"/>
                </a:solidFill>
                <a:latin typeface="Calibri"/>
              </a:rPr>
              <a:t>•  Standard heuristics (degree, betweenness immunization) pick the network hubs.</a:t>
            </a:r>
          </a:p>
          <a:p>
            <a:pPr>
              <a:spcAft>
                <a:spcPts val="800"/>
              </a:spcAft>
            </a:pPr>
            <a:r>
              <a:rPr sz="1700" b="0" i="0">
                <a:solidFill>
                  <a:srgbClr val="252B33"/>
                </a:solidFill>
                <a:latin typeface="Calibri"/>
              </a:rPr>
              <a:t>•  But a hub is irrelevant to THIS worm if it can’t run the exploit — it’s a blue-socks machine. Every band-aid spent on it is wasted.</a:t>
            </a:r>
          </a:p>
          <a:p>
            <a:pPr>
              <a:spcAft>
                <a:spcPts val="800"/>
              </a:spcAft>
            </a:pPr>
            <a:r>
              <a:rPr sz="1700" b="0" i="0">
                <a:solidFill>
                  <a:srgbClr val="2E6FB0"/>
                </a:solidFill>
                <a:latin typeface="Calibri"/>
              </a:rPr>
              <a:t>•  On real organisational networks, the vulnerable machines are frequently NOT the hubs — so ‘protect the hubs’ barely helps at all (we’ll see this holds empirically).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 PROBLEM</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twist that makes it a real research problem</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5</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The defender NEVER observes the payload. It only sees which machines are infected.</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You don’t get told the worm’s target vulnerability — no signature, no payload capture.</a:t>
            </a:r>
          </a:p>
          <a:p>
            <a:pPr>
              <a:spcAft>
                <a:spcPts val="800"/>
              </a:spcAft>
            </a:pPr>
            <a:r>
              <a:rPr sz="1700" b="0" i="0">
                <a:solidFill>
                  <a:srgbClr val="252B33"/>
                </a:solidFill>
                <a:latin typeface="Calibri"/>
              </a:rPr>
              <a:t>•  You observe: the set of currently-infected machines, and your own asset inventory (what software each machine runs).</a:t>
            </a:r>
          </a:p>
          <a:p>
            <a:pPr>
              <a:spcAft>
                <a:spcPts val="800"/>
              </a:spcAft>
            </a:pPr>
            <a:r>
              <a:rPr sz="1700" b="0" i="0">
                <a:solidFill>
                  <a:srgbClr val="252B33"/>
                </a:solidFill>
                <a:latin typeface="Calibri"/>
              </a:rPr>
              <a:t>•  So you must DEFEND the vulnerable sub-network without being told which sub-network it is.</a:t>
            </a:r>
          </a:p>
          <a:p>
            <a:pPr>
              <a:spcAft>
                <a:spcPts val="800"/>
              </a:spcAft>
            </a:pPr>
            <a:r>
              <a:rPr sz="1700" b="0" i="0">
                <a:solidFill>
                  <a:srgbClr val="1F355E"/>
                </a:solidFill>
                <a:latin typeface="Calibri"/>
              </a:rPr>
              <a:t>•  That’s what elevates this from ‘SI on a subgraph’ to a genuine inference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 CORE IDEA</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clue hiding in plain sight</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6</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Because spread is vulnerability-gated, every infected machine MUST carry the target CVE.</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A machine can only have been infected by propagation if it was vulnerable to the worm.</a:t>
            </a:r>
          </a:p>
          <a:p>
            <a:pPr>
              <a:spcAft>
                <a:spcPts val="800"/>
              </a:spcAft>
            </a:pPr>
            <a:r>
              <a:rPr sz="1700" b="0" i="0">
                <a:solidFill>
                  <a:srgbClr val="252B33"/>
                </a:solidFill>
                <a:latin typeface="Calibri"/>
              </a:rPr>
              <a:t>•  So each newly-infected machine is a hard CONSTRAINT: the true exploit lies somewhere in that machine’s software profile.</a:t>
            </a:r>
          </a:p>
          <a:p>
            <a:pPr>
              <a:spcAft>
                <a:spcPts val="800"/>
              </a:spcAft>
            </a:pPr>
            <a:r>
              <a:rPr sz="1700" b="0" i="0">
                <a:solidFill>
                  <a:srgbClr val="252B33"/>
                </a:solidFill>
                <a:latin typeface="Calibri"/>
              </a:rPr>
              <a:t>•  Intersect those profiles across all infected machines → the set of exploits still consistent with what you’ve seen shrinks.</a:t>
            </a:r>
          </a:p>
          <a:p>
            <a:pPr>
              <a:spcAft>
                <a:spcPts val="800"/>
              </a:spcAft>
            </a:pPr>
            <a:r>
              <a:rPr sz="1700" b="0" i="0">
                <a:solidFill>
                  <a:srgbClr val="2E6FB0"/>
                </a:solidFill>
                <a:latin typeface="Calibri"/>
              </a:rPr>
              <a:t>•  SERUM turns this into online Bayesian inference — a POMDP whose hidden state is the exploit — and acts under the resulting belief.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2</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Thesis &amp; Contributions</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What we claim, and what we honestly do not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731520" y="640080"/>
            <a:ext cx="5486400" cy="457200"/>
          </a:xfrm>
          <a:prstGeom prst="rect">
            <a:avLst/>
          </a:prstGeom>
          <a:noFill/>
        </p:spPr>
        <p:txBody>
          <a:bodyPr wrap="square" anchor="t">
            <a:spAutoFit/>
          </a:bodyPr>
          <a:lstStyle/>
          <a:p>
            <a:pPr algn="l"/>
            <a:r>
              <a:rPr sz="1800" b="1" i="0">
                <a:solidFill>
                  <a:srgbClr val="9FB4D4"/>
                </a:solidFill>
                <a:latin typeface="Calibri"/>
              </a:rPr>
              <a:t>Thesis</a:t>
            </a:r>
          </a:p>
        </p:txBody>
      </p:sp>
      <p:sp>
        <p:nvSpPr>
          <p:cNvPr id="3" name="TextBox 2"/>
          <p:cNvSpPr txBox="1"/>
          <p:nvPr/>
        </p:nvSpPr>
        <p:spPr>
          <a:xfrm>
            <a:off x="731520" y="1371600"/>
            <a:ext cx="10789920" cy="2377440"/>
          </a:xfrm>
          <a:prstGeom prst="rect">
            <a:avLst/>
          </a:prstGeom>
          <a:noFill/>
        </p:spPr>
        <p:txBody>
          <a:bodyPr wrap="square" anchor="t">
            <a:spAutoFit/>
          </a:bodyPr>
          <a:lstStyle/>
          <a:p>
            <a:pPr algn="l"/>
            <a:r>
              <a:rPr sz="2700" b="1" i="0">
                <a:solidFill>
                  <a:srgbClr val="FFFFFF"/>
                </a:solidFill>
                <a:latin typeface="Calibri"/>
              </a:rPr>
              <a:t>A defender that reasons about WHAT is spreading — the payload’s target vulnerability — contains a worm far more efficiently, with far less collateral disruption, than one that sees only network STRUCTURE.</a:t>
            </a:r>
          </a:p>
        </p:txBody>
      </p:sp>
      <p:sp>
        <p:nvSpPr>
          <p:cNvPr id="4" name="TextBox 3"/>
          <p:cNvSpPr txBox="1"/>
          <p:nvPr/>
        </p:nvSpPr>
        <p:spPr>
          <a:xfrm>
            <a:off x="731520" y="4114800"/>
            <a:ext cx="10789920" cy="1097280"/>
          </a:xfrm>
          <a:prstGeom prst="rect">
            <a:avLst/>
          </a:prstGeom>
          <a:noFill/>
        </p:spPr>
        <p:txBody>
          <a:bodyPr wrap="square" anchor="t">
            <a:spAutoFit/>
          </a:bodyPr>
          <a:lstStyle/>
          <a:p>
            <a:pPr algn="l"/>
            <a:r>
              <a:rPr sz="2000" b="0" i="1">
                <a:solidFill>
                  <a:srgbClr val="C7D6EC"/>
                </a:solidFill>
                <a:latin typeface="Calibri"/>
              </a:rPr>
              <a:t>And this holds even when the payload is never directly observed — it is inferred from the shape of the outbreak.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POSITIONING</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Honest from the start: what is and isn’t new</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8</a:t>
            </a:r>
          </a:p>
        </p:txBody>
      </p:sp>
      <p:sp>
        <p:nvSpPr>
          <p:cNvPr id="6" name="Rectangle 5"/>
          <p:cNvSpPr/>
          <p:nvPr/>
        </p:nvSpPr>
        <p:spPr>
          <a:xfrm>
            <a:off x="640080" y="1691640"/>
            <a:ext cx="5166360" cy="502920"/>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166360" cy="502920"/>
          </a:xfrm>
          <a:prstGeom prst="rect">
            <a:avLst/>
          </a:prstGeom>
          <a:noFill/>
        </p:spPr>
        <p:txBody>
          <a:bodyPr wrap="square" anchor="ctr">
            <a:spAutoFit/>
          </a:bodyPr>
          <a:lstStyle/>
          <a:p>
            <a:pPr algn="ctr"/>
            <a:r>
              <a:rPr sz="1600" b="1" i="0">
                <a:solidFill>
                  <a:srgbClr val="FFFFFF"/>
                </a:solidFill>
                <a:latin typeface="Calibri"/>
              </a:rPr>
              <a:t>NOT novel (we claim none of this)</a:t>
            </a:r>
          </a:p>
        </p:txBody>
      </p:sp>
      <p:sp>
        <p:nvSpPr>
          <p:cNvPr id="8" name="TextBox 7"/>
          <p:cNvSpPr txBox="1"/>
          <p:nvPr/>
        </p:nvSpPr>
        <p:spPr>
          <a:xfrm>
            <a:off x="640080" y="2331720"/>
            <a:ext cx="5166360" cy="4023360"/>
          </a:xfrm>
          <a:prstGeom prst="rect">
            <a:avLst/>
          </a:prstGeom>
          <a:noFill/>
        </p:spPr>
        <p:txBody>
          <a:bodyPr wrap="square">
            <a:spAutoFit/>
          </a:bodyPr>
          <a:lstStyle/>
          <a:p>
            <a:pPr>
              <a:spcAft>
                <a:spcPts val="800"/>
              </a:spcAft>
            </a:pPr>
            <a:r>
              <a:rPr sz="1550" b="0" i="0">
                <a:solidFill>
                  <a:srgbClr val="252B33"/>
                </a:solidFill>
                <a:latin typeface="Calibri"/>
              </a:rPr>
              <a:t>•  Vulnerability-gated spread = multitype bond percolation (known).</a:t>
            </a:r>
          </a:p>
          <a:p>
            <a:pPr>
              <a:spcAft>
                <a:spcPts val="800"/>
              </a:spcAft>
            </a:pPr>
            <a:r>
              <a:rPr sz="1550" b="0" i="0">
                <a:solidFill>
                  <a:srgbClr val="252B33"/>
                </a:solidFill>
                <a:latin typeface="Calibri"/>
              </a:rPr>
              <a:t>•  Structure-only immunization baselines (degree, betweenness, …) are classical.</a:t>
            </a:r>
          </a:p>
          <a:p>
            <a:pPr>
              <a:spcAft>
                <a:spcPts val="800"/>
              </a:spcAft>
            </a:pPr>
            <a:r>
              <a:rPr sz="1550" b="0" i="0">
                <a:solidFill>
                  <a:srgbClr val="252B33"/>
                </a:solidFill>
                <a:latin typeface="Calibri"/>
              </a:rPr>
              <a:t>•  POMDP defense, active hypothesis testing, LLM-as-prior — all established.</a:t>
            </a:r>
          </a:p>
          <a:p>
            <a:pPr>
              <a:spcAft>
                <a:spcPts val="800"/>
              </a:spcAft>
            </a:pPr>
            <a:r>
              <a:rPr sz="1550" b="0" i="0">
                <a:solidFill>
                  <a:srgbClr val="252B33"/>
                </a:solidFill>
                <a:latin typeface="Calibri"/>
              </a:rPr>
              <a:t>•  The identifiability condition, once framed, is 1960s group-testing combinatorics.</a:t>
            </a:r>
          </a:p>
        </p:txBody>
      </p:sp>
      <p:sp>
        <p:nvSpPr>
          <p:cNvPr id="9" name="Rectangle 8"/>
          <p:cNvSpPr/>
          <p:nvPr/>
        </p:nvSpPr>
        <p:spPr>
          <a:xfrm>
            <a:off x="6355080" y="1691640"/>
            <a:ext cx="5166360" cy="502920"/>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691640"/>
            <a:ext cx="5166360" cy="502920"/>
          </a:xfrm>
          <a:prstGeom prst="rect">
            <a:avLst/>
          </a:prstGeom>
          <a:noFill/>
        </p:spPr>
        <p:txBody>
          <a:bodyPr wrap="square" anchor="ctr">
            <a:spAutoFit/>
          </a:bodyPr>
          <a:lstStyle/>
          <a:p>
            <a:pPr algn="ctr"/>
            <a:r>
              <a:rPr sz="1600" b="1" i="0">
                <a:solidFill>
                  <a:srgbClr val="FFFFFF"/>
                </a:solidFill>
                <a:latin typeface="Calibri"/>
              </a:rPr>
              <a:t>Our defensible contribution</a:t>
            </a:r>
          </a:p>
        </p:txBody>
      </p:sp>
      <p:sp>
        <p:nvSpPr>
          <p:cNvPr id="11" name="TextBox 10"/>
          <p:cNvSpPr txBox="1"/>
          <p:nvPr/>
        </p:nvSpPr>
        <p:spPr>
          <a:xfrm>
            <a:off x="6355080" y="2331720"/>
            <a:ext cx="5166360" cy="4023360"/>
          </a:xfrm>
          <a:prstGeom prst="rect">
            <a:avLst/>
          </a:prstGeom>
          <a:noFill/>
        </p:spPr>
        <p:txBody>
          <a:bodyPr wrap="square">
            <a:spAutoFit/>
          </a:bodyPr>
          <a:lstStyle/>
          <a:p>
            <a:pPr>
              <a:spcAft>
                <a:spcPts val="800"/>
              </a:spcAft>
            </a:pPr>
            <a:r>
              <a:rPr sz="1550" b="0" i="0">
                <a:solidFill>
                  <a:srgbClr val="252B33"/>
                </a:solidFill>
                <a:latin typeface="Calibri"/>
              </a:rPr>
              <a:t>•  The COUPLING no prior work occupies: online inference of the unobserved exploit from a vulnerability-gated cascade,</a:t>
            </a:r>
          </a:p>
          <a:p>
            <a:pPr>
              <a:spcAft>
                <a:spcPts val="800"/>
              </a:spcAft>
            </a:pPr>
            <a:r>
              <a:rPr sz="1550" b="0" i="0">
                <a:solidFill>
                  <a:srgbClr val="252B33"/>
                </a:solidFill>
                <a:latin typeface="Calibri"/>
              </a:rPr>
              <a:t>•  with a checkable identifiability condition on OBSERVABLE host attributes,</a:t>
            </a:r>
          </a:p>
          <a:p>
            <a:pPr>
              <a:spcAft>
                <a:spcPts val="800"/>
              </a:spcAft>
            </a:pPr>
            <a:r>
              <a:rPr sz="1550" b="0" i="0">
                <a:solidFill>
                  <a:srgbClr val="252B33"/>
                </a:solidFill>
                <a:latin typeface="Calibri"/>
              </a:rPr>
              <a:t>•  driving budgeted, content-aware containment,</a:t>
            </a:r>
          </a:p>
          <a:p>
            <a:pPr>
              <a:spcAft>
                <a:spcPts val="800"/>
              </a:spcAft>
            </a:pPr>
            <a:r>
              <a:rPr sz="1550" b="0" i="0">
                <a:solidFill>
                  <a:srgbClr val="252B33"/>
                </a:solidFill>
                <a:latin typeface="Calibri"/>
              </a:rPr>
              <a:t>•  evaluated on REAL NVD/CVE data. (The cell CyGym 2025 leaves open.)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OVERVIEW</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four contributions (we lead with the finding)</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9</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We foreground the empirical result and treat the inference and theory as its enablers.</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600" b="0" i="0">
                <a:solidFill>
                  <a:srgbClr val="252B33"/>
                </a:solidFill>
                <a:latin typeface="Calibri"/>
              </a:rPr>
              <a:t>•  C1 — Content-aware containment: on a REAL organisational topology, it substantially beats every structure-only baseline (−28.4%, p=1.7×10⁻⁷).</a:t>
            </a:r>
          </a:p>
          <a:p>
            <a:pPr>
              <a:spcAft>
                <a:spcPts val="800"/>
              </a:spcAft>
            </a:pPr>
            <a:r>
              <a:rPr sz="1600" b="0" i="0">
                <a:solidFill>
                  <a:srgbClr val="252B33"/>
                </a:solidFill>
                <a:latin typeface="Calibri"/>
              </a:rPr>
              <a:t>•  C2 — An identifiability CHARACTERIZATION: identifiable iff infected profiles intersect in a singleton; plus a measured group-testing sample-complexity rate.</a:t>
            </a:r>
          </a:p>
          <a:p>
            <a:pPr>
              <a:spcAft>
                <a:spcPts val="800"/>
              </a:spcAft>
            </a:pPr>
            <a:r>
              <a:rPr sz="1600" b="0" i="0">
                <a:solidFill>
                  <a:srgbClr val="252B33"/>
                </a:solidFill>
                <a:latin typeface="Calibri"/>
              </a:rPr>
              <a:t>•  C3 — A REAL-DATA evaluation (NVD/CVE) with paired statistics and an honest account of where content-awareness does and does not help.</a:t>
            </a:r>
          </a:p>
          <a:p>
            <a:pPr>
              <a:spcAft>
                <a:spcPts val="800"/>
              </a:spcAft>
            </a:pPr>
            <a:r>
              <a:rPr sz="1600" b="0" i="0">
                <a:solidFill>
                  <a:srgbClr val="5A636E"/>
                </a:solidFill>
                <a:latin typeface="Calibri"/>
              </a:rPr>
              <a:t>•  Robustness note — attacking the inference backfires; poisoning is absorbed (this is graceful degradation, not a superiority claim).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3</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Problem Formulation</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The containment POMDP, precisely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METHOD</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SERUM POMDP — the pieces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10</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A partially-observed control problem whose hidden state is the attacker’s exploit.</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Hosts &amp; profiles: graph G=(V,E); each host v carries X(v) ⊆ C, the set of CVEs it is exploitable by. CVE prevalence is heavy-tailed (a few common, many rare).</a:t>
            </a:r>
          </a:p>
          <a:p>
            <a:pPr>
              <a:spcAft>
                <a:spcPts val="800"/>
              </a:spcAft>
            </a:pPr>
            <a:r>
              <a:rPr sz="1700" b="0" i="0">
                <a:solidFill>
                  <a:srgbClr val="252B33"/>
                </a:solidFill>
                <a:latin typeface="Calibri"/>
              </a:rPr>
              <a:t>•  Hidden state: the worm’s target c* ∈ C, drawn by the attacker. The defender never sees it.</a:t>
            </a:r>
          </a:p>
          <a:p>
            <a:pPr>
              <a:spcAft>
                <a:spcPts val="800"/>
              </a:spcAft>
            </a:pPr>
            <a:r>
              <a:rPr sz="1700" b="0" i="0">
                <a:solidFill>
                  <a:srgbClr val="252B33"/>
                </a:solidFill>
                <a:latin typeface="Calibri"/>
              </a:rPr>
              <a:t>•  Vulnerable subgraph: carriers(c*) and the links among them — the graph the worm can use.</a:t>
            </a:r>
          </a:p>
          <a:p>
            <a:pPr>
              <a:spcAft>
                <a:spcPts val="800"/>
              </a:spcAft>
            </a:pPr>
            <a:r>
              <a:rPr sz="1700" b="0" i="0">
                <a:solidFill>
                  <a:srgbClr val="252B33"/>
                </a:solidFill>
                <a:latin typeface="Calibri"/>
              </a:rPr>
              <a:t>•  Observation each step: the infected set (not c*) + the static inventory X.</a:t>
            </a:r>
          </a:p>
          <a:p>
            <a:pPr>
              <a:spcAft>
                <a:spcPts val="800"/>
              </a:spcAft>
            </a:pPr>
            <a:r>
              <a:rPr sz="1700" b="0" i="0">
                <a:solidFill>
                  <a:srgbClr val="252B33"/>
                </a:solidFill>
                <a:latin typeface="Calibri"/>
              </a:rPr>
              <a:t>•  Actions (budget B/step): PATCH (immunize, keeps host online), ISOLATE (remove host, costs availability), SEGMENT (cut a link).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WORKED EXAMPLE</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How a single spread step works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11</a:t>
            </a:r>
          </a:p>
        </p:txBody>
      </p:sp>
      <p:sp>
        <p:nvSpPr>
          <p:cNvPr id="6" name="TextBox 5"/>
          <p:cNvSpPr txBox="1"/>
          <p:nvPr/>
        </p:nvSpPr>
        <p:spPr>
          <a:xfrm>
            <a:off x="640080" y="1645920"/>
            <a:ext cx="10881360" cy="731520"/>
          </a:xfrm>
          <a:prstGeom prst="rect">
            <a:avLst/>
          </a:prstGeom>
          <a:noFill/>
        </p:spPr>
        <p:txBody>
          <a:bodyPr wrap="square" anchor="t">
            <a:spAutoFit/>
          </a:bodyPr>
          <a:lstStyle/>
          <a:p>
            <a:pPr algn="l"/>
            <a:r>
              <a:rPr sz="1800" b="0" i="0">
                <a:solidFill>
                  <a:srgbClr val="252B33"/>
                </a:solidFill>
                <a:latin typeface="Calibri"/>
              </a:rPr>
              <a:t>Infected u tries to infect susceptible neighbour w. Whether it succeeds is GATED:</a:t>
            </a:r>
          </a:p>
        </p:txBody>
      </p:sp>
      <p:sp>
        <p:nvSpPr>
          <p:cNvPr id="7" name="Rectangle 6"/>
          <p:cNvSpPr/>
          <p:nvPr/>
        </p:nvSpPr>
        <p:spPr>
          <a:xfrm>
            <a:off x="640080" y="2468880"/>
            <a:ext cx="822960" cy="658368"/>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468880"/>
            <a:ext cx="822960" cy="658368"/>
          </a:xfrm>
          <a:prstGeom prst="rect">
            <a:avLst/>
          </a:prstGeom>
          <a:noFill/>
        </p:spPr>
        <p:txBody>
          <a:bodyPr wrap="square" anchor="ctr">
            <a:spAutoFit/>
          </a:bodyPr>
          <a:lstStyle/>
          <a:p>
            <a:pPr algn="ctr"/>
            <a:r>
              <a:rPr sz="1500" b="1" i="0">
                <a:solidFill>
                  <a:srgbClr val="FFFFFF"/>
                </a:solidFill>
                <a:latin typeface="Calibri"/>
              </a:rPr>
              <a:t>CHECK</a:t>
            </a:r>
          </a:p>
        </p:txBody>
      </p:sp>
      <p:sp>
        <p:nvSpPr>
          <p:cNvPr id="9" name="Rectangle 8"/>
          <p:cNvSpPr/>
          <p:nvPr/>
        </p:nvSpPr>
        <p:spPr>
          <a:xfrm>
            <a:off x="1554480" y="2468880"/>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37360" y="2468880"/>
            <a:ext cx="9692640" cy="658368"/>
          </a:xfrm>
          <a:prstGeom prst="rect">
            <a:avLst/>
          </a:prstGeom>
          <a:noFill/>
        </p:spPr>
        <p:txBody>
          <a:bodyPr wrap="square" anchor="ctr">
            <a:spAutoFit/>
          </a:bodyPr>
          <a:lstStyle/>
          <a:p>
            <a:pPr algn="l"/>
            <a:r>
              <a:rPr sz="1550" b="0" i="0">
                <a:solidFill>
                  <a:srgbClr val="252B33"/>
                </a:solidFill>
                <a:latin typeface="Calibri"/>
              </a:rPr>
              <a:t>Does w carry the target CVE c*?  (Is w red-socks?)</a:t>
            </a:r>
          </a:p>
        </p:txBody>
      </p:sp>
      <p:sp>
        <p:nvSpPr>
          <p:cNvPr id="11" name="Rectangle 10"/>
          <p:cNvSpPr/>
          <p:nvPr/>
        </p:nvSpPr>
        <p:spPr>
          <a:xfrm>
            <a:off x="640080" y="3310128"/>
            <a:ext cx="822960" cy="658368"/>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0128"/>
            <a:ext cx="822960" cy="658368"/>
          </a:xfrm>
          <a:prstGeom prst="rect">
            <a:avLst/>
          </a:prstGeom>
          <a:noFill/>
        </p:spPr>
        <p:txBody>
          <a:bodyPr wrap="square" anchor="ctr">
            <a:spAutoFit/>
          </a:bodyPr>
          <a:lstStyle/>
          <a:p>
            <a:pPr algn="ctr"/>
            <a:r>
              <a:rPr sz="1500" b="1" i="0">
                <a:solidFill>
                  <a:srgbClr val="FFFFFF"/>
                </a:solidFill>
                <a:latin typeface="Calibri"/>
              </a:rPr>
              <a:t>NO</a:t>
            </a:r>
          </a:p>
        </p:txBody>
      </p:sp>
      <p:sp>
        <p:nvSpPr>
          <p:cNvPr id="13" name="Rectangle 12"/>
          <p:cNvSpPr/>
          <p:nvPr/>
        </p:nvSpPr>
        <p:spPr>
          <a:xfrm>
            <a:off x="1554480" y="3310128"/>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3310128"/>
            <a:ext cx="9692640" cy="658368"/>
          </a:xfrm>
          <a:prstGeom prst="rect">
            <a:avLst/>
          </a:prstGeom>
          <a:noFill/>
        </p:spPr>
        <p:txBody>
          <a:bodyPr wrap="square" anchor="ctr">
            <a:spAutoFit/>
          </a:bodyPr>
          <a:lstStyle/>
          <a:p>
            <a:pPr algn="l"/>
            <a:r>
              <a:rPr sz="1550" b="0" i="0">
                <a:solidFill>
                  <a:srgbClr val="252B33"/>
                </a:solidFill>
                <a:latin typeface="Calibri"/>
              </a:rPr>
              <a:t>w is immune to this worm. Nothing happens — ever.</a:t>
            </a:r>
          </a:p>
        </p:txBody>
      </p:sp>
      <p:sp>
        <p:nvSpPr>
          <p:cNvPr id="15" name="Rectangle 14"/>
          <p:cNvSpPr/>
          <p:nvPr/>
        </p:nvSpPr>
        <p:spPr>
          <a:xfrm>
            <a:off x="640080" y="4151376"/>
            <a:ext cx="822960" cy="65836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51376"/>
            <a:ext cx="822960" cy="658368"/>
          </a:xfrm>
          <a:prstGeom prst="rect">
            <a:avLst/>
          </a:prstGeom>
          <a:noFill/>
        </p:spPr>
        <p:txBody>
          <a:bodyPr wrap="square" anchor="ctr">
            <a:spAutoFit/>
          </a:bodyPr>
          <a:lstStyle/>
          <a:p>
            <a:pPr algn="ctr"/>
            <a:r>
              <a:rPr sz="1500" b="1" i="0">
                <a:solidFill>
                  <a:srgbClr val="FFFFFF"/>
                </a:solidFill>
                <a:latin typeface="Calibri"/>
              </a:rPr>
              <a:t>YES</a:t>
            </a:r>
          </a:p>
        </p:txBody>
      </p:sp>
      <p:sp>
        <p:nvSpPr>
          <p:cNvPr id="17" name="Rectangle 16"/>
          <p:cNvSpPr/>
          <p:nvPr/>
        </p:nvSpPr>
        <p:spPr>
          <a:xfrm>
            <a:off x="1554480" y="4151376"/>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37360" y="4151376"/>
            <a:ext cx="9692640" cy="658368"/>
          </a:xfrm>
          <a:prstGeom prst="rect">
            <a:avLst/>
          </a:prstGeom>
          <a:noFill/>
        </p:spPr>
        <p:txBody>
          <a:bodyPr wrap="square" anchor="ctr">
            <a:spAutoFit/>
          </a:bodyPr>
          <a:lstStyle/>
          <a:p>
            <a:pPr algn="l"/>
            <a:r>
              <a:rPr sz="1550" b="0" i="0">
                <a:solidFill>
                  <a:srgbClr val="252B33"/>
                </a:solidFill>
                <a:latin typeface="Calibri"/>
              </a:rPr>
              <a:t>w gets infected with probability β (transmissibility).</a:t>
            </a:r>
          </a:p>
        </p:txBody>
      </p:sp>
      <p:sp>
        <p:nvSpPr>
          <p:cNvPr id="19" name="TextBox 18"/>
          <p:cNvSpPr txBox="1"/>
          <p:nvPr/>
        </p:nvSpPr>
        <p:spPr>
          <a:xfrm>
            <a:off x="640080" y="5084064"/>
            <a:ext cx="10881360" cy="822960"/>
          </a:xfrm>
          <a:prstGeom prst="rect">
            <a:avLst/>
          </a:prstGeom>
          <a:noFill/>
        </p:spPr>
        <p:txBody>
          <a:bodyPr wrap="square" anchor="t">
            <a:spAutoFit/>
          </a:bodyPr>
          <a:lstStyle/>
          <a:p>
            <a:pPr algn="l"/>
            <a:r>
              <a:rPr sz="1800" b="1" i="0">
                <a:solidFill>
                  <a:srgbClr val="1B7F4B"/>
                </a:solidFill>
                <a:latin typeface="Calibri"/>
              </a:rPr>
              <a:t>Repeat over all infected→susceptible edges each step → the outbreak grows within the red subgraph.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METHOD</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objective — three things at once</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12</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Containment is multi-objective; a good defender balances them, not just infection count.</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Minimize final/peak INFECTION (how much of the fleet falls).</a:t>
            </a:r>
          </a:p>
          <a:p>
            <a:pPr>
              <a:spcAft>
                <a:spcPts val="800"/>
              </a:spcAft>
            </a:pPr>
            <a:r>
              <a:rPr sz="1700" b="0" i="0">
                <a:solidFill>
                  <a:srgbClr val="252B33"/>
                </a:solidFill>
                <a:latin typeface="Calibri"/>
              </a:rPr>
              <a:t>•  Minimize AVAILABILITY loss (isolating machines takes them offline — collateral damage).</a:t>
            </a:r>
          </a:p>
          <a:p>
            <a:pPr>
              <a:spcAft>
                <a:spcPts val="800"/>
              </a:spcAft>
            </a:pPr>
            <a:r>
              <a:rPr sz="1700" b="0" i="0">
                <a:solidFill>
                  <a:srgbClr val="252B33"/>
                </a:solidFill>
                <a:latin typeface="Calibri"/>
              </a:rPr>
              <a:t>•  Minimize TIME-TO-CONTAINMENT (stop the outbreak fast).</a:t>
            </a:r>
          </a:p>
          <a:p>
            <a:pPr>
              <a:spcAft>
                <a:spcPts val="800"/>
              </a:spcAft>
            </a:pPr>
            <a:r>
              <a:rPr sz="1700" b="0" i="0">
                <a:solidFill>
                  <a:srgbClr val="2E6FB0"/>
                </a:solidFill>
                <a:latin typeface="Calibri"/>
              </a:rPr>
              <a:t>•  This is why PATCH vs ISOLATE matters: patching immunizes without downtime, but you only dare patch precisely once you’re confident which machines are truly at risk.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4</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Theory — Identifiability</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When can you actually figure out the exploit?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THEORY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question the theory answers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13</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Given only who’s infected, when is the hidden exploit uniquely recoverable?</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If you can pin the exact CVE, you can defend its subgraph exactly.</a:t>
            </a:r>
          </a:p>
          <a:p>
            <a:pPr>
              <a:spcAft>
                <a:spcPts val="800"/>
              </a:spcAft>
            </a:pPr>
            <a:r>
              <a:rPr sz="1700" b="0" i="0">
                <a:solidFill>
                  <a:srgbClr val="252B33"/>
                </a:solidFill>
                <a:latin typeface="Calibri"/>
              </a:rPr>
              <a:t>•  If two CVEs are indistinguishable from the infections seen, you must hedge across both.</a:t>
            </a:r>
          </a:p>
          <a:p>
            <a:pPr>
              <a:spcAft>
                <a:spcPts val="800"/>
              </a:spcAft>
            </a:pPr>
            <a:r>
              <a:rPr sz="1700" b="0" i="0">
                <a:solidFill>
                  <a:srgbClr val="252B33"/>
                </a:solidFill>
                <a:latin typeface="Calibri"/>
              </a:rPr>
              <a:t>•  We want a CHECKABLE condition — one a defender can evaluate in advance from its inventory, before any outbreak.</a:t>
            </a:r>
          </a:p>
          <a:p>
            <a:pPr>
              <a:spcAft>
                <a:spcPts val="800"/>
              </a:spcAft>
            </a:pPr>
            <a:r>
              <a:rPr sz="1700" b="0" i="0">
                <a:solidFill>
                  <a:srgbClr val="1F355E"/>
                </a:solidFill>
                <a:latin typeface="Calibri"/>
              </a:rPr>
              <a:t>•  It turns out to be a simple set-containment condition on observable attributes.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WORKED EXAMPLE</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Worked example: narrowing to the exploit</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14</a:t>
            </a:r>
          </a:p>
        </p:txBody>
      </p:sp>
      <p:sp>
        <p:nvSpPr>
          <p:cNvPr id="6" name="TextBox 5"/>
          <p:cNvSpPr txBox="1"/>
          <p:nvPr/>
        </p:nvSpPr>
        <p:spPr>
          <a:xfrm>
            <a:off x="640080" y="1645920"/>
            <a:ext cx="10881360" cy="731520"/>
          </a:xfrm>
          <a:prstGeom prst="rect">
            <a:avLst/>
          </a:prstGeom>
          <a:noFill/>
        </p:spPr>
        <p:txBody>
          <a:bodyPr wrap="square" anchor="t">
            <a:spAutoFit/>
          </a:bodyPr>
          <a:lstStyle/>
          <a:p>
            <a:pPr algn="l"/>
            <a:r>
              <a:rPr sz="1800" b="0" i="0">
                <a:solidFill>
                  <a:srgbClr val="252B33"/>
                </a:solidFill>
                <a:latin typeface="Calibri"/>
              </a:rPr>
              <a:t>Watch the candidate set shrink as machines fall. supp = intersection of infected profiles.</a:t>
            </a:r>
          </a:p>
        </p:txBody>
      </p:sp>
      <p:sp>
        <p:nvSpPr>
          <p:cNvPr id="7" name="Rectangle 6"/>
          <p:cNvSpPr/>
          <p:nvPr/>
        </p:nvSpPr>
        <p:spPr>
          <a:xfrm>
            <a:off x="640080" y="2468880"/>
            <a:ext cx="822960" cy="658368"/>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468880"/>
            <a:ext cx="822960" cy="658368"/>
          </a:xfrm>
          <a:prstGeom prst="rect">
            <a:avLst/>
          </a:prstGeom>
          <a:noFill/>
        </p:spPr>
        <p:txBody>
          <a:bodyPr wrap="square" anchor="ctr">
            <a:spAutoFit/>
          </a:bodyPr>
          <a:lstStyle/>
          <a:p>
            <a:pPr algn="ctr"/>
            <a:r>
              <a:rPr sz="1500" b="1" i="0">
                <a:solidFill>
                  <a:srgbClr val="FFFFFF"/>
                </a:solidFill>
                <a:latin typeface="Calibri"/>
              </a:rPr>
              <a:t>Host A</a:t>
            </a:r>
          </a:p>
        </p:txBody>
      </p:sp>
      <p:sp>
        <p:nvSpPr>
          <p:cNvPr id="9" name="Rectangle 8"/>
          <p:cNvSpPr/>
          <p:nvPr/>
        </p:nvSpPr>
        <p:spPr>
          <a:xfrm>
            <a:off x="1554480" y="2468880"/>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37360" y="2468880"/>
            <a:ext cx="9692640" cy="658368"/>
          </a:xfrm>
          <a:prstGeom prst="rect">
            <a:avLst/>
          </a:prstGeom>
          <a:noFill/>
        </p:spPr>
        <p:txBody>
          <a:bodyPr wrap="square" anchor="ctr">
            <a:spAutoFit/>
          </a:bodyPr>
          <a:lstStyle/>
          <a:p>
            <a:pPr algn="l"/>
            <a:r>
              <a:rPr sz="1550" b="0" i="0">
                <a:solidFill>
                  <a:srgbClr val="252B33"/>
                </a:solidFill>
                <a:latin typeface="Calibri"/>
              </a:rPr>
              <a:t>infected. Runs {CVE-1, CVE-2, CVE-5}.  Candidates = {1,2,5}.</a:t>
            </a:r>
          </a:p>
        </p:txBody>
      </p:sp>
      <p:sp>
        <p:nvSpPr>
          <p:cNvPr id="11" name="Rectangle 10"/>
          <p:cNvSpPr/>
          <p:nvPr/>
        </p:nvSpPr>
        <p:spPr>
          <a:xfrm>
            <a:off x="640080" y="3310128"/>
            <a:ext cx="822960" cy="658368"/>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0128"/>
            <a:ext cx="822960" cy="658368"/>
          </a:xfrm>
          <a:prstGeom prst="rect">
            <a:avLst/>
          </a:prstGeom>
          <a:noFill/>
        </p:spPr>
        <p:txBody>
          <a:bodyPr wrap="square" anchor="ctr">
            <a:spAutoFit/>
          </a:bodyPr>
          <a:lstStyle/>
          <a:p>
            <a:pPr algn="ctr"/>
            <a:r>
              <a:rPr sz="1500" b="1" i="0">
                <a:solidFill>
                  <a:srgbClr val="FFFFFF"/>
                </a:solidFill>
                <a:latin typeface="Calibri"/>
              </a:rPr>
              <a:t>Host B</a:t>
            </a:r>
          </a:p>
        </p:txBody>
      </p:sp>
      <p:sp>
        <p:nvSpPr>
          <p:cNvPr id="13" name="Rectangle 12"/>
          <p:cNvSpPr/>
          <p:nvPr/>
        </p:nvSpPr>
        <p:spPr>
          <a:xfrm>
            <a:off x="1554480" y="3310128"/>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3310128"/>
            <a:ext cx="9692640" cy="658368"/>
          </a:xfrm>
          <a:prstGeom prst="rect">
            <a:avLst/>
          </a:prstGeom>
          <a:noFill/>
        </p:spPr>
        <p:txBody>
          <a:bodyPr wrap="square" anchor="ctr">
            <a:spAutoFit/>
          </a:bodyPr>
          <a:lstStyle/>
          <a:p>
            <a:pPr algn="l"/>
            <a:r>
              <a:rPr sz="1550" b="0" i="0">
                <a:solidFill>
                  <a:srgbClr val="252B33"/>
                </a:solidFill>
                <a:latin typeface="Calibri"/>
              </a:rPr>
              <a:t>infected. Runs {CVE-2, CVE-5, CVE-9}.  Candidates = {1,2,5}∩{2,5,9} = {2,5}.</a:t>
            </a:r>
          </a:p>
        </p:txBody>
      </p:sp>
      <p:sp>
        <p:nvSpPr>
          <p:cNvPr id="15" name="Rectangle 14"/>
          <p:cNvSpPr/>
          <p:nvPr/>
        </p:nvSpPr>
        <p:spPr>
          <a:xfrm>
            <a:off x="640080" y="4151376"/>
            <a:ext cx="822960" cy="65836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51376"/>
            <a:ext cx="822960" cy="658368"/>
          </a:xfrm>
          <a:prstGeom prst="rect">
            <a:avLst/>
          </a:prstGeom>
          <a:noFill/>
        </p:spPr>
        <p:txBody>
          <a:bodyPr wrap="square" anchor="ctr">
            <a:spAutoFit/>
          </a:bodyPr>
          <a:lstStyle/>
          <a:p>
            <a:pPr algn="ctr"/>
            <a:r>
              <a:rPr sz="1500" b="1" i="0">
                <a:solidFill>
                  <a:srgbClr val="FFFFFF"/>
                </a:solidFill>
                <a:latin typeface="Calibri"/>
              </a:rPr>
              <a:t>Host C</a:t>
            </a:r>
          </a:p>
        </p:txBody>
      </p:sp>
      <p:sp>
        <p:nvSpPr>
          <p:cNvPr id="17" name="Rectangle 16"/>
          <p:cNvSpPr/>
          <p:nvPr/>
        </p:nvSpPr>
        <p:spPr>
          <a:xfrm>
            <a:off x="1554480" y="4151376"/>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37360" y="4151376"/>
            <a:ext cx="9692640" cy="658368"/>
          </a:xfrm>
          <a:prstGeom prst="rect">
            <a:avLst/>
          </a:prstGeom>
          <a:noFill/>
        </p:spPr>
        <p:txBody>
          <a:bodyPr wrap="square" anchor="ctr">
            <a:spAutoFit/>
          </a:bodyPr>
          <a:lstStyle/>
          <a:p>
            <a:pPr algn="l"/>
            <a:r>
              <a:rPr sz="1550" b="0" i="0">
                <a:solidFill>
                  <a:srgbClr val="252B33"/>
                </a:solidFill>
                <a:latin typeface="Calibri"/>
              </a:rPr>
              <a:t>infected. Runs {CVE-5, CVE-7}.  Candidates = {2,5}∩{5,7} = {5}.</a:t>
            </a:r>
          </a:p>
        </p:txBody>
      </p:sp>
      <p:sp>
        <p:nvSpPr>
          <p:cNvPr id="19" name="TextBox 18"/>
          <p:cNvSpPr txBox="1"/>
          <p:nvPr/>
        </p:nvSpPr>
        <p:spPr>
          <a:xfrm>
            <a:off x="640080" y="5084064"/>
            <a:ext cx="10881360" cy="822960"/>
          </a:xfrm>
          <a:prstGeom prst="rect">
            <a:avLst/>
          </a:prstGeom>
          <a:noFill/>
        </p:spPr>
        <p:txBody>
          <a:bodyPr wrap="square" anchor="t">
            <a:spAutoFit/>
          </a:bodyPr>
          <a:lstStyle/>
          <a:p>
            <a:pPr algn="l"/>
            <a:r>
              <a:rPr sz="1800" b="1" i="0">
                <a:solidFill>
                  <a:srgbClr val="1B7F4B"/>
                </a:solidFill>
                <a:latin typeface="Calibri"/>
              </a:rPr>
              <a:t>Intersection collapsed to a single CVE → the exploit is identified: it must be CVE-5.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THEORY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identifiability theorem</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15</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c* is identifiable from a saturating outbreak over region R  ⟺  ∩(profiles in R) = {c*}.</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‘Saturating’ = the outbreak has infected everything it can reach in the vulnerable subgraph.</a:t>
            </a:r>
          </a:p>
          <a:p>
            <a:pPr>
              <a:spcAft>
                <a:spcPts val="800"/>
              </a:spcAft>
            </a:pPr>
            <a:r>
              <a:rPr sz="1700" b="0" i="0">
                <a:solidFill>
                  <a:srgbClr val="252B33"/>
                </a:solidFill>
                <a:latin typeface="Calibri"/>
              </a:rPr>
              <a:t>•  If the intersection is a single CVE, you know the attack exactly.</a:t>
            </a:r>
          </a:p>
          <a:p>
            <a:pPr>
              <a:spcAft>
                <a:spcPts val="800"/>
              </a:spcAft>
            </a:pPr>
            <a:r>
              <a:rPr sz="1700" b="0" i="0">
                <a:solidFill>
                  <a:srgbClr val="252B33"/>
                </a:solidFill>
                <a:latin typeface="Calibri"/>
              </a:rPr>
              <a:t>•  If it’s two or more, those CVEs are ‘confusable’ — no amount of watching this outbreak separates them.</a:t>
            </a:r>
          </a:p>
          <a:p>
            <a:pPr>
              <a:spcAft>
                <a:spcPts val="800"/>
              </a:spcAft>
            </a:pPr>
            <a:r>
              <a:rPr sz="1600" b="0" i="0">
                <a:solidFill>
                  <a:srgbClr val="B56A00"/>
                </a:solidFill>
                <a:latin typeface="Calibri"/>
              </a:rPr>
              <a:t>•  Honest caveat: the belief’s surviving support EQUALS this intersection by construction, so this is a CHARACTERIZATION of the observation model, not a deep theorem. The 100% ‘validation’ is a consistency check on the code, not an empirical prediction.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THEORY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Confusability = the subset order</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16</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One CVE hides behind another exactly when its victims are a subset of the other’s.</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If carriers(c) ⊆ carriers(c′), then every c-victim also carries c′ — so a c-outbreak can never rule c′ out. c′ is a confuser of c.</a:t>
            </a:r>
          </a:p>
          <a:p>
            <a:pPr>
              <a:spcAft>
                <a:spcPts val="800"/>
              </a:spcAft>
            </a:pPr>
            <a:r>
              <a:rPr sz="1700" b="0" i="0">
                <a:solidFill>
                  <a:srgbClr val="252B33"/>
                </a:solidFill>
                <a:latin typeface="Calibri"/>
              </a:rPr>
              <a:t>•  This gives a clean structure: order CVEs by carrier-set containment. A CVE is globally identifiable iff no other CVE’s carrier set is a superset of its own.</a:t>
            </a:r>
          </a:p>
          <a:p>
            <a:pPr>
              <a:spcAft>
                <a:spcPts val="800"/>
              </a:spcAft>
            </a:pPr>
            <a:r>
              <a:rPr sz="1600" b="0" i="0">
                <a:solidFill>
                  <a:srgbClr val="1B7F4B"/>
                </a:solidFill>
                <a:latin typeface="Calibri"/>
              </a:rPr>
              <a:t>•  Powerful consequence for DEFENSE: even if you can’t tell c from its confuser c′, defending c′’s (larger) subgraph OVER-COVERS the true victims — so you still protect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THEORY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It’s group testing — realized by contagion</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17</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The whole inference is an instance of online, graph-induced, adversarial group testing.</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Classic group testing: identify a defective item by pooling and testing subsets.</a:t>
            </a:r>
          </a:p>
          <a:p>
            <a:pPr>
              <a:spcAft>
                <a:spcPts val="800"/>
              </a:spcAft>
            </a:pPr>
            <a:r>
              <a:rPr sz="1700" b="0" i="0">
                <a:solidFill>
                  <a:srgbClr val="252B33"/>
                </a:solidFill>
                <a:latin typeface="Calibri"/>
              </a:rPr>
              <a:t>•  Here each infection is one ‘positive test’ whose profile-set is intersected into the running candidate set (Rényi separating systems; Kautz–Singleton cover-free families).</a:t>
            </a:r>
          </a:p>
          <a:p>
            <a:pPr>
              <a:spcAft>
                <a:spcPts val="800"/>
              </a:spcAft>
            </a:pPr>
            <a:r>
              <a:rPr sz="1700" b="0" i="0">
                <a:solidFill>
                  <a:srgbClr val="252B33"/>
                </a:solidFill>
                <a:latin typeface="Calibri"/>
              </a:rPr>
              <a:t>•  The twist that IS ours: the ‘tests’ aren’t designed — they’re the fleet’s given software profiles — and the outcomes are produced by an adversarial, graph-constrained spreading process, observed online as the outbreak grows.</a:t>
            </a:r>
          </a:p>
          <a:p>
            <a:pPr>
              <a:spcAft>
                <a:spcPts val="800"/>
              </a:spcAft>
            </a:pPr>
            <a:r>
              <a:rPr sz="1600" b="0" i="0">
                <a:solidFill>
                  <a:srgbClr val="2E6FB0"/>
                </a:solidFill>
                <a:latin typeface="Calibri"/>
              </a:rPr>
              <a:t>•  So the number of infections needed inherits the group-testing log₂K bit-bound.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THEORY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Confusability structure (real NVD networks)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18</a:t>
            </a:r>
          </a:p>
        </p:txBody>
      </p:sp>
      <p:pic>
        <p:nvPicPr>
          <p:cNvPr id="6" name="Picture 5" descr="confusability.png"/>
          <p:cNvPicPr>
            <a:picLocks noChangeAspect="1"/>
          </p:cNvPicPr>
          <p:nvPr/>
        </p:nvPicPr>
        <p:blipFill>
          <a:blip r:embed="rId2"/>
          <a:stretch>
            <a:fillRect/>
          </a:stretch>
        </p:blipFill>
        <p:spPr>
          <a:xfrm>
            <a:off x="883767" y="1645920"/>
            <a:ext cx="10424160" cy="3476475"/>
          </a:xfrm>
          <a:prstGeom prst="rect">
            <a:avLst/>
          </a:prstGeom>
        </p:spPr>
      </p:pic>
      <p:sp>
        <p:nvSpPr>
          <p:cNvPr id="7" name="Rectangle 6"/>
          <p:cNvSpPr/>
          <p:nvPr/>
        </p:nvSpPr>
        <p:spPr>
          <a:xfrm>
            <a:off x="640080" y="5532120"/>
            <a:ext cx="10881360" cy="105156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623560"/>
            <a:ext cx="10424160" cy="914400"/>
          </a:xfrm>
          <a:prstGeom prst="rect">
            <a:avLst/>
          </a:prstGeom>
          <a:noFill/>
        </p:spPr>
        <p:txBody>
          <a:bodyPr wrap="square" anchor="ctr">
            <a:spAutoFit/>
          </a:bodyPr>
          <a:lstStyle/>
          <a:p>
            <a:pPr algn="l"/>
            <a:r>
              <a:rPr sz="1450" b="0" i="0">
                <a:solidFill>
                  <a:srgbClr val="252B33"/>
                </a:solidFill>
                <a:latin typeface="Calibri"/>
              </a:rPr>
              <a:t>How to read it:  left: most CVEs have ZERO confusers (identifiable). middle: the identifiable fraction decays as the CVE universe K grows (more CVEs → more subset-order dominators). right: a drawn slice of the confusability graph.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THEORY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Sample complexity — how fast you identify the exploit</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19</a:t>
            </a:r>
          </a:p>
        </p:txBody>
      </p:sp>
      <p:pic>
        <p:nvPicPr>
          <p:cNvPr id="6" name="Picture 5" descr="sample_complexity.png"/>
          <p:cNvPicPr>
            <a:picLocks noChangeAspect="1"/>
          </p:cNvPicPr>
          <p:nvPr/>
        </p:nvPicPr>
        <p:blipFill>
          <a:blip r:embed="rId2"/>
          <a:stretch>
            <a:fillRect/>
          </a:stretch>
        </p:blipFill>
        <p:spPr>
          <a:xfrm>
            <a:off x="1638147" y="1645920"/>
            <a:ext cx="8915400" cy="3566160"/>
          </a:xfrm>
          <a:prstGeom prst="rect">
            <a:avLst/>
          </a:prstGeom>
        </p:spPr>
      </p:pic>
      <p:sp>
        <p:nvSpPr>
          <p:cNvPr id="7" name="Rectangle 6"/>
          <p:cNvSpPr/>
          <p:nvPr/>
        </p:nvSpPr>
        <p:spPr>
          <a:xfrm>
            <a:off x="640080" y="5532120"/>
            <a:ext cx="10881360" cy="105156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623560"/>
            <a:ext cx="10424160" cy="914400"/>
          </a:xfrm>
          <a:prstGeom prst="rect">
            <a:avLst/>
          </a:prstGeom>
          <a:noFill/>
        </p:spPr>
        <p:txBody>
          <a:bodyPr wrap="square" anchor="ctr">
            <a:spAutoFit/>
          </a:bodyPr>
          <a:lstStyle/>
          <a:p>
            <a:pPr algn="l"/>
            <a:r>
              <a:rPr sz="1450" b="0" i="0">
                <a:solidFill>
                  <a:srgbClr val="252B33"/>
                </a:solidFill>
                <a:latin typeface="Calibri"/>
              </a:rPr>
              <a:t>How to read it:  distribution of how many propagation infections it takes for the candidate set to collapse to one CVE. Median ≈ 5 infections ≈ 1.02·log₂K — essentially the information-theoretic group-testing minimum. Real profile correlation bends the rate TOWARD the optimum.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5</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The Method</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The belief, and the content-aware policy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WORKED EXAMPLE</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belief update, step by step</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20</a:t>
            </a:r>
          </a:p>
        </p:txBody>
      </p:sp>
      <p:sp>
        <p:nvSpPr>
          <p:cNvPr id="6" name="TextBox 5"/>
          <p:cNvSpPr txBox="1"/>
          <p:nvPr/>
        </p:nvSpPr>
        <p:spPr>
          <a:xfrm>
            <a:off x="640080" y="1645920"/>
            <a:ext cx="10881360" cy="731520"/>
          </a:xfrm>
          <a:prstGeom prst="rect">
            <a:avLst/>
          </a:prstGeom>
          <a:noFill/>
        </p:spPr>
        <p:txBody>
          <a:bodyPr wrap="square" anchor="t">
            <a:spAutoFit/>
          </a:bodyPr>
          <a:lstStyle/>
          <a:p>
            <a:pPr algn="l"/>
            <a:r>
              <a:rPr sz="1800" b="0" i="0">
                <a:solidFill>
                  <a:srgbClr val="252B33"/>
                </a:solidFill>
                <a:latin typeface="Calibri"/>
              </a:rPr>
              <a:t>The agent keeps a probability over which CVE is the attack, and sharpens it each step.</a:t>
            </a:r>
          </a:p>
        </p:txBody>
      </p:sp>
      <p:sp>
        <p:nvSpPr>
          <p:cNvPr id="7" name="Rectangle 6"/>
          <p:cNvSpPr/>
          <p:nvPr/>
        </p:nvSpPr>
        <p:spPr>
          <a:xfrm>
            <a:off x="640080" y="2468880"/>
            <a:ext cx="822960" cy="658368"/>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468880"/>
            <a:ext cx="822960" cy="658368"/>
          </a:xfrm>
          <a:prstGeom prst="rect">
            <a:avLst/>
          </a:prstGeom>
          <a:noFill/>
        </p:spPr>
        <p:txBody>
          <a:bodyPr wrap="square" anchor="ctr">
            <a:spAutoFit/>
          </a:bodyPr>
          <a:lstStyle/>
          <a:p>
            <a:pPr algn="ctr"/>
            <a:r>
              <a:rPr sz="1500" b="1" i="0">
                <a:solidFill>
                  <a:srgbClr val="FFFFFF"/>
                </a:solidFill>
                <a:latin typeface="Calibri"/>
              </a:rPr>
              <a:t>PRIOR</a:t>
            </a:r>
          </a:p>
        </p:txBody>
      </p:sp>
      <p:sp>
        <p:nvSpPr>
          <p:cNvPr id="9" name="Rectangle 8"/>
          <p:cNvSpPr/>
          <p:nvPr/>
        </p:nvSpPr>
        <p:spPr>
          <a:xfrm>
            <a:off x="1554480" y="2468880"/>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37360" y="2468880"/>
            <a:ext cx="9692640" cy="658368"/>
          </a:xfrm>
          <a:prstGeom prst="rect">
            <a:avLst/>
          </a:prstGeom>
          <a:noFill/>
        </p:spPr>
        <p:txBody>
          <a:bodyPr wrap="square" anchor="ctr">
            <a:spAutoFit/>
          </a:bodyPr>
          <a:lstStyle/>
          <a:p>
            <a:pPr algn="l"/>
            <a:r>
              <a:rPr sz="1550" b="0" i="0">
                <a:solidFill>
                  <a:srgbClr val="252B33"/>
                </a:solidFill>
                <a:latin typeface="Calibri"/>
              </a:rPr>
              <a:t>Start from CVE prevalence (or CVSS/LLM threat-intel for a cold start).</a:t>
            </a:r>
          </a:p>
        </p:txBody>
      </p:sp>
      <p:sp>
        <p:nvSpPr>
          <p:cNvPr id="11" name="Rectangle 10"/>
          <p:cNvSpPr/>
          <p:nvPr/>
        </p:nvSpPr>
        <p:spPr>
          <a:xfrm>
            <a:off x="640080" y="3310128"/>
            <a:ext cx="822960" cy="658368"/>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10128"/>
            <a:ext cx="822960" cy="658368"/>
          </a:xfrm>
          <a:prstGeom prst="rect">
            <a:avLst/>
          </a:prstGeom>
          <a:noFill/>
        </p:spPr>
        <p:txBody>
          <a:bodyPr wrap="square" anchor="ctr">
            <a:spAutoFit/>
          </a:bodyPr>
          <a:lstStyle/>
          <a:p>
            <a:pPr algn="ctr"/>
            <a:r>
              <a:rPr sz="1500" b="1" i="0">
                <a:solidFill>
                  <a:srgbClr val="FFFFFF"/>
                </a:solidFill>
                <a:latin typeface="Calibri"/>
              </a:rPr>
              <a:t>OBSERVE</a:t>
            </a:r>
          </a:p>
        </p:txBody>
      </p:sp>
      <p:sp>
        <p:nvSpPr>
          <p:cNvPr id="13" name="Rectangle 12"/>
          <p:cNvSpPr/>
          <p:nvPr/>
        </p:nvSpPr>
        <p:spPr>
          <a:xfrm>
            <a:off x="1554480" y="3310128"/>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3310128"/>
            <a:ext cx="9692640" cy="658368"/>
          </a:xfrm>
          <a:prstGeom prst="rect">
            <a:avLst/>
          </a:prstGeom>
          <a:noFill/>
        </p:spPr>
        <p:txBody>
          <a:bodyPr wrap="square" anchor="ctr">
            <a:spAutoFit/>
          </a:bodyPr>
          <a:lstStyle/>
          <a:p>
            <a:pPr algn="l"/>
            <a:r>
              <a:rPr sz="1550" b="0" i="0">
                <a:solidFill>
                  <a:srgbClr val="252B33"/>
                </a:solidFill>
                <a:latin typeface="Calibri"/>
              </a:rPr>
              <a:t>New infections arrive. Each one must carry the true CVE.</a:t>
            </a:r>
          </a:p>
        </p:txBody>
      </p:sp>
      <p:sp>
        <p:nvSpPr>
          <p:cNvPr id="15" name="Rectangle 14"/>
          <p:cNvSpPr/>
          <p:nvPr/>
        </p:nvSpPr>
        <p:spPr>
          <a:xfrm>
            <a:off x="640080" y="4151376"/>
            <a:ext cx="822960" cy="658368"/>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51376"/>
            <a:ext cx="822960" cy="658368"/>
          </a:xfrm>
          <a:prstGeom prst="rect">
            <a:avLst/>
          </a:prstGeom>
          <a:noFill/>
        </p:spPr>
        <p:txBody>
          <a:bodyPr wrap="square" anchor="ctr">
            <a:spAutoFit/>
          </a:bodyPr>
          <a:lstStyle/>
          <a:p>
            <a:pPr algn="ctr"/>
            <a:r>
              <a:rPr sz="1500" b="1" i="0">
                <a:solidFill>
                  <a:srgbClr val="FFFFFF"/>
                </a:solidFill>
                <a:latin typeface="Calibri"/>
              </a:rPr>
              <a:t>UPDATE</a:t>
            </a:r>
          </a:p>
        </p:txBody>
      </p:sp>
      <p:sp>
        <p:nvSpPr>
          <p:cNvPr id="17" name="Rectangle 16"/>
          <p:cNvSpPr/>
          <p:nvPr/>
        </p:nvSpPr>
        <p:spPr>
          <a:xfrm>
            <a:off x="1554480" y="4151376"/>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37360" y="4151376"/>
            <a:ext cx="9692640" cy="658368"/>
          </a:xfrm>
          <a:prstGeom prst="rect">
            <a:avLst/>
          </a:prstGeom>
          <a:noFill/>
        </p:spPr>
        <p:txBody>
          <a:bodyPr wrap="square" anchor="ctr">
            <a:spAutoFit/>
          </a:bodyPr>
          <a:lstStyle/>
          <a:p>
            <a:pPr algn="l"/>
            <a:r>
              <a:rPr sz="1550" b="0" i="0">
                <a:solidFill>
                  <a:srgbClr val="252B33"/>
                </a:solidFill>
                <a:latin typeface="Calibri"/>
              </a:rPr>
              <a:t>Down-weight (soft) or eliminate (hard) CVEs inconsistent with the new victims.</a:t>
            </a:r>
          </a:p>
        </p:txBody>
      </p:sp>
      <p:sp>
        <p:nvSpPr>
          <p:cNvPr id="19" name="Rectangle 18"/>
          <p:cNvSpPr/>
          <p:nvPr/>
        </p:nvSpPr>
        <p:spPr>
          <a:xfrm>
            <a:off x="640080" y="4992624"/>
            <a:ext cx="822960" cy="65836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992624"/>
            <a:ext cx="822960" cy="658368"/>
          </a:xfrm>
          <a:prstGeom prst="rect">
            <a:avLst/>
          </a:prstGeom>
          <a:noFill/>
        </p:spPr>
        <p:txBody>
          <a:bodyPr wrap="square" anchor="ctr">
            <a:spAutoFit/>
          </a:bodyPr>
          <a:lstStyle/>
          <a:p>
            <a:pPr algn="ctr"/>
            <a:r>
              <a:rPr sz="1500" b="1" i="0">
                <a:solidFill>
                  <a:srgbClr val="FFFFFF"/>
                </a:solidFill>
                <a:latin typeface="Calibri"/>
              </a:rPr>
              <a:t>ACT</a:t>
            </a:r>
          </a:p>
        </p:txBody>
      </p:sp>
      <p:sp>
        <p:nvSpPr>
          <p:cNvPr id="21" name="Rectangle 20"/>
          <p:cNvSpPr/>
          <p:nvPr/>
        </p:nvSpPr>
        <p:spPr>
          <a:xfrm>
            <a:off x="1554480" y="4992624"/>
            <a:ext cx="9966960" cy="65836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737360" y="4992624"/>
            <a:ext cx="9692640" cy="658368"/>
          </a:xfrm>
          <a:prstGeom prst="rect">
            <a:avLst/>
          </a:prstGeom>
          <a:noFill/>
        </p:spPr>
        <p:txBody>
          <a:bodyPr wrap="square" anchor="ctr">
            <a:spAutoFit/>
          </a:bodyPr>
          <a:lstStyle/>
          <a:p>
            <a:pPr algn="l"/>
            <a:r>
              <a:rPr sz="1550" b="0" i="0">
                <a:solidFill>
                  <a:srgbClr val="252B33"/>
                </a:solidFill>
                <a:latin typeface="Calibri"/>
              </a:rPr>
              <a:t>Take the expectation of the defense score over the current belief.</a:t>
            </a:r>
          </a:p>
        </p:txBody>
      </p:sp>
      <p:sp>
        <p:nvSpPr>
          <p:cNvPr id="23" name="TextBox 22"/>
          <p:cNvSpPr txBox="1"/>
          <p:nvPr/>
        </p:nvSpPr>
        <p:spPr>
          <a:xfrm>
            <a:off x="640080" y="5925312"/>
            <a:ext cx="10881360" cy="822960"/>
          </a:xfrm>
          <a:prstGeom prst="rect">
            <a:avLst/>
          </a:prstGeom>
          <a:noFill/>
        </p:spPr>
        <p:txBody>
          <a:bodyPr wrap="square" anchor="t">
            <a:spAutoFit/>
          </a:bodyPr>
          <a:lstStyle/>
          <a:p>
            <a:pPr algn="l"/>
            <a:r>
              <a:rPr sz="1800" b="1" i="0">
                <a:solidFill>
                  <a:srgbClr val="1B7F4B"/>
                </a:solidFill>
                <a:latin typeface="Calibri"/>
              </a:rPr>
              <a:t>Early on the belief is broad → the agent hedges. As it sharpens → the agent commits.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METHOD</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Soft vs hard likelihood — why soft wins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21</a:t>
            </a:r>
          </a:p>
        </p:txBody>
      </p:sp>
      <p:sp>
        <p:nvSpPr>
          <p:cNvPr id="6" name="Rectangle 5"/>
          <p:cNvSpPr/>
          <p:nvPr/>
        </p:nvSpPr>
        <p:spPr>
          <a:xfrm>
            <a:off x="640080" y="1691640"/>
            <a:ext cx="5166360" cy="502920"/>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166360" cy="502920"/>
          </a:xfrm>
          <a:prstGeom prst="rect">
            <a:avLst/>
          </a:prstGeom>
          <a:noFill/>
        </p:spPr>
        <p:txBody>
          <a:bodyPr wrap="square" anchor="ctr">
            <a:spAutoFit/>
          </a:bodyPr>
          <a:lstStyle/>
          <a:p>
            <a:pPr algn="ctr"/>
            <a:r>
              <a:rPr sz="1600" b="1" i="0">
                <a:solidFill>
                  <a:srgbClr val="FFFFFF"/>
                </a:solidFill>
                <a:latin typeface="Calibri"/>
              </a:rPr>
              <a:t>HARD consistency (the theory)</a:t>
            </a:r>
          </a:p>
        </p:txBody>
      </p:sp>
      <p:sp>
        <p:nvSpPr>
          <p:cNvPr id="8" name="TextBox 7"/>
          <p:cNvSpPr txBox="1"/>
          <p:nvPr/>
        </p:nvSpPr>
        <p:spPr>
          <a:xfrm>
            <a:off x="640080" y="2331720"/>
            <a:ext cx="5166360" cy="4023360"/>
          </a:xfrm>
          <a:prstGeom prst="rect">
            <a:avLst/>
          </a:prstGeom>
          <a:noFill/>
        </p:spPr>
        <p:txBody>
          <a:bodyPr wrap="square">
            <a:spAutoFit/>
          </a:bodyPr>
          <a:lstStyle/>
          <a:p>
            <a:pPr>
              <a:spcAft>
                <a:spcPts val="800"/>
              </a:spcAft>
            </a:pPr>
            <a:r>
              <a:rPr sz="1550" b="0" i="0">
                <a:solidFill>
                  <a:srgbClr val="252B33"/>
                </a:solidFill>
                <a:latin typeface="Calibri"/>
              </a:rPr>
              <a:t>•  A CVE absent from any infected host’s profile is ELIMINATED outright.</a:t>
            </a:r>
          </a:p>
          <a:p>
            <a:pPr>
              <a:spcAft>
                <a:spcPts val="800"/>
              </a:spcAft>
            </a:pPr>
            <a:r>
              <a:rPr sz="1550" b="0" i="0">
                <a:solidFill>
                  <a:srgbClr val="252B33"/>
                </a:solidFill>
                <a:latin typeface="Calibri"/>
              </a:rPr>
              <a:t>•  Clean and exact — matches the identifiability theorem.</a:t>
            </a:r>
          </a:p>
          <a:p>
            <a:pPr>
              <a:spcAft>
                <a:spcPts val="800"/>
              </a:spcAft>
            </a:pPr>
            <a:r>
              <a:rPr sz="1550" b="0" i="0">
                <a:solidFill>
                  <a:srgbClr val="252B33"/>
                </a:solidFill>
                <a:latin typeface="Calibri"/>
              </a:rPr>
              <a:t>•  Fragile: a single false-positive detection (a machine wrongly flagged infected) can wrongly eliminate the TRUE CVE. One bad observation breaks it.</a:t>
            </a:r>
          </a:p>
        </p:txBody>
      </p:sp>
      <p:sp>
        <p:nvSpPr>
          <p:cNvPr id="9" name="Rectangle 8"/>
          <p:cNvSpPr/>
          <p:nvPr/>
        </p:nvSpPr>
        <p:spPr>
          <a:xfrm>
            <a:off x="6355080" y="1691640"/>
            <a:ext cx="5166360" cy="502920"/>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691640"/>
            <a:ext cx="5166360" cy="502920"/>
          </a:xfrm>
          <a:prstGeom prst="rect">
            <a:avLst/>
          </a:prstGeom>
          <a:noFill/>
        </p:spPr>
        <p:txBody>
          <a:bodyPr wrap="square" anchor="ctr">
            <a:spAutoFit/>
          </a:bodyPr>
          <a:lstStyle/>
          <a:p>
            <a:pPr algn="ctr"/>
            <a:r>
              <a:rPr sz="1600" b="1" i="0">
                <a:solidFill>
                  <a:srgbClr val="FFFFFF"/>
                </a:solidFill>
                <a:latin typeface="Calibri"/>
              </a:rPr>
              <a:t>SOFT likelihood (what we deploy)</a:t>
            </a:r>
          </a:p>
        </p:txBody>
      </p:sp>
      <p:sp>
        <p:nvSpPr>
          <p:cNvPr id="11" name="TextBox 10"/>
          <p:cNvSpPr txBox="1"/>
          <p:nvPr/>
        </p:nvSpPr>
        <p:spPr>
          <a:xfrm>
            <a:off x="6355080" y="2331720"/>
            <a:ext cx="5166360" cy="4023360"/>
          </a:xfrm>
          <a:prstGeom prst="rect">
            <a:avLst/>
          </a:prstGeom>
          <a:noFill/>
        </p:spPr>
        <p:txBody>
          <a:bodyPr wrap="square">
            <a:spAutoFit/>
          </a:bodyPr>
          <a:lstStyle/>
          <a:p>
            <a:pPr>
              <a:spcAft>
                <a:spcPts val="800"/>
              </a:spcAft>
            </a:pPr>
            <a:r>
              <a:rPr sz="1550" b="0" i="0">
                <a:solidFill>
                  <a:srgbClr val="252B33"/>
                </a:solidFill>
                <a:latin typeface="Calibri"/>
              </a:rPr>
              <a:t>•  Each infected host DOWN-WEIGHTS rather than eliminates inconsistent CVEs.</a:t>
            </a:r>
          </a:p>
          <a:p>
            <a:pPr>
              <a:spcAft>
                <a:spcPts val="800"/>
              </a:spcAft>
            </a:pPr>
            <a:r>
              <a:rPr sz="1550" b="0" i="0">
                <a:solidFill>
                  <a:srgbClr val="252B33"/>
                </a:solidFill>
                <a:latin typeface="Calibri"/>
              </a:rPr>
              <a:t>•  One false detection can’t exclude the truth — it just nudges the belief.</a:t>
            </a:r>
          </a:p>
          <a:p>
            <a:pPr>
              <a:spcAft>
                <a:spcPts val="800"/>
              </a:spcAft>
            </a:pPr>
            <a:r>
              <a:rPr sz="1550" b="0" i="0">
                <a:solidFill>
                  <a:srgbClr val="252B33"/>
                </a:solidFill>
                <a:latin typeface="Calibri"/>
              </a:rPr>
              <a:t>•  Robust to noisy detection and to deliberate belief-poisoning.</a:t>
            </a:r>
          </a:p>
          <a:p>
            <a:pPr>
              <a:spcAft>
                <a:spcPts val="800"/>
              </a:spcAft>
            </a:pPr>
            <a:r>
              <a:rPr sz="1550" b="0" i="0">
                <a:solidFill>
                  <a:srgbClr val="252B33"/>
                </a:solidFill>
                <a:latin typeface="Calibri"/>
              </a:rPr>
              <a:t>•  This is the version used in all deployment-facing experiments.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METHOD</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content-aware policy — the scoring rule</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22</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Score each frontier host by its belief-weighted EXPOSED-VULNERABLE DEGREE.</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For a host v, ask: how many of its neighbours are (a) still susceptible AND (b) exploitable by a CVE the belief thinks is live?</a:t>
            </a:r>
          </a:p>
          <a:p>
            <a:pPr>
              <a:spcAft>
                <a:spcPts val="800"/>
              </a:spcAft>
            </a:pPr>
            <a:r>
              <a:rPr sz="1700" b="0" i="0">
                <a:solidFill>
                  <a:srgbClr val="252B33"/>
                </a:solidFill>
                <a:latin typeface="Calibri"/>
              </a:rPr>
              <a:t>•  That count — averaged over the belief — is v’s expected number of onward infections. Defend the hosts with the highest such score.</a:t>
            </a:r>
          </a:p>
          <a:p>
            <a:pPr>
              <a:spcAft>
                <a:spcPts val="800"/>
              </a:spcAft>
            </a:pPr>
            <a:r>
              <a:rPr sz="1700" b="0" i="0">
                <a:solidFill>
                  <a:srgbClr val="252B33"/>
                </a:solidFill>
                <a:latin typeface="Calibri"/>
              </a:rPr>
              <a:t>•  It generalizes classic ‘degree’ immunization to the uncertain-payload regime, and reduces to plain degree when the belief is uniform / everything is vulnerable.</a:t>
            </a:r>
          </a:p>
          <a:p>
            <a:pPr>
              <a:spcAft>
                <a:spcPts val="800"/>
              </a:spcAft>
            </a:pPr>
            <a:r>
              <a:rPr sz="1600" b="0" i="0">
                <a:solidFill>
                  <a:srgbClr val="2E6FB0"/>
                </a:solidFill>
                <a:latin typeface="Calibri"/>
              </a:rPr>
              <a:t>•  Then: while uncertain, ISOLATE (a blunt but certain cut); once the belief’s support collapses, switch to PATCH (immunize precisely, keep hosts online).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6</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Results</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Synthetic, real-topology, and real-data — with honest scope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RESULTS</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Experimental design — why it’s trustworthy</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23</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Every policy faces the IDENTICAL outbreak (paired trials); numbers are statistically tested.</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Paired design: same graph, same target CVE, same seeds, same infection coin-flips for every defender in a trial. This slashes variance and makes deltas real, not noise.</a:t>
            </a:r>
          </a:p>
          <a:p>
            <a:pPr>
              <a:spcAft>
                <a:spcPts val="800"/>
              </a:spcAft>
            </a:pPr>
            <a:r>
              <a:rPr sz="1700" b="0" i="0">
                <a:solidFill>
                  <a:srgbClr val="252B33"/>
                </a:solidFill>
                <a:latin typeface="Calibri"/>
              </a:rPr>
              <a:t>•  Randomized target CVE per trial — no cherry-picked attack.</a:t>
            </a:r>
          </a:p>
          <a:p>
            <a:pPr>
              <a:spcAft>
                <a:spcPts val="800"/>
              </a:spcAft>
            </a:pPr>
            <a:r>
              <a:rPr sz="1700" b="0" i="0">
                <a:solidFill>
                  <a:srgbClr val="252B33"/>
                </a:solidFill>
                <a:latin typeface="Calibri"/>
              </a:rPr>
              <a:t>•  Real vulnerabilities from the NVD/CVE database; per-CVE transmissibility from CVSS.</a:t>
            </a:r>
          </a:p>
          <a:p>
            <a:pPr>
              <a:spcAft>
                <a:spcPts val="800"/>
              </a:spcAft>
            </a:pPr>
            <a:r>
              <a:rPr sz="1600" b="0" i="0">
                <a:solidFill>
                  <a:srgbClr val="1F355E"/>
                </a:solidFill>
                <a:latin typeface="Calibri"/>
              </a:rPr>
              <a:t>•  Paired Wilcoxon tests + family-wise (Holm-Bonferroni) correction on the headline claims. We also report per-trial WIN RATES, not just means.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RESULTS</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Headline — synthetic networks, real CVEs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24</a:t>
            </a:r>
          </a:p>
        </p:txBody>
      </p:sp>
      <p:sp>
        <p:nvSpPr>
          <p:cNvPr id="6" name="Rectangle 5"/>
          <p:cNvSpPr/>
          <p:nvPr/>
        </p:nvSpPr>
        <p:spPr>
          <a:xfrm>
            <a:off x="655167" y="1783080"/>
            <a:ext cx="576072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4895" y="1783080"/>
            <a:ext cx="5559552" cy="457200"/>
          </a:xfrm>
          <a:prstGeom prst="rect">
            <a:avLst/>
          </a:prstGeom>
          <a:noFill/>
        </p:spPr>
        <p:txBody>
          <a:bodyPr wrap="square" anchor="ctr">
            <a:spAutoFit/>
          </a:bodyPr>
          <a:lstStyle/>
          <a:p>
            <a:pPr algn="l"/>
            <a:r>
              <a:rPr sz="1400" b="1" i="0">
                <a:solidFill>
                  <a:srgbClr val="FFFFFF"/>
                </a:solidFill>
                <a:latin typeface="Calibri"/>
              </a:rPr>
              <a:t>Defender</a:t>
            </a:r>
          </a:p>
        </p:txBody>
      </p:sp>
      <p:sp>
        <p:nvSpPr>
          <p:cNvPr id="8" name="Rectangle 7"/>
          <p:cNvSpPr/>
          <p:nvPr/>
        </p:nvSpPr>
        <p:spPr>
          <a:xfrm>
            <a:off x="6415887" y="1783080"/>
            <a:ext cx="182880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5615" y="1783080"/>
            <a:ext cx="1627632" cy="457200"/>
          </a:xfrm>
          <a:prstGeom prst="rect">
            <a:avLst/>
          </a:prstGeom>
          <a:noFill/>
        </p:spPr>
        <p:txBody>
          <a:bodyPr wrap="square" anchor="ctr">
            <a:spAutoFit/>
          </a:bodyPr>
          <a:lstStyle/>
          <a:p>
            <a:pPr algn="ctr"/>
            <a:r>
              <a:rPr sz="1400" b="1" i="0">
                <a:solidFill>
                  <a:srgbClr val="FFFFFF"/>
                </a:solidFill>
                <a:latin typeface="Calibri"/>
              </a:rPr>
              <a:t>Infected ↓</a:t>
            </a:r>
          </a:p>
        </p:txBody>
      </p:sp>
      <p:sp>
        <p:nvSpPr>
          <p:cNvPr id="10" name="Rectangle 9"/>
          <p:cNvSpPr/>
          <p:nvPr/>
        </p:nvSpPr>
        <p:spPr>
          <a:xfrm>
            <a:off x="8244687" y="1783080"/>
            <a:ext cx="192024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4415" y="1783080"/>
            <a:ext cx="1719072" cy="457200"/>
          </a:xfrm>
          <a:prstGeom prst="rect">
            <a:avLst/>
          </a:prstGeom>
          <a:noFill/>
        </p:spPr>
        <p:txBody>
          <a:bodyPr wrap="square" anchor="ctr">
            <a:spAutoFit/>
          </a:bodyPr>
          <a:lstStyle/>
          <a:p>
            <a:pPr algn="ctr"/>
            <a:r>
              <a:rPr sz="1400" b="1" i="0">
                <a:solidFill>
                  <a:srgbClr val="FFFFFF"/>
                </a:solidFill>
                <a:latin typeface="Calibri"/>
              </a:rPr>
              <a:t>Availability ↑</a:t>
            </a:r>
          </a:p>
        </p:txBody>
      </p:sp>
      <p:sp>
        <p:nvSpPr>
          <p:cNvPr id="12" name="Rectangle 11"/>
          <p:cNvSpPr/>
          <p:nvPr/>
        </p:nvSpPr>
        <p:spPr>
          <a:xfrm>
            <a:off x="10164927" y="1783080"/>
            <a:ext cx="137160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74655" y="1783080"/>
            <a:ext cx="1170432" cy="457200"/>
          </a:xfrm>
          <a:prstGeom prst="rect">
            <a:avLst/>
          </a:prstGeom>
          <a:noFill/>
        </p:spPr>
        <p:txBody>
          <a:bodyPr wrap="square" anchor="ctr">
            <a:spAutoFit/>
          </a:bodyPr>
          <a:lstStyle/>
          <a:p>
            <a:pPr algn="ctr"/>
            <a:r>
              <a:rPr sz="1400" b="1" i="0">
                <a:solidFill>
                  <a:srgbClr val="FFFFFF"/>
                </a:solidFill>
                <a:latin typeface="Calibri"/>
              </a:rPr>
              <a:t>Contained@step ↓</a:t>
            </a:r>
          </a:p>
        </p:txBody>
      </p:sp>
      <p:sp>
        <p:nvSpPr>
          <p:cNvPr id="14" name="Rectangle 13"/>
          <p:cNvSpPr/>
          <p:nvPr/>
        </p:nvSpPr>
        <p:spPr>
          <a:xfrm>
            <a:off x="655167" y="2240280"/>
            <a:ext cx="576072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4895" y="2240280"/>
            <a:ext cx="5559552" cy="457200"/>
          </a:xfrm>
          <a:prstGeom prst="rect">
            <a:avLst/>
          </a:prstGeom>
          <a:noFill/>
        </p:spPr>
        <p:txBody>
          <a:bodyPr wrap="square" anchor="ctr">
            <a:spAutoFit/>
          </a:bodyPr>
          <a:lstStyle/>
          <a:p>
            <a:pPr algn="l"/>
            <a:r>
              <a:rPr sz="1400" b="0" i="0">
                <a:solidFill>
                  <a:srgbClr val="252B33"/>
                </a:solidFill>
                <a:latin typeface="Calibri"/>
              </a:rPr>
              <a:t>No defense</a:t>
            </a:r>
          </a:p>
        </p:txBody>
      </p:sp>
      <p:sp>
        <p:nvSpPr>
          <p:cNvPr id="16" name="Rectangle 15"/>
          <p:cNvSpPr/>
          <p:nvPr/>
        </p:nvSpPr>
        <p:spPr>
          <a:xfrm>
            <a:off x="6415887" y="2240280"/>
            <a:ext cx="182880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25615" y="2240280"/>
            <a:ext cx="1627632" cy="457200"/>
          </a:xfrm>
          <a:prstGeom prst="rect">
            <a:avLst/>
          </a:prstGeom>
          <a:noFill/>
        </p:spPr>
        <p:txBody>
          <a:bodyPr wrap="square" anchor="ctr">
            <a:spAutoFit/>
          </a:bodyPr>
          <a:lstStyle/>
          <a:p>
            <a:pPr algn="ctr"/>
            <a:r>
              <a:rPr sz="1400" b="0" i="0">
                <a:solidFill>
                  <a:srgbClr val="252B33"/>
                </a:solidFill>
                <a:latin typeface="Calibri"/>
              </a:rPr>
              <a:t>36.6%</a:t>
            </a:r>
          </a:p>
        </p:txBody>
      </p:sp>
      <p:sp>
        <p:nvSpPr>
          <p:cNvPr id="18" name="Rectangle 17"/>
          <p:cNvSpPr/>
          <p:nvPr/>
        </p:nvSpPr>
        <p:spPr>
          <a:xfrm>
            <a:off x="8244687" y="2240280"/>
            <a:ext cx="192024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54415" y="2240280"/>
            <a:ext cx="1719072" cy="457200"/>
          </a:xfrm>
          <a:prstGeom prst="rect">
            <a:avLst/>
          </a:prstGeom>
          <a:noFill/>
        </p:spPr>
        <p:txBody>
          <a:bodyPr wrap="square" anchor="ctr">
            <a:spAutoFit/>
          </a:bodyPr>
          <a:lstStyle/>
          <a:p>
            <a:pPr algn="ctr"/>
            <a:r>
              <a:rPr sz="1400" b="0" i="0">
                <a:solidFill>
                  <a:srgbClr val="252B33"/>
                </a:solidFill>
                <a:latin typeface="Calibri"/>
              </a:rPr>
              <a:t>100%</a:t>
            </a:r>
          </a:p>
        </p:txBody>
      </p:sp>
      <p:sp>
        <p:nvSpPr>
          <p:cNvPr id="20" name="Rectangle 19"/>
          <p:cNvSpPr/>
          <p:nvPr/>
        </p:nvSpPr>
        <p:spPr>
          <a:xfrm>
            <a:off x="10164927" y="2240280"/>
            <a:ext cx="137160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74655" y="2240280"/>
            <a:ext cx="1170432" cy="457200"/>
          </a:xfrm>
          <a:prstGeom prst="rect">
            <a:avLst/>
          </a:prstGeom>
          <a:noFill/>
        </p:spPr>
        <p:txBody>
          <a:bodyPr wrap="square" anchor="ctr">
            <a:spAutoFit/>
          </a:bodyPr>
          <a:lstStyle/>
          <a:p>
            <a:pPr algn="ctr"/>
            <a:r>
              <a:rPr sz="1400" b="0" i="0">
                <a:solidFill>
                  <a:srgbClr val="252B33"/>
                </a:solidFill>
                <a:latin typeface="Calibri"/>
              </a:rPr>
              <a:t>14.2</a:t>
            </a:r>
          </a:p>
        </p:txBody>
      </p:sp>
      <p:sp>
        <p:nvSpPr>
          <p:cNvPr id="22" name="Rectangle 21"/>
          <p:cNvSpPr/>
          <p:nvPr/>
        </p:nvSpPr>
        <p:spPr>
          <a:xfrm>
            <a:off x="655167" y="2697480"/>
            <a:ext cx="576072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4895" y="2697480"/>
            <a:ext cx="5559552" cy="457200"/>
          </a:xfrm>
          <a:prstGeom prst="rect">
            <a:avLst/>
          </a:prstGeom>
          <a:noFill/>
        </p:spPr>
        <p:txBody>
          <a:bodyPr wrap="square" anchor="ctr">
            <a:spAutoFit/>
          </a:bodyPr>
          <a:lstStyle/>
          <a:p>
            <a:pPr algn="l"/>
            <a:r>
              <a:rPr sz="1400" b="0" i="0">
                <a:solidFill>
                  <a:srgbClr val="252B33"/>
                </a:solidFill>
                <a:latin typeface="Calibri"/>
              </a:rPr>
              <a:t>Best structural (degree / betweenness)</a:t>
            </a:r>
          </a:p>
        </p:txBody>
      </p:sp>
      <p:sp>
        <p:nvSpPr>
          <p:cNvPr id="24" name="Rectangle 23"/>
          <p:cNvSpPr/>
          <p:nvPr/>
        </p:nvSpPr>
        <p:spPr>
          <a:xfrm>
            <a:off x="6415887" y="2697480"/>
            <a:ext cx="182880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615" y="2697480"/>
            <a:ext cx="1627632" cy="457200"/>
          </a:xfrm>
          <a:prstGeom prst="rect">
            <a:avLst/>
          </a:prstGeom>
          <a:noFill/>
        </p:spPr>
        <p:txBody>
          <a:bodyPr wrap="square" anchor="ctr">
            <a:spAutoFit/>
          </a:bodyPr>
          <a:lstStyle/>
          <a:p>
            <a:pPr algn="ctr"/>
            <a:r>
              <a:rPr sz="1400" b="0" i="0">
                <a:solidFill>
                  <a:srgbClr val="252B33"/>
                </a:solidFill>
                <a:latin typeface="Calibri"/>
              </a:rPr>
              <a:t>3.4%</a:t>
            </a:r>
          </a:p>
        </p:txBody>
      </p:sp>
      <p:sp>
        <p:nvSpPr>
          <p:cNvPr id="26" name="Rectangle 25"/>
          <p:cNvSpPr/>
          <p:nvPr/>
        </p:nvSpPr>
        <p:spPr>
          <a:xfrm>
            <a:off x="8244687" y="2697480"/>
            <a:ext cx="192024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54415" y="2697480"/>
            <a:ext cx="1719072" cy="457200"/>
          </a:xfrm>
          <a:prstGeom prst="rect">
            <a:avLst/>
          </a:prstGeom>
          <a:noFill/>
        </p:spPr>
        <p:txBody>
          <a:bodyPr wrap="square" anchor="ctr">
            <a:spAutoFit/>
          </a:bodyPr>
          <a:lstStyle/>
          <a:p>
            <a:pPr algn="ctr"/>
            <a:r>
              <a:rPr sz="1400" b="0" i="0">
                <a:solidFill>
                  <a:srgbClr val="252B33"/>
                </a:solidFill>
                <a:latin typeface="Calibri"/>
              </a:rPr>
              <a:t>95.5%</a:t>
            </a:r>
          </a:p>
        </p:txBody>
      </p:sp>
      <p:sp>
        <p:nvSpPr>
          <p:cNvPr id="28" name="Rectangle 27"/>
          <p:cNvSpPr/>
          <p:nvPr/>
        </p:nvSpPr>
        <p:spPr>
          <a:xfrm>
            <a:off x="10164927" y="2697480"/>
            <a:ext cx="137160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74655" y="2697480"/>
            <a:ext cx="1170432" cy="457200"/>
          </a:xfrm>
          <a:prstGeom prst="rect">
            <a:avLst/>
          </a:prstGeom>
          <a:noFill/>
        </p:spPr>
        <p:txBody>
          <a:bodyPr wrap="square" anchor="ctr">
            <a:spAutoFit/>
          </a:bodyPr>
          <a:lstStyle/>
          <a:p>
            <a:pPr algn="ctr"/>
            <a:r>
              <a:rPr sz="1400" b="0" i="0">
                <a:solidFill>
                  <a:srgbClr val="252B33"/>
                </a:solidFill>
                <a:latin typeface="Calibri"/>
              </a:rPr>
              <a:t>4.5</a:t>
            </a:r>
          </a:p>
        </p:txBody>
      </p:sp>
      <p:sp>
        <p:nvSpPr>
          <p:cNvPr id="30" name="Rectangle 29"/>
          <p:cNvSpPr/>
          <p:nvPr/>
        </p:nvSpPr>
        <p:spPr>
          <a:xfrm>
            <a:off x="655167" y="3154680"/>
            <a:ext cx="5760720"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4895" y="3154680"/>
            <a:ext cx="5559552" cy="457200"/>
          </a:xfrm>
          <a:prstGeom prst="rect">
            <a:avLst/>
          </a:prstGeom>
          <a:noFill/>
        </p:spPr>
        <p:txBody>
          <a:bodyPr wrap="square" anchor="ctr">
            <a:spAutoFit/>
          </a:bodyPr>
          <a:lstStyle/>
          <a:p>
            <a:pPr algn="l"/>
            <a:r>
              <a:rPr sz="1400" b="1" i="0">
                <a:solidFill>
                  <a:srgbClr val="1B7F4B"/>
                </a:solidFill>
                <a:latin typeface="Calibri"/>
              </a:rPr>
              <a:t>SERUM — content-aware (ours)</a:t>
            </a:r>
          </a:p>
        </p:txBody>
      </p:sp>
      <p:sp>
        <p:nvSpPr>
          <p:cNvPr id="32" name="Rectangle 31"/>
          <p:cNvSpPr/>
          <p:nvPr/>
        </p:nvSpPr>
        <p:spPr>
          <a:xfrm>
            <a:off x="6415887" y="3154680"/>
            <a:ext cx="1828800"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5615" y="3154680"/>
            <a:ext cx="1627632" cy="457200"/>
          </a:xfrm>
          <a:prstGeom prst="rect">
            <a:avLst/>
          </a:prstGeom>
          <a:noFill/>
        </p:spPr>
        <p:txBody>
          <a:bodyPr wrap="square" anchor="ctr">
            <a:spAutoFit/>
          </a:bodyPr>
          <a:lstStyle/>
          <a:p>
            <a:pPr algn="ctr"/>
            <a:r>
              <a:rPr sz="1400" b="1" i="0">
                <a:solidFill>
                  <a:srgbClr val="1B7F4B"/>
                </a:solidFill>
                <a:latin typeface="Calibri"/>
              </a:rPr>
              <a:t>1.8%</a:t>
            </a:r>
          </a:p>
        </p:txBody>
      </p:sp>
      <p:sp>
        <p:nvSpPr>
          <p:cNvPr id="34" name="Rectangle 33"/>
          <p:cNvSpPr/>
          <p:nvPr/>
        </p:nvSpPr>
        <p:spPr>
          <a:xfrm>
            <a:off x="8244687" y="3154680"/>
            <a:ext cx="1920240"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54415" y="3154680"/>
            <a:ext cx="1719072" cy="457200"/>
          </a:xfrm>
          <a:prstGeom prst="rect">
            <a:avLst/>
          </a:prstGeom>
          <a:noFill/>
        </p:spPr>
        <p:txBody>
          <a:bodyPr wrap="square" anchor="ctr">
            <a:spAutoFit/>
          </a:bodyPr>
          <a:lstStyle/>
          <a:p>
            <a:pPr algn="ctr"/>
            <a:r>
              <a:rPr sz="1400" b="1" i="0">
                <a:solidFill>
                  <a:srgbClr val="1B7F4B"/>
                </a:solidFill>
                <a:latin typeface="Calibri"/>
              </a:rPr>
              <a:t>98.5%</a:t>
            </a:r>
          </a:p>
        </p:txBody>
      </p:sp>
      <p:sp>
        <p:nvSpPr>
          <p:cNvPr id="36" name="Rectangle 35"/>
          <p:cNvSpPr/>
          <p:nvPr/>
        </p:nvSpPr>
        <p:spPr>
          <a:xfrm>
            <a:off x="10164927" y="3154680"/>
            <a:ext cx="1371600"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74655" y="3154680"/>
            <a:ext cx="1170432" cy="457200"/>
          </a:xfrm>
          <a:prstGeom prst="rect">
            <a:avLst/>
          </a:prstGeom>
          <a:noFill/>
        </p:spPr>
        <p:txBody>
          <a:bodyPr wrap="square" anchor="ctr">
            <a:spAutoFit/>
          </a:bodyPr>
          <a:lstStyle/>
          <a:p>
            <a:pPr algn="ctr"/>
            <a:r>
              <a:rPr sz="1400" b="1" i="0">
                <a:solidFill>
                  <a:srgbClr val="1B7F4B"/>
                </a:solidFill>
                <a:latin typeface="Calibri"/>
              </a:rPr>
              <a:t>3.0</a:t>
            </a:r>
          </a:p>
        </p:txBody>
      </p:sp>
      <p:sp>
        <p:nvSpPr>
          <p:cNvPr id="38" name="Rectangle 37"/>
          <p:cNvSpPr/>
          <p:nvPr/>
        </p:nvSpPr>
        <p:spPr>
          <a:xfrm>
            <a:off x="655167" y="3611880"/>
            <a:ext cx="576072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4895" y="3611880"/>
            <a:ext cx="5559552" cy="457200"/>
          </a:xfrm>
          <a:prstGeom prst="rect">
            <a:avLst/>
          </a:prstGeom>
          <a:noFill/>
        </p:spPr>
        <p:txBody>
          <a:bodyPr wrap="square" anchor="ctr">
            <a:spAutoFit/>
          </a:bodyPr>
          <a:lstStyle/>
          <a:p>
            <a:pPr algn="l"/>
            <a:r>
              <a:rPr sz="1400" b="0" i="0">
                <a:solidFill>
                  <a:srgbClr val="252B33"/>
                </a:solidFill>
                <a:latin typeface="Calibri"/>
              </a:rPr>
              <a:t>Oracle (is told the exploit)</a:t>
            </a:r>
          </a:p>
        </p:txBody>
      </p:sp>
      <p:sp>
        <p:nvSpPr>
          <p:cNvPr id="40" name="Rectangle 39"/>
          <p:cNvSpPr/>
          <p:nvPr/>
        </p:nvSpPr>
        <p:spPr>
          <a:xfrm>
            <a:off x="6415887" y="3611880"/>
            <a:ext cx="182880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25615" y="3611880"/>
            <a:ext cx="1627632" cy="457200"/>
          </a:xfrm>
          <a:prstGeom prst="rect">
            <a:avLst/>
          </a:prstGeom>
          <a:noFill/>
        </p:spPr>
        <p:txBody>
          <a:bodyPr wrap="square" anchor="ctr">
            <a:spAutoFit/>
          </a:bodyPr>
          <a:lstStyle/>
          <a:p>
            <a:pPr algn="ctr"/>
            <a:r>
              <a:rPr sz="1400" b="0" i="0">
                <a:solidFill>
                  <a:srgbClr val="252B33"/>
                </a:solidFill>
                <a:latin typeface="Calibri"/>
              </a:rPr>
              <a:t>1.1%</a:t>
            </a:r>
          </a:p>
        </p:txBody>
      </p:sp>
      <p:sp>
        <p:nvSpPr>
          <p:cNvPr id="42" name="Rectangle 41"/>
          <p:cNvSpPr/>
          <p:nvPr/>
        </p:nvSpPr>
        <p:spPr>
          <a:xfrm>
            <a:off x="8244687" y="3611880"/>
            <a:ext cx="192024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54415" y="3611880"/>
            <a:ext cx="1719072" cy="457200"/>
          </a:xfrm>
          <a:prstGeom prst="rect">
            <a:avLst/>
          </a:prstGeom>
          <a:noFill/>
        </p:spPr>
        <p:txBody>
          <a:bodyPr wrap="square" anchor="ctr">
            <a:spAutoFit/>
          </a:bodyPr>
          <a:lstStyle/>
          <a:p>
            <a:pPr algn="ctr"/>
            <a:r>
              <a:rPr sz="1400" b="0" i="0">
                <a:solidFill>
                  <a:srgbClr val="252B33"/>
                </a:solidFill>
                <a:latin typeface="Calibri"/>
              </a:rPr>
              <a:t>100%</a:t>
            </a:r>
          </a:p>
        </p:txBody>
      </p:sp>
      <p:sp>
        <p:nvSpPr>
          <p:cNvPr id="44" name="Rectangle 43"/>
          <p:cNvSpPr/>
          <p:nvPr/>
        </p:nvSpPr>
        <p:spPr>
          <a:xfrm>
            <a:off x="10164927" y="3611880"/>
            <a:ext cx="137160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74655" y="3611880"/>
            <a:ext cx="1170432" cy="457200"/>
          </a:xfrm>
          <a:prstGeom prst="rect">
            <a:avLst/>
          </a:prstGeom>
          <a:noFill/>
        </p:spPr>
        <p:txBody>
          <a:bodyPr wrap="square" anchor="ctr">
            <a:spAutoFit/>
          </a:bodyPr>
          <a:lstStyle/>
          <a:p>
            <a:pPr algn="ctr"/>
            <a:r>
              <a:rPr sz="1400" b="0" i="0">
                <a:solidFill>
                  <a:srgbClr val="252B33"/>
                </a:solidFill>
                <a:latin typeface="Calibri"/>
              </a:rPr>
              <a:t>2.0</a:t>
            </a:r>
          </a:p>
        </p:txBody>
      </p:sp>
      <p:sp>
        <p:nvSpPr>
          <p:cNvPr id="46" name="Rectangle 45"/>
          <p:cNvSpPr/>
          <p:nvPr/>
        </p:nvSpPr>
        <p:spPr>
          <a:xfrm>
            <a:off x="640080" y="4270248"/>
            <a:ext cx="10881360" cy="109728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68680" y="4343400"/>
            <a:ext cx="10424160" cy="932688"/>
          </a:xfrm>
          <a:prstGeom prst="rect">
            <a:avLst/>
          </a:prstGeom>
          <a:noFill/>
        </p:spPr>
        <p:txBody>
          <a:bodyPr wrap="square" anchor="ctr">
            <a:spAutoFit/>
          </a:bodyPr>
          <a:lstStyle/>
          <a:p>
            <a:pPr algn="l"/>
            <a:r>
              <a:rPr sz="1450" b="0" i="0">
                <a:solidFill>
                  <a:srgbClr val="252B33"/>
                </a:solidFill>
                <a:latin typeface="Calibri"/>
              </a:rPr>
              <a:t>What it means:  Content-aware beats the best structural baseline on infection AND availability AND speed — without being told the attack — landing close to the oracle that IS told. Honest: the absolute gap here is small (1.8 vs 3.4 pts); the big, decisive gap shows up on real topology.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RESULTS — FLAGSHIP</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Flagship — a REAL organisational network</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25</a:t>
            </a:r>
          </a:p>
        </p:txBody>
      </p:sp>
      <p:sp>
        <p:nvSpPr>
          <p:cNvPr id="6" name="Rectangle 5"/>
          <p:cNvSpPr/>
          <p:nvPr/>
        </p:nvSpPr>
        <p:spPr>
          <a:xfrm>
            <a:off x="655167" y="1783080"/>
            <a:ext cx="7100548"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4895" y="1783080"/>
            <a:ext cx="6899380" cy="457200"/>
          </a:xfrm>
          <a:prstGeom prst="rect">
            <a:avLst/>
          </a:prstGeom>
          <a:noFill/>
        </p:spPr>
        <p:txBody>
          <a:bodyPr wrap="square" anchor="ctr">
            <a:spAutoFit/>
          </a:bodyPr>
          <a:lstStyle/>
          <a:p>
            <a:pPr algn="l"/>
            <a:r>
              <a:rPr sz="1400" b="1" i="0">
                <a:solidFill>
                  <a:srgbClr val="FFFFFF"/>
                </a:solidFill>
                <a:latin typeface="Calibri"/>
              </a:rPr>
              <a:t>Defender</a:t>
            </a:r>
          </a:p>
        </p:txBody>
      </p:sp>
      <p:sp>
        <p:nvSpPr>
          <p:cNvPr id="8" name="Rectangle 7"/>
          <p:cNvSpPr/>
          <p:nvPr/>
        </p:nvSpPr>
        <p:spPr>
          <a:xfrm>
            <a:off x="7755716" y="1783080"/>
            <a:ext cx="1890405"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5444" y="1783080"/>
            <a:ext cx="1689237" cy="457200"/>
          </a:xfrm>
          <a:prstGeom prst="rect">
            <a:avLst/>
          </a:prstGeom>
          <a:noFill/>
        </p:spPr>
        <p:txBody>
          <a:bodyPr wrap="square" anchor="ctr">
            <a:spAutoFit/>
          </a:bodyPr>
          <a:lstStyle/>
          <a:p>
            <a:pPr algn="ctr"/>
            <a:r>
              <a:rPr sz="1400" b="1" i="0">
                <a:solidFill>
                  <a:srgbClr val="FFFFFF"/>
                </a:solidFill>
                <a:latin typeface="Calibri"/>
              </a:rPr>
              <a:t>Infected ↓</a:t>
            </a:r>
          </a:p>
        </p:txBody>
      </p:sp>
      <p:sp>
        <p:nvSpPr>
          <p:cNvPr id="10" name="Rectangle 9"/>
          <p:cNvSpPr/>
          <p:nvPr/>
        </p:nvSpPr>
        <p:spPr>
          <a:xfrm>
            <a:off x="9646121" y="1783080"/>
            <a:ext cx="1890405"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55849" y="1783080"/>
            <a:ext cx="1689237" cy="457200"/>
          </a:xfrm>
          <a:prstGeom prst="rect">
            <a:avLst/>
          </a:prstGeom>
          <a:noFill/>
        </p:spPr>
        <p:txBody>
          <a:bodyPr wrap="square" anchor="ctr">
            <a:spAutoFit/>
          </a:bodyPr>
          <a:lstStyle/>
          <a:p>
            <a:pPr algn="ctr"/>
            <a:r>
              <a:rPr sz="1400" b="1" i="0">
                <a:solidFill>
                  <a:srgbClr val="FFFFFF"/>
                </a:solidFill>
                <a:latin typeface="Calibri"/>
              </a:rPr>
              <a:t>Availability ↑</a:t>
            </a:r>
          </a:p>
        </p:txBody>
      </p:sp>
      <p:sp>
        <p:nvSpPr>
          <p:cNvPr id="12" name="Rectangle 11"/>
          <p:cNvSpPr/>
          <p:nvPr/>
        </p:nvSpPr>
        <p:spPr>
          <a:xfrm>
            <a:off x="655167" y="2240280"/>
            <a:ext cx="7100548"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4895" y="2240280"/>
            <a:ext cx="6899380" cy="457200"/>
          </a:xfrm>
          <a:prstGeom prst="rect">
            <a:avLst/>
          </a:prstGeom>
          <a:noFill/>
        </p:spPr>
        <p:txBody>
          <a:bodyPr wrap="square" anchor="ctr">
            <a:spAutoFit/>
          </a:bodyPr>
          <a:lstStyle/>
          <a:p>
            <a:pPr algn="l"/>
            <a:r>
              <a:rPr sz="1400" b="0" i="0">
                <a:solidFill>
                  <a:srgbClr val="252B33"/>
                </a:solidFill>
                <a:latin typeface="Calibri"/>
              </a:rPr>
              <a:t>No defense</a:t>
            </a:r>
          </a:p>
        </p:txBody>
      </p:sp>
      <p:sp>
        <p:nvSpPr>
          <p:cNvPr id="14" name="Rectangle 13"/>
          <p:cNvSpPr/>
          <p:nvPr/>
        </p:nvSpPr>
        <p:spPr>
          <a:xfrm>
            <a:off x="7755716" y="2240280"/>
            <a:ext cx="1890405"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5444" y="2240280"/>
            <a:ext cx="1689237" cy="457200"/>
          </a:xfrm>
          <a:prstGeom prst="rect">
            <a:avLst/>
          </a:prstGeom>
          <a:noFill/>
        </p:spPr>
        <p:txBody>
          <a:bodyPr wrap="square" anchor="ctr">
            <a:spAutoFit/>
          </a:bodyPr>
          <a:lstStyle/>
          <a:p>
            <a:pPr algn="ctr"/>
            <a:r>
              <a:rPr sz="1400" b="0" i="0">
                <a:solidFill>
                  <a:srgbClr val="252B33"/>
                </a:solidFill>
                <a:latin typeface="Calibri"/>
              </a:rPr>
              <a:t>20.1%</a:t>
            </a:r>
          </a:p>
        </p:txBody>
      </p:sp>
      <p:sp>
        <p:nvSpPr>
          <p:cNvPr id="16" name="Rectangle 15"/>
          <p:cNvSpPr/>
          <p:nvPr/>
        </p:nvSpPr>
        <p:spPr>
          <a:xfrm>
            <a:off x="9646121" y="2240280"/>
            <a:ext cx="1890405"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55849" y="2240280"/>
            <a:ext cx="1689237" cy="457200"/>
          </a:xfrm>
          <a:prstGeom prst="rect">
            <a:avLst/>
          </a:prstGeom>
          <a:noFill/>
        </p:spPr>
        <p:txBody>
          <a:bodyPr wrap="square" anchor="ctr">
            <a:spAutoFit/>
          </a:bodyPr>
          <a:lstStyle/>
          <a:p>
            <a:pPr algn="ctr"/>
            <a:r>
              <a:rPr sz="1400" b="0" i="0">
                <a:solidFill>
                  <a:srgbClr val="252B33"/>
                </a:solidFill>
                <a:latin typeface="Calibri"/>
              </a:rPr>
              <a:t>100%</a:t>
            </a:r>
          </a:p>
        </p:txBody>
      </p:sp>
      <p:sp>
        <p:nvSpPr>
          <p:cNvPr id="18" name="Rectangle 17"/>
          <p:cNvSpPr/>
          <p:nvPr/>
        </p:nvSpPr>
        <p:spPr>
          <a:xfrm>
            <a:off x="655167" y="2697480"/>
            <a:ext cx="7100548"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4895" y="2697480"/>
            <a:ext cx="6899380" cy="457200"/>
          </a:xfrm>
          <a:prstGeom prst="rect">
            <a:avLst/>
          </a:prstGeom>
          <a:noFill/>
        </p:spPr>
        <p:txBody>
          <a:bodyPr wrap="square" anchor="ctr">
            <a:spAutoFit/>
          </a:bodyPr>
          <a:lstStyle/>
          <a:p>
            <a:pPr algn="l"/>
            <a:r>
              <a:rPr sz="1400" b="0" i="0">
                <a:solidFill>
                  <a:srgbClr val="252B33"/>
                </a:solidFill>
                <a:latin typeface="Calibri"/>
              </a:rPr>
              <a:t>Degree immunization</a:t>
            </a:r>
          </a:p>
        </p:txBody>
      </p:sp>
      <p:sp>
        <p:nvSpPr>
          <p:cNvPr id="20" name="Rectangle 19"/>
          <p:cNvSpPr/>
          <p:nvPr/>
        </p:nvSpPr>
        <p:spPr>
          <a:xfrm>
            <a:off x="7755716" y="2697480"/>
            <a:ext cx="1890405"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5444" y="2697480"/>
            <a:ext cx="1689237" cy="457200"/>
          </a:xfrm>
          <a:prstGeom prst="rect">
            <a:avLst/>
          </a:prstGeom>
          <a:noFill/>
        </p:spPr>
        <p:txBody>
          <a:bodyPr wrap="square" anchor="ctr">
            <a:spAutoFit/>
          </a:bodyPr>
          <a:lstStyle/>
          <a:p>
            <a:pPr algn="ctr"/>
            <a:r>
              <a:rPr sz="1400" b="0" i="0">
                <a:solidFill>
                  <a:srgbClr val="252B33"/>
                </a:solidFill>
                <a:latin typeface="Calibri"/>
              </a:rPr>
              <a:t>18.8%</a:t>
            </a:r>
          </a:p>
        </p:txBody>
      </p:sp>
      <p:sp>
        <p:nvSpPr>
          <p:cNvPr id="22" name="Rectangle 21"/>
          <p:cNvSpPr/>
          <p:nvPr/>
        </p:nvSpPr>
        <p:spPr>
          <a:xfrm>
            <a:off x="9646121" y="2697480"/>
            <a:ext cx="1890405"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5849" y="2697480"/>
            <a:ext cx="1689237" cy="457200"/>
          </a:xfrm>
          <a:prstGeom prst="rect">
            <a:avLst/>
          </a:prstGeom>
          <a:noFill/>
        </p:spPr>
        <p:txBody>
          <a:bodyPr wrap="square" anchor="ctr">
            <a:spAutoFit/>
          </a:bodyPr>
          <a:lstStyle/>
          <a:p>
            <a:pPr algn="ctr"/>
            <a:r>
              <a:rPr sz="1400" b="0" i="0">
                <a:solidFill>
                  <a:srgbClr val="252B33"/>
                </a:solidFill>
                <a:latin typeface="Calibri"/>
              </a:rPr>
              <a:t>92.2%</a:t>
            </a:r>
          </a:p>
        </p:txBody>
      </p:sp>
      <p:sp>
        <p:nvSpPr>
          <p:cNvPr id="24" name="Rectangle 23"/>
          <p:cNvSpPr/>
          <p:nvPr/>
        </p:nvSpPr>
        <p:spPr>
          <a:xfrm>
            <a:off x="655167" y="3154680"/>
            <a:ext cx="7100548"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4895" y="3154680"/>
            <a:ext cx="6899380" cy="457200"/>
          </a:xfrm>
          <a:prstGeom prst="rect">
            <a:avLst/>
          </a:prstGeom>
          <a:noFill/>
        </p:spPr>
        <p:txBody>
          <a:bodyPr wrap="square" anchor="ctr">
            <a:spAutoFit/>
          </a:bodyPr>
          <a:lstStyle/>
          <a:p>
            <a:pPr algn="l"/>
            <a:r>
              <a:rPr sz="1400" b="0" i="0">
                <a:solidFill>
                  <a:srgbClr val="252B33"/>
                </a:solidFill>
                <a:latin typeface="Calibri"/>
              </a:rPr>
              <a:t>Betweenness (best structural)</a:t>
            </a:r>
          </a:p>
        </p:txBody>
      </p:sp>
      <p:sp>
        <p:nvSpPr>
          <p:cNvPr id="26" name="Rectangle 25"/>
          <p:cNvSpPr/>
          <p:nvPr/>
        </p:nvSpPr>
        <p:spPr>
          <a:xfrm>
            <a:off x="7755716" y="3154680"/>
            <a:ext cx="1890405"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5444" y="3154680"/>
            <a:ext cx="1689237" cy="457200"/>
          </a:xfrm>
          <a:prstGeom prst="rect">
            <a:avLst/>
          </a:prstGeom>
          <a:noFill/>
        </p:spPr>
        <p:txBody>
          <a:bodyPr wrap="square" anchor="ctr">
            <a:spAutoFit/>
          </a:bodyPr>
          <a:lstStyle/>
          <a:p>
            <a:pPr algn="ctr"/>
            <a:r>
              <a:rPr sz="1400" b="0" i="0">
                <a:solidFill>
                  <a:srgbClr val="252B33"/>
                </a:solidFill>
                <a:latin typeface="Calibri"/>
              </a:rPr>
              <a:t>17.6%</a:t>
            </a:r>
          </a:p>
        </p:txBody>
      </p:sp>
      <p:sp>
        <p:nvSpPr>
          <p:cNvPr id="28" name="Rectangle 27"/>
          <p:cNvSpPr/>
          <p:nvPr/>
        </p:nvSpPr>
        <p:spPr>
          <a:xfrm>
            <a:off x="9646121" y="3154680"/>
            <a:ext cx="1890405"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55849" y="3154680"/>
            <a:ext cx="1689237" cy="457200"/>
          </a:xfrm>
          <a:prstGeom prst="rect">
            <a:avLst/>
          </a:prstGeom>
          <a:noFill/>
        </p:spPr>
        <p:txBody>
          <a:bodyPr wrap="square" anchor="ctr">
            <a:spAutoFit/>
          </a:bodyPr>
          <a:lstStyle/>
          <a:p>
            <a:pPr algn="ctr"/>
            <a:r>
              <a:rPr sz="1400" b="0" i="0">
                <a:solidFill>
                  <a:srgbClr val="252B33"/>
                </a:solidFill>
                <a:latin typeface="Calibri"/>
              </a:rPr>
              <a:t>92.5%</a:t>
            </a:r>
          </a:p>
        </p:txBody>
      </p:sp>
      <p:sp>
        <p:nvSpPr>
          <p:cNvPr id="30" name="Rectangle 29"/>
          <p:cNvSpPr/>
          <p:nvPr/>
        </p:nvSpPr>
        <p:spPr>
          <a:xfrm>
            <a:off x="655167" y="3611880"/>
            <a:ext cx="7100548"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4895" y="3611880"/>
            <a:ext cx="6899380" cy="457200"/>
          </a:xfrm>
          <a:prstGeom prst="rect">
            <a:avLst/>
          </a:prstGeom>
          <a:noFill/>
        </p:spPr>
        <p:txBody>
          <a:bodyPr wrap="square" anchor="ctr">
            <a:spAutoFit/>
          </a:bodyPr>
          <a:lstStyle/>
          <a:p>
            <a:pPr algn="l"/>
            <a:r>
              <a:rPr sz="1400" b="1" i="0">
                <a:solidFill>
                  <a:srgbClr val="1B7F4B"/>
                </a:solidFill>
                <a:latin typeface="Calibri"/>
              </a:rPr>
              <a:t>SERUM — content-aware (ours)</a:t>
            </a:r>
          </a:p>
        </p:txBody>
      </p:sp>
      <p:sp>
        <p:nvSpPr>
          <p:cNvPr id="32" name="Rectangle 31"/>
          <p:cNvSpPr/>
          <p:nvPr/>
        </p:nvSpPr>
        <p:spPr>
          <a:xfrm>
            <a:off x="7755716" y="3611880"/>
            <a:ext cx="1890405"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5444" y="3611880"/>
            <a:ext cx="1689237" cy="457200"/>
          </a:xfrm>
          <a:prstGeom prst="rect">
            <a:avLst/>
          </a:prstGeom>
          <a:noFill/>
        </p:spPr>
        <p:txBody>
          <a:bodyPr wrap="square" anchor="ctr">
            <a:spAutoFit/>
          </a:bodyPr>
          <a:lstStyle/>
          <a:p>
            <a:pPr algn="ctr"/>
            <a:r>
              <a:rPr sz="1400" b="1" i="0">
                <a:solidFill>
                  <a:srgbClr val="1B7F4B"/>
                </a:solidFill>
                <a:latin typeface="Calibri"/>
              </a:rPr>
              <a:t>11.7%</a:t>
            </a:r>
          </a:p>
        </p:txBody>
      </p:sp>
      <p:sp>
        <p:nvSpPr>
          <p:cNvPr id="34" name="Rectangle 33"/>
          <p:cNvSpPr/>
          <p:nvPr/>
        </p:nvSpPr>
        <p:spPr>
          <a:xfrm>
            <a:off x="9646121" y="3611880"/>
            <a:ext cx="1890405"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5849" y="3611880"/>
            <a:ext cx="1689237" cy="457200"/>
          </a:xfrm>
          <a:prstGeom prst="rect">
            <a:avLst/>
          </a:prstGeom>
          <a:noFill/>
        </p:spPr>
        <p:txBody>
          <a:bodyPr wrap="square" anchor="ctr">
            <a:spAutoFit/>
          </a:bodyPr>
          <a:lstStyle/>
          <a:p>
            <a:pPr algn="ctr"/>
            <a:r>
              <a:rPr sz="1400" b="1" i="0">
                <a:solidFill>
                  <a:srgbClr val="1B7F4B"/>
                </a:solidFill>
                <a:latin typeface="Calibri"/>
              </a:rPr>
              <a:t>97.5%</a:t>
            </a:r>
          </a:p>
        </p:txBody>
      </p:sp>
      <p:sp>
        <p:nvSpPr>
          <p:cNvPr id="36" name="Rectangle 35"/>
          <p:cNvSpPr/>
          <p:nvPr/>
        </p:nvSpPr>
        <p:spPr>
          <a:xfrm>
            <a:off x="655167" y="4069080"/>
            <a:ext cx="7100548"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4895" y="4069080"/>
            <a:ext cx="6899380" cy="457200"/>
          </a:xfrm>
          <a:prstGeom prst="rect">
            <a:avLst/>
          </a:prstGeom>
          <a:noFill/>
        </p:spPr>
        <p:txBody>
          <a:bodyPr wrap="square" anchor="ctr">
            <a:spAutoFit/>
          </a:bodyPr>
          <a:lstStyle/>
          <a:p>
            <a:pPr algn="l"/>
            <a:r>
              <a:rPr sz="1400" b="0" i="0">
                <a:solidFill>
                  <a:srgbClr val="252B33"/>
                </a:solidFill>
                <a:latin typeface="Calibri"/>
              </a:rPr>
              <a:t>Content-aware oracle (bound)</a:t>
            </a:r>
          </a:p>
        </p:txBody>
      </p:sp>
      <p:sp>
        <p:nvSpPr>
          <p:cNvPr id="38" name="Rectangle 37"/>
          <p:cNvSpPr/>
          <p:nvPr/>
        </p:nvSpPr>
        <p:spPr>
          <a:xfrm>
            <a:off x="7755716" y="4069080"/>
            <a:ext cx="1890405"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65444" y="4069080"/>
            <a:ext cx="1689237" cy="457200"/>
          </a:xfrm>
          <a:prstGeom prst="rect">
            <a:avLst/>
          </a:prstGeom>
          <a:noFill/>
        </p:spPr>
        <p:txBody>
          <a:bodyPr wrap="square" anchor="ctr">
            <a:spAutoFit/>
          </a:bodyPr>
          <a:lstStyle/>
          <a:p>
            <a:pPr algn="ctr"/>
            <a:r>
              <a:rPr sz="1400" b="0" i="0">
                <a:solidFill>
                  <a:srgbClr val="252B33"/>
                </a:solidFill>
                <a:latin typeface="Calibri"/>
              </a:rPr>
              <a:t>9.1%</a:t>
            </a:r>
          </a:p>
        </p:txBody>
      </p:sp>
      <p:sp>
        <p:nvSpPr>
          <p:cNvPr id="40" name="Rectangle 39"/>
          <p:cNvSpPr/>
          <p:nvPr/>
        </p:nvSpPr>
        <p:spPr>
          <a:xfrm>
            <a:off x="9646121" y="4069080"/>
            <a:ext cx="1890405"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55849" y="4069080"/>
            <a:ext cx="1689237" cy="457200"/>
          </a:xfrm>
          <a:prstGeom prst="rect">
            <a:avLst/>
          </a:prstGeom>
          <a:noFill/>
        </p:spPr>
        <p:txBody>
          <a:bodyPr wrap="square" anchor="ctr">
            <a:spAutoFit/>
          </a:bodyPr>
          <a:lstStyle/>
          <a:p>
            <a:pPr algn="ctr"/>
            <a:r>
              <a:rPr sz="1400" b="0" i="0">
                <a:solidFill>
                  <a:srgbClr val="252B33"/>
                </a:solidFill>
                <a:latin typeface="Calibri"/>
              </a:rPr>
              <a:t>100%</a:t>
            </a:r>
          </a:p>
        </p:txBody>
      </p:sp>
      <p:sp>
        <p:nvSpPr>
          <p:cNvPr id="42" name="Rectangle 41"/>
          <p:cNvSpPr/>
          <p:nvPr/>
        </p:nvSpPr>
        <p:spPr>
          <a:xfrm>
            <a:off x="640080" y="4727448"/>
            <a:ext cx="10881360" cy="109728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800600"/>
            <a:ext cx="10424160" cy="932688"/>
          </a:xfrm>
          <a:prstGeom prst="rect">
            <a:avLst/>
          </a:prstGeom>
          <a:noFill/>
        </p:spPr>
        <p:txBody>
          <a:bodyPr wrap="square" anchor="ctr">
            <a:spAutoFit/>
          </a:bodyPr>
          <a:lstStyle/>
          <a:p>
            <a:pPr algn="l"/>
            <a:r>
              <a:rPr sz="1450" b="0" i="0">
                <a:solidFill>
                  <a:srgbClr val="252B33"/>
                </a:solidFill>
                <a:latin typeface="Calibri"/>
              </a:rPr>
              <a:t>What it means:  SNAP email-Eu-core: 1004 REAL hosts, 42 REAL departments used as software zones, real NVD CVEs. Structure-only BARELY helps (17.6% vs 20.1% no-defense) — because the vulnerable departments are NOT the network hubs. Content-aware cuts infection to 11.7%: −28.4%, Wilcoxon p = 1.7×10⁻⁷. This is the result we lead with.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RESULTS — FLAGSHIP</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Flagship — infection over time (real topology)</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26</a:t>
            </a:r>
          </a:p>
        </p:txBody>
      </p:sp>
      <p:pic>
        <p:nvPicPr>
          <p:cNvPr id="6" name="Picture 5" descr="flagship_infection_curves.png"/>
          <p:cNvPicPr>
            <a:picLocks noChangeAspect="1"/>
          </p:cNvPicPr>
          <p:nvPr/>
        </p:nvPicPr>
        <p:blipFill>
          <a:blip r:embed="rId2"/>
          <a:stretch>
            <a:fillRect/>
          </a:stretch>
        </p:blipFill>
        <p:spPr>
          <a:xfrm>
            <a:off x="3242919" y="1645920"/>
            <a:ext cx="5705856" cy="3566160"/>
          </a:xfrm>
          <a:prstGeom prst="rect">
            <a:avLst/>
          </a:prstGeom>
        </p:spPr>
      </p:pic>
      <p:sp>
        <p:nvSpPr>
          <p:cNvPr id="7" name="Rectangle 6"/>
          <p:cNvSpPr/>
          <p:nvPr/>
        </p:nvSpPr>
        <p:spPr>
          <a:xfrm>
            <a:off x="640080" y="5532120"/>
            <a:ext cx="10881360" cy="105156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623560"/>
            <a:ext cx="10424160" cy="914400"/>
          </a:xfrm>
          <a:prstGeom prst="rect">
            <a:avLst/>
          </a:prstGeom>
          <a:noFill/>
        </p:spPr>
        <p:txBody>
          <a:bodyPr wrap="square" anchor="ctr">
            <a:spAutoFit/>
          </a:bodyPr>
          <a:lstStyle/>
          <a:p>
            <a:pPr algn="l"/>
            <a:r>
              <a:rPr sz="1450" b="0" i="0">
                <a:solidFill>
                  <a:srgbClr val="252B33"/>
                </a:solidFill>
                <a:latin typeface="Calibri"/>
              </a:rPr>
              <a:t>How to read it:  each curve = mean infected fraction over time for one defender. The structure-only curves sit right on top of no-defense; the content-aware curve is far below, hugging the oracle. The gap between them is the value of content-awareness.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RESULTS</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lead result is NOT a fragile minority effect</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27</a:t>
            </a:r>
          </a:p>
        </p:txBody>
      </p:sp>
      <p:sp>
        <p:nvSpPr>
          <p:cNvPr id="6" name="Rectangle 5"/>
          <p:cNvSpPr/>
          <p:nvPr/>
        </p:nvSpPr>
        <p:spPr>
          <a:xfrm>
            <a:off x="640080" y="1828800"/>
            <a:ext cx="4754880" cy="329184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94560"/>
            <a:ext cx="4754880" cy="1280160"/>
          </a:xfrm>
          <a:prstGeom prst="rect">
            <a:avLst/>
          </a:prstGeom>
          <a:noFill/>
        </p:spPr>
        <p:txBody>
          <a:bodyPr wrap="square" anchor="t">
            <a:spAutoFit/>
          </a:bodyPr>
          <a:lstStyle/>
          <a:p>
            <a:pPr algn="ctr"/>
            <a:r>
              <a:rPr sz="7600" b="1" i="0">
                <a:solidFill>
                  <a:srgbClr val="1B7F4B"/>
                </a:solidFill>
                <a:latin typeface="Calibri"/>
              </a:rPr>
              <a:t>20 / 20</a:t>
            </a:r>
          </a:p>
        </p:txBody>
      </p:sp>
      <p:sp>
        <p:nvSpPr>
          <p:cNvPr id="8" name="TextBox 7"/>
          <p:cNvSpPr txBox="1"/>
          <p:nvPr/>
        </p:nvSpPr>
        <p:spPr>
          <a:xfrm>
            <a:off x="822960" y="3566160"/>
            <a:ext cx="4389120" cy="1463040"/>
          </a:xfrm>
          <a:prstGeom prst="rect">
            <a:avLst/>
          </a:prstGeom>
          <a:noFill/>
        </p:spPr>
        <p:txBody>
          <a:bodyPr wrap="square" anchor="t">
            <a:spAutoFit/>
          </a:bodyPr>
          <a:lstStyle/>
          <a:p>
            <a:pPr algn="ctr"/>
            <a:r>
              <a:rPr sz="1600" b="0" i="0">
                <a:solidFill>
                  <a:srgbClr val="252B33"/>
                </a:solidFill>
                <a:latin typeface="Calibri"/>
              </a:rPr>
              <a:t>paired outbreaks WON on the real topology — vs betweenness AND vs the ensemble oracle (p = 8.8×10⁻⁵). 37/40 in a budget-8 replication.</a:t>
            </a:r>
          </a:p>
        </p:txBody>
      </p:sp>
      <p:sp>
        <p:nvSpPr>
          <p:cNvPr id="9" name="TextBox 8"/>
          <p:cNvSpPr txBox="1"/>
          <p:nvPr/>
        </p:nvSpPr>
        <p:spPr>
          <a:xfrm>
            <a:off x="5760720" y="1828800"/>
            <a:ext cx="5852160" cy="4206240"/>
          </a:xfrm>
          <a:prstGeom prst="rect">
            <a:avLst/>
          </a:prstGeom>
          <a:noFill/>
        </p:spPr>
        <p:txBody>
          <a:bodyPr wrap="square">
            <a:spAutoFit/>
          </a:bodyPr>
          <a:lstStyle/>
          <a:p>
            <a:pPr>
              <a:spcAft>
                <a:spcPts val="800"/>
              </a:spcAft>
            </a:pPr>
            <a:r>
              <a:rPr sz="1800" b="1" i="0">
                <a:solidFill>
                  <a:srgbClr val="1F355E"/>
                </a:solidFill>
                <a:latin typeface="Calibri"/>
              </a:rPr>
              <a:t>Why this slide exists:</a:t>
            </a:r>
          </a:p>
          <a:p>
            <a:pPr>
              <a:spcAft>
                <a:spcPts val="800"/>
              </a:spcAft>
            </a:pPr>
            <a:r>
              <a:rPr sz="1600" b="0" i="0">
                <a:solidFill>
                  <a:srgbClr val="252B33"/>
                </a:solidFill>
                <a:latin typeface="Calibri"/>
              </a:rPr>
              <a:t>•  On the small synthetic margins, content-aware wins only a MINORITY of individual trials — the mean is carried by a few big wins. A fair critic would pounce on that.</a:t>
            </a:r>
          </a:p>
          <a:p>
            <a:pPr>
              <a:spcAft>
                <a:spcPts val="800"/>
              </a:spcAft>
            </a:pPr>
            <a:r>
              <a:rPr sz="1600" b="0" i="0">
                <a:solidFill>
                  <a:srgbClr val="252B33"/>
                </a:solidFill>
                <a:latin typeface="Calibri"/>
              </a:rPr>
              <a:t>•  On the REAL topology it’s the opposite: it wins essentially EVERY paired outbreak, by 5.9 points absolute. That’s why we lead with this, not the synthetic table.</a:t>
            </a:r>
          </a:p>
          <a:p>
            <a:pPr>
              <a:spcAft>
                <a:spcPts val="800"/>
              </a:spcAft>
            </a:pPr>
            <a:r>
              <a:rPr sz="1600" b="0" i="0">
                <a:solidFill>
                  <a:srgbClr val="B56A00"/>
                </a:solidFill>
                <a:latin typeface="Calibri"/>
              </a:rPr>
              <a:t>•  Honest boundary: on hub-aligned or near-universal-exploit regimes the edge is small or vanishes. We say so.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RESULTS</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Pareto dominance — infection vs availability</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28</a:t>
            </a:r>
          </a:p>
        </p:txBody>
      </p:sp>
      <p:pic>
        <p:nvPicPr>
          <p:cNvPr id="6" name="Picture 5" descr="pareto.png"/>
          <p:cNvPicPr>
            <a:picLocks noChangeAspect="1"/>
          </p:cNvPicPr>
          <p:nvPr/>
        </p:nvPicPr>
        <p:blipFill>
          <a:blip r:embed="rId2"/>
          <a:stretch>
            <a:fillRect/>
          </a:stretch>
        </p:blipFill>
        <p:spPr>
          <a:xfrm>
            <a:off x="3524097" y="1645920"/>
            <a:ext cx="5143500" cy="3566160"/>
          </a:xfrm>
          <a:prstGeom prst="rect">
            <a:avLst/>
          </a:prstGeom>
        </p:spPr>
      </p:pic>
      <p:sp>
        <p:nvSpPr>
          <p:cNvPr id="7" name="Rectangle 6"/>
          <p:cNvSpPr/>
          <p:nvPr/>
        </p:nvSpPr>
        <p:spPr>
          <a:xfrm>
            <a:off x="640080" y="5532120"/>
            <a:ext cx="10881360" cy="105156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623560"/>
            <a:ext cx="10424160" cy="914400"/>
          </a:xfrm>
          <a:prstGeom prst="rect">
            <a:avLst/>
          </a:prstGeom>
          <a:noFill/>
        </p:spPr>
        <p:txBody>
          <a:bodyPr wrap="square" anchor="ctr">
            <a:spAutoFit/>
          </a:bodyPr>
          <a:lstStyle/>
          <a:p>
            <a:pPr algn="l"/>
            <a:r>
              <a:rPr sz="1450" b="0" i="0">
                <a:solidFill>
                  <a:srgbClr val="252B33"/>
                </a:solidFill>
                <a:latin typeface="Calibri"/>
              </a:rPr>
              <a:t>How to read it:  each point = one defender at one budget. Down-and-right is better (less infection, more uptime). Content-aware sits in the bottom-right corner at EVERY budget — simultaneously lower-infection and higher-availability than every structural baseline.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RESULTS</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advantage scales with outbreak severity</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29</a:t>
            </a:r>
          </a:p>
        </p:txBody>
      </p:sp>
      <p:pic>
        <p:nvPicPr>
          <p:cNvPr id="6" name="Picture 5" descr="prevalence_curve.png"/>
          <p:cNvPicPr>
            <a:picLocks noChangeAspect="1"/>
          </p:cNvPicPr>
          <p:nvPr/>
        </p:nvPicPr>
        <p:blipFill>
          <a:blip r:embed="rId2"/>
          <a:stretch>
            <a:fillRect/>
          </a:stretch>
        </p:blipFill>
        <p:spPr>
          <a:xfrm>
            <a:off x="3188651" y="1645920"/>
            <a:ext cx="5814391" cy="3566160"/>
          </a:xfrm>
          <a:prstGeom prst="rect">
            <a:avLst/>
          </a:prstGeom>
        </p:spPr>
      </p:pic>
      <p:sp>
        <p:nvSpPr>
          <p:cNvPr id="7" name="Rectangle 6"/>
          <p:cNvSpPr/>
          <p:nvPr/>
        </p:nvSpPr>
        <p:spPr>
          <a:xfrm>
            <a:off x="640080" y="5532120"/>
            <a:ext cx="10881360" cy="105156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623560"/>
            <a:ext cx="10424160" cy="914400"/>
          </a:xfrm>
          <a:prstGeom prst="rect">
            <a:avLst/>
          </a:prstGeom>
          <a:noFill/>
        </p:spPr>
        <p:txBody>
          <a:bodyPr wrap="square" anchor="ctr">
            <a:spAutoFit/>
          </a:bodyPr>
          <a:lstStyle/>
          <a:p>
            <a:pPr algn="l"/>
            <a:r>
              <a:rPr sz="1450" b="0" i="0">
                <a:solidFill>
                  <a:srgbClr val="252B33"/>
                </a:solidFill>
                <a:latin typeface="Calibri"/>
              </a:rPr>
              <a:t>How to read it:  relative infection reduction vs the best structural baseline, across exploit-prevalence bands. It grows with severity. Honest: in the low-prevalence bands content-aware wins a MINORITY of individual trials and one band isn’t significant; significance grows with severity.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RESULTS — VS PRIOR WORK</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Head-to-head vs the CLOSEST prior systems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30</a:t>
            </a:r>
          </a:p>
        </p:txBody>
      </p:sp>
      <p:sp>
        <p:nvSpPr>
          <p:cNvPr id="6" name="Rectangle 5"/>
          <p:cNvSpPr/>
          <p:nvPr/>
        </p:nvSpPr>
        <p:spPr>
          <a:xfrm>
            <a:off x="655167" y="1783080"/>
            <a:ext cx="640080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4895" y="1783080"/>
            <a:ext cx="6199632" cy="457200"/>
          </a:xfrm>
          <a:prstGeom prst="rect">
            <a:avLst/>
          </a:prstGeom>
          <a:noFill/>
        </p:spPr>
        <p:txBody>
          <a:bodyPr wrap="square" anchor="ctr">
            <a:spAutoFit/>
          </a:bodyPr>
          <a:lstStyle/>
          <a:p>
            <a:pPr algn="l"/>
            <a:r>
              <a:rPr sz="1400" b="1" i="0">
                <a:solidFill>
                  <a:srgbClr val="FFFFFF"/>
                </a:solidFill>
                <a:latin typeface="Calibri"/>
              </a:rPr>
              <a:t>Defender (of this class)</a:t>
            </a:r>
          </a:p>
        </p:txBody>
      </p:sp>
      <p:sp>
        <p:nvSpPr>
          <p:cNvPr id="8" name="Rectangle 7"/>
          <p:cNvSpPr/>
          <p:nvPr/>
        </p:nvSpPr>
        <p:spPr>
          <a:xfrm>
            <a:off x="7055967" y="1783080"/>
            <a:ext cx="182880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65695" y="1783080"/>
            <a:ext cx="1627632" cy="457200"/>
          </a:xfrm>
          <a:prstGeom prst="rect">
            <a:avLst/>
          </a:prstGeom>
          <a:noFill/>
        </p:spPr>
        <p:txBody>
          <a:bodyPr wrap="square" anchor="ctr">
            <a:spAutoFit/>
          </a:bodyPr>
          <a:lstStyle/>
          <a:p>
            <a:pPr algn="ctr"/>
            <a:r>
              <a:rPr sz="1400" b="1" i="0">
                <a:solidFill>
                  <a:srgbClr val="FFFFFF"/>
                </a:solidFill>
                <a:latin typeface="Calibri"/>
              </a:rPr>
              <a:t>Infected ↓</a:t>
            </a:r>
          </a:p>
        </p:txBody>
      </p:sp>
      <p:sp>
        <p:nvSpPr>
          <p:cNvPr id="10" name="Rectangle 9"/>
          <p:cNvSpPr/>
          <p:nvPr/>
        </p:nvSpPr>
        <p:spPr>
          <a:xfrm>
            <a:off x="8884767" y="1783080"/>
            <a:ext cx="265176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94495" y="1783080"/>
            <a:ext cx="2450591" cy="457200"/>
          </a:xfrm>
          <a:prstGeom prst="rect">
            <a:avLst/>
          </a:prstGeom>
          <a:noFill/>
        </p:spPr>
        <p:txBody>
          <a:bodyPr wrap="square" anchor="ctr">
            <a:spAutoFit/>
          </a:bodyPr>
          <a:lstStyle/>
          <a:p>
            <a:pPr algn="ctr"/>
            <a:r>
              <a:rPr sz="1400" b="1" i="0">
                <a:solidFill>
                  <a:srgbClr val="FFFFFF"/>
                </a:solidFill>
                <a:latin typeface="Calibri"/>
              </a:rPr>
              <a:t>vs ours</a:t>
            </a:r>
          </a:p>
        </p:txBody>
      </p:sp>
      <p:sp>
        <p:nvSpPr>
          <p:cNvPr id="12" name="Rectangle 11"/>
          <p:cNvSpPr/>
          <p:nvPr/>
        </p:nvSpPr>
        <p:spPr>
          <a:xfrm>
            <a:off x="655167" y="2240280"/>
            <a:ext cx="640080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4895" y="2240280"/>
            <a:ext cx="6199632" cy="457200"/>
          </a:xfrm>
          <a:prstGeom prst="rect">
            <a:avLst/>
          </a:prstGeom>
          <a:noFill/>
        </p:spPr>
        <p:txBody>
          <a:bodyPr wrap="square" anchor="ctr">
            <a:spAutoFit/>
          </a:bodyPr>
          <a:lstStyle/>
          <a:p>
            <a:pPr algn="l"/>
            <a:r>
              <a:rPr sz="1400" b="0" i="0">
                <a:solidFill>
                  <a:srgbClr val="252B33"/>
                </a:solidFill>
                <a:latin typeface="Calibri"/>
              </a:rPr>
              <a:t>DAVA-style — data-aware but exploit-blind</a:t>
            </a:r>
          </a:p>
        </p:txBody>
      </p:sp>
      <p:sp>
        <p:nvSpPr>
          <p:cNvPr id="14" name="Rectangle 13"/>
          <p:cNvSpPr/>
          <p:nvPr/>
        </p:nvSpPr>
        <p:spPr>
          <a:xfrm>
            <a:off x="7055967" y="2240280"/>
            <a:ext cx="182880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65695" y="2240280"/>
            <a:ext cx="1627632" cy="457200"/>
          </a:xfrm>
          <a:prstGeom prst="rect">
            <a:avLst/>
          </a:prstGeom>
          <a:noFill/>
        </p:spPr>
        <p:txBody>
          <a:bodyPr wrap="square" anchor="ctr">
            <a:spAutoFit/>
          </a:bodyPr>
          <a:lstStyle/>
          <a:p>
            <a:pPr algn="ctr"/>
            <a:r>
              <a:rPr sz="1400" b="0" i="0">
                <a:solidFill>
                  <a:srgbClr val="252B33"/>
                </a:solidFill>
                <a:latin typeface="Calibri"/>
              </a:rPr>
              <a:t>1.70%</a:t>
            </a:r>
          </a:p>
        </p:txBody>
      </p:sp>
      <p:sp>
        <p:nvSpPr>
          <p:cNvPr id="16" name="Rectangle 15"/>
          <p:cNvSpPr/>
          <p:nvPr/>
        </p:nvSpPr>
        <p:spPr>
          <a:xfrm>
            <a:off x="8884767" y="2240280"/>
            <a:ext cx="265176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94495" y="2240280"/>
            <a:ext cx="2450591" cy="457200"/>
          </a:xfrm>
          <a:prstGeom prst="rect">
            <a:avLst/>
          </a:prstGeom>
          <a:noFill/>
        </p:spPr>
        <p:txBody>
          <a:bodyPr wrap="square" anchor="ctr">
            <a:spAutoFit/>
          </a:bodyPr>
          <a:lstStyle/>
          <a:p>
            <a:pPr algn="ctr"/>
            <a:r>
              <a:rPr sz="1400" b="0" i="0">
                <a:solidFill>
                  <a:srgbClr val="252B33"/>
                </a:solidFill>
                <a:latin typeface="Calibri"/>
              </a:rPr>
              <a:t>+43.8%  ·  p=2.8×10⁻⁴</a:t>
            </a:r>
          </a:p>
        </p:txBody>
      </p:sp>
      <p:sp>
        <p:nvSpPr>
          <p:cNvPr id="18" name="Rectangle 17"/>
          <p:cNvSpPr/>
          <p:nvPr/>
        </p:nvSpPr>
        <p:spPr>
          <a:xfrm>
            <a:off x="655167" y="2697480"/>
            <a:ext cx="640080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4895" y="2697480"/>
            <a:ext cx="6199632" cy="457200"/>
          </a:xfrm>
          <a:prstGeom prst="rect">
            <a:avLst/>
          </a:prstGeom>
          <a:noFill/>
        </p:spPr>
        <p:txBody>
          <a:bodyPr wrap="square" anchor="ctr">
            <a:spAutoFit/>
          </a:bodyPr>
          <a:lstStyle/>
          <a:p>
            <a:pPr algn="l"/>
            <a:r>
              <a:rPr sz="1400" b="0" i="0">
                <a:solidFill>
                  <a:srgbClr val="252B33"/>
                </a:solidFill>
                <a:latin typeface="Calibri"/>
              </a:rPr>
              <a:t>CyGym-style — static prior, no online update</a:t>
            </a:r>
          </a:p>
        </p:txBody>
      </p:sp>
      <p:sp>
        <p:nvSpPr>
          <p:cNvPr id="20" name="Rectangle 19"/>
          <p:cNvSpPr/>
          <p:nvPr/>
        </p:nvSpPr>
        <p:spPr>
          <a:xfrm>
            <a:off x="7055967" y="2697480"/>
            <a:ext cx="182880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65695" y="2697480"/>
            <a:ext cx="1627632" cy="457200"/>
          </a:xfrm>
          <a:prstGeom prst="rect">
            <a:avLst/>
          </a:prstGeom>
          <a:noFill/>
        </p:spPr>
        <p:txBody>
          <a:bodyPr wrap="square" anchor="ctr">
            <a:spAutoFit/>
          </a:bodyPr>
          <a:lstStyle/>
          <a:p>
            <a:pPr algn="ctr"/>
            <a:r>
              <a:rPr sz="1400" b="0" i="0">
                <a:solidFill>
                  <a:srgbClr val="252B33"/>
                </a:solidFill>
                <a:latin typeface="Calibri"/>
              </a:rPr>
              <a:t>1.15%</a:t>
            </a:r>
          </a:p>
        </p:txBody>
      </p:sp>
      <p:sp>
        <p:nvSpPr>
          <p:cNvPr id="22" name="Rectangle 21"/>
          <p:cNvSpPr/>
          <p:nvPr/>
        </p:nvSpPr>
        <p:spPr>
          <a:xfrm>
            <a:off x="8884767" y="2697480"/>
            <a:ext cx="265176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4495" y="2697480"/>
            <a:ext cx="2450591" cy="457200"/>
          </a:xfrm>
          <a:prstGeom prst="rect">
            <a:avLst/>
          </a:prstGeom>
          <a:noFill/>
        </p:spPr>
        <p:txBody>
          <a:bodyPr wrap="square" anchor="ctr">
            <a:spAutoFit/>
          </a:bodyPr>
          <a:lstStyle/>
          <a:p>
            <a:pPr algn="ctr"/>
            <a:r>
              <a:rPr sz="1400" b="0" i="0">
                <a:solidFill>
                  <a:srgbClr val="252B33"/>
                </a:solidFill>
                <a:latin typeface="Calibri"/>
              </a:rPr>
              <a:t>+16.6%  ·  p=1.1×10⁻²</a:t>
            </a:r>
          </a:p>
        </p:txBody>
      </p:sp>
      <p:sp>
        <p:nvSpPr>
          <p:cNvPr id="24" name="Rectangle 23"/>
          <p:cNvSpPr/>
          <p:nvPr/>
        </p:nvSpPr>
        <p:spPr>
          <a:xfrm>
            <a:off x="655167" y="3154680"/>
            <a:ext cx="6400800"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4895" y="3154680"/>
            <a:ext cx="6199632" cy="457200"/>
          </a:xfrm>
          <a:prstGeom prst="rect">
            <a:avLst/>
          </a:prstGeom>
          <a:noFill/>
        </p:spPr>
        <p:txBody>
          <a:bodyPr wrap="square" anchor="ctr">
            <a:spAutoFit/>
          </a:bodyPr>
          <a:lstStyle/>
          <a:p>
            <a:pPr algn="l"/>
            <a:r>
              <a:rPr sz="1400" b="1" i="0">
                <a:solidFill>
                  <a:srgbClr val="1B7F4B"/>
                </a:solidFill>
                <a:latin typeface="Calibri"/>
              </a:rPr>
              <a:t>SERUM — content-aware (ours)</a:t>
            </a:r>
          </a:p>
        </p:txBody>
      </p:sp>
      <p:sp>
        <p:nvSpPr>
          <p:cNvPr id="26" name="Rectangle 25"/>
          <p:cNvSpPr/>
          <p:nvPr/>
        </p:nvSpPr>
        <p:spPr>
          <a:xfrm>
            <a:off x="7055967" y="3154680"/>
            <a:ext cx="1828800"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65695" y="3154680"/>
            <a:ext cx="1627632" cy="457200"/>
          </a:xfrm>
          <a:prstGeom prst="rect">
            <a:avLst/>
          </a:prstGeom>
          <a:noFill/>
        </p:spPr>
        <p:txBody>
          <a:bodyPr wrap="square" anchor="ctr">
            <a:spAutoFit/>
          </a:bodyPr>
          <a:lstStyle/>
          <a:p>
            <a:pPr algn="ctr"/>
            <a:r>
              <a:rPr sz="1400" b="1" i="0">
                <a:solidFill>
                  <a:srgbClr val="1B7F4B"/>
                </a:solidFill>
                <a:latin typeface="Calibri"/>
              </a:rPr>
              <a:t>0.95%</a:t>
            </a:r>
          </a:p>
        </p:txBody>
      </p:sp>
      <p:sp>
        <p:nvSpPr>
          <p:cNvPr id="28" name="Rectangle 27"/>
          <p:cNvSpPr/>
          <p:nvPr/>
        </p:nvSpPr>
        <p:spPr>
          <a:xfrm>
            <a:off x="8884767" y="3154680"/>
            <a:ext cx="2651760" cy="457200"/>
          </a:xfrm>
          <a:prstGeom prst="rect">
            <a:avLst/>
          </a:prstGeom>
          <a:solidFill>
            <a:srgbClr val="E3F1E8"/>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94495" y="3154680"/>
            <a:ext cx="2450591" cy="457200"/>
          </a:xfrm>
          <a:prstGeom prst="rect">
            <a:avLst/>
          </a:prstGeom>
          <a:noFill/>
        </p:spPr>
        <p:txBody>
          <a:bodyPr wrap="square" anchor="ctr">
            <a:spAutoFit/>
          </a:bodyPr>
          <a:lstStyle/>
          <a:p>
            <a:pPr algn="ctr"/>
            <a:r>
              <a:rPr sz="1400" b="1" i="0">
                <a:solidFill>
                  <a:srgbClr val="1B7F4B"/>
                </a:solidFill>
                <a:latin typeface="Calibri"/>
              </a:rPr>
              <a:t>—</a:t>
            </a:r>
          </a:p>
        </p:txBody>
      </p:sp>
      <p:sp>
        <p:nvSpPr>
          <p:cNvPr id="30" name="Rectangle 29"/>
          <p:cNvSpPr/>
          <p:nvPr/>
        </p:nvSpPr>
        <p:spPr>
          <a:xfrm>
            <a:off x="640080" y="3813048"/>
            <a:ext cx="10881360" cy="109728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3886200"/>
            <a:ext cx="10424160" cy="932688"/>
          </a:xfrm>
          <a:prstGeom prst="rect">
            <a:avLst/>
          </a:prstGeom>
          <a:noFill/>
        </p:spPr>
        <p:txBody>
          <a:bodyPr wrap="square" anchor="ctr">
            <a:spAutoFit/>
          </a:bodyPr>
          <a:lstStyle/>
          <a:p>
            <a:pPr algn="l"/>
            <a:r>
              <a:rPr sz="1450" b="0" i="0">
                <a:solidFill>
                  <a:srgbClr val="252B33"/>
                </a:solidFill>
                <a:latin typeface="Calibri"/>
              </a:rPr>
              <a:t>What it means:  We beat BOTH nearest systems. DAVA even underperforms plain degree — vaccinating exposed-but-non-exploitable hosts wastes budget, i.e. the thesis. Honest scope: these are faithful reimplementations of each system’s STANCE, not the full originals — a fair caveat we state, with a released-code port as the follow-up.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ANALYSIS</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When does the ONLINE inference actually matter?</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31</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Honest finding: content-AWARENESS is the driver; the online UPDATE is a smaller refinement.</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Under a GOOD prior, online updating beats a frozen (static) prior by only +0.19pp — consistent with our ablation that freezing the belief costs almost nothing.</a:t>
            </a:r>
          </a:p>
          <a:p>
            <a:pPr>
              <a:spcAft>
                <a:spcPts val="800"/>
              </a:spcAft>
            </a:pPr>
            <a:r>
              <a:rPr sz="1700" b="0" i="0">
                <a:solidFill>
                  <a:srgbClr val="252B33"/>
                </a:solidFill>
                <a:latin typeface="Calibri"/>
              </a:rPr>
              <a:t>•  It earns its keep when the prior is WRONG: under a deliberately misleading prior, the edge roughly DOUBLES to +0.44pp (p=1.8×10⁻²).</a:t>
            </a:r>
          </a:p>
          <a:p>
            <a:pPr>
              <a:spcAft>
                <a:spcPts val="800"/>
              </a:spcAft>
            </a:pPr>
            <a:r>
              <a:rPr sz="1600" b="0" i="0">
                <a:solidFill>
                  <a:srgbClr val="B56A00"/>
                </a:solidFill>
                <a:latin typeface="Calibri"/>
              </a:rPr>
              <a:t>•  So online inference is a refinement that matters most under bad threat intel — NOT the main source of the win. We say this plainly rather than overselling ‘online inference’.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7</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Robustness</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Can an attacker defeat the defender by attacking its inference?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ROBUSTNESS</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Attacking the inference BACKFIRES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32</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An attacker who picks a hard-to-identify (confusable) payload does not help itself.</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Intuition from the subset-order theory: a confusable exploit’s victims are a SUBSET of its confuser’s victims.</a:t>
            </a:r>
          </a:p>
          <a:p>
            <a:pPr>
              <a:spcAft>
                <a:spcPts val="800"/>
              </a:spcAft>
            </a:pPr>
            <a:r>
              <a:rPr sz="1700" b="0" i="0">
                <a:solidFill>
                  <a:srgbClr val="252B33"/>
                </a:solidFill>
                <a:latin typeface="Calibri"/>
              </a:rPr>
              <a:t>•  So even a hedged belief that can’t tell them apart still DEFENDS the true victims — they’re inside the set it’s protecting.</a:t>
            </a:r>
          </a:p>
          <a:p>
            <a:pPr>
              <a:spcAft>
                <a:spcPts val="800"/>
              </a:spcAft>
            </a:pPr>
            <a:r>
              <a:rPr sz="1700" b="0" i="0">
                <a:solidFill>
                  <a:srgbClr val="252B33"/>
                </a:solidFill>
                <a:latin typeface="Calibri"/>
              </a:rPr>
              <a:t>•  Empirically the content-aware edge is actually LARGER under an evasive attacker (+22.4%) than a random one (+17.7%).</a:t>
            </a:r>
          </a:p>
          <a:p>
            <a:pPr>
              <a:spcAft>
                <a:spcPts val="800"/>
              </a:spcAft>
            </a:pPr>
            <a:r>
              <a:rPr sz="1600" b="0" i="0">
                <a:solidFill>
                  <a:srgbClr val="1B7F4B"/>
                </a:solidFill>
                <a:latin typeface="Calibri"/>
              </a:rPr>
              <a:t>•  Inference-evasion is not a winning strategy. This is a structural guarantee, not luck.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ROBUSTNESS</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Belief poisoning, and the honest limit</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33</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A stronger attacker plants FAKE infections to mislead the belief. Here’s what actually happens.</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The fix: a RobustAgent audits its belief against the real spread and hedges toward structure-only defense when they stop matching — poisoning is one-shot, the real worm keeps revealing the truth.</a:t>
            </a:r>
          </a:p>
          <a:p>
            <a:pPr>
              <a:spcAft>
                <a:spcPts val="800"/>
              </a:spcAft>
            </a:pPr>
            <a:r>
              <a:rPr sz="1700" b="0" i="0">
                <a:solidFill>
                  <a:srgbClr val="252B33"/>
                </a:solidFill>
                <a:latin typeface="Calibri"/>
              </a:rPr>
              <a:t>•  Against a white-box, audit-AWARE adaptive poisoner, it holds up to a poisoning budget of 6% of the fleet; only at an extreme 10% does the attacker gain a small edge (which fails multiple-comparison correction).</a:t>
            </a:r>
          </a:p>
          <a:p>
            <a:pPr>
              <a:spcAft>
                <a:spcPts val="800"/>
              </a:spcAft>
            </a:pPr>
            <a:r>
              <a:rPr sz="1500" b="0" i="0">
                <a:solidFill>
                  <a:srgbClr val="B56A00"/>
                </a:solidFill>
                <a:latin typeface="Calibri"/>
              </a:rPr>
              <a:t>•  HONEST framing: this is GRACEFUL DEGRADATION, not a robustness win. Under poisoning the content-aware advantage evaporates and the agent falls back to — never below — structure-only. It’s a safety net, not superiority under attack.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ROBUSTNESS / THREATS TO VALIDITY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Two more robustness stresses</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34</a:t>
            </a:r>
          </a:p>
        </p:txBody>
      </p:sp>
      <p:sp>
        <p:nvSpPr>
          <p:cNvPr id="6" name="Rectangle 5"/>
          <p:cNvSpPr/>
          <p:nvPr/>
        </p:nvSpPr>
        <p:spPr>
          <a:xfrm>
            <a:off x="640080" y="1691640"/>
            <a:ext cx="5166360" cy="502920"/>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166360" cy="502920"/>
          </a:xfrm>
          <a:prstGeom prst="rect">
            <a:avLst/>
          </a:prstGeom>
          <a:noFill/>
        </p:spPr>
        <p:txBody>
          <a:bodyPr wrap="square" anchor="ctr">
            <a:spAutoFit/>
          </a:bodyPr>
          <a:lstStyle/>
          <a:p>
            <a:pPr algn="ctr"/>
            <a:r>
              <a:rPr sz="1600" b="1" i="0">
                <a:solidFill>
                  <a:srgbClr val="FFFFFF"/>
                </a:solidFill>
                <a:latin typeface="Calibri"/>
              </a:rPr>
              <a:t>Imperfect detection sensors</a:t>
            </a:r>
          </a:p>
        </p:txBody>
      </p:sp>
      <p:sp>
        <p:nvSpPr>
          <p:cNvPr id="8" name="TextBox 7"/>
          <p:cNvSpPr txBox="1"/>
          <p:nvPr/>
        </p:nvSpPr>
        <p:spPr>
          <a:xfrm>
            <a:off x="640080" y="2331720"/>
            <a:ext cx="5166360" cy="4023360"/>
          </a:xfrm>
          <a:prstGeom prst="rect">
            <a:avLst/>
          </a:prstGeom>
          <a:noFill/>
        </p:spPr>
        <p:txBody>
          <a:bodyPr wrap="square">
            <a:spAutoFit/>
          </a:bodyPr>
          <a:lstStyle/>
          <a:p>
            <a:pPr>
              <a:spcAft>
                <a:spcPts val="800"/>
              </a:spcAft>
            </a:pPr>
            <a:r>
              <a:rPr sz="1550" b="0" i="0">
                <a:solidFill>
                  <a:srgbClr val="252B33"/>
                </a:solidFill>
                <a:latin typeface="Calibri"/>
              </a:rPr>
              <a:t>•  Model missed detections + persistent false alarms.</a:t>
            </a:r>
          </a:p>
          <a:p>
            <a:pPr>
              <a:spcAft>
                <a:spcPts val="800"/>
              </a:spcAft>
            </a:pPr>
            <a:r>
              <a:rPr sz="1550" b="0" i="0">
                <a:solidFill>
                  <a:srgbClr val="252B33"/>
                </a:solidFill>
                <a:latin typeface="Calibri"/>
              </a:rPr>
              <a:t>•  Content-aware degrades GRACEFULLY: positive edge at 9 of 10 noise points.</a:t>
            </a:r>
          </a:p>
          <a:p>
            <a:pPr>
              <a:spcAft>
                <a:spcPts val="800"/>
              </a:spcAft>
            </a:pPr>
            <a:r>
              <a:rPr sz="1550" b="0" i="0">
                <a:solidFill>
                  <a:srgbClr val="252B33"/>
                </a:solidFill>
                <a:latin typeface="Calibri"/>
              </a:rPr>
              <a:t>•  False alarms (which poison the belief) are the sensitive channel.</a:t>
            </a:r>
          </a:p>
          <a:p>
            <a:pPr>
              <a:spcAft>
                <a:spcPts val="800"/>
              </a:spcAft>
            </a:pPr>
            <a:r>
              <a:rPr sz="1550" b="0" i="0">
                <a:solidFill>
                  <a:srgbClr val="252B33"/>
                </a:solidFill>
                <a:latin typeface="Calibri"/>
              </a:rPr>
              <a:t>•  Not a new significant win — a graceful-degradation result.</a:t>
            </a:r>
          </a:p>
        </p:txBody>
      </p:sp>
      <p:sp>
        <p:nvSpPr>
          <p:cNvPr id="9" name="Rectangle 8"/>
          <p:cNvSpPr/>
          <p:nvPr/>
        </p:nvSpPr>
        <p:spPr>
          <a:xfrm>
            <a:off x="6355080" y="1691640"/>
            <a:ext cx="5166360" cy="502920"/>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691640"/>
            <a:ext cx="5166360" cy="502920"/>
          </a:xfrm>
          <a:prstGeom prst="rect">
            <a:avLst/>
          </a:prstGeom>
          <a:noFill/>
        </p:spPr>
        <p:txBody>
          <a:bodyPr wrap="square" anchor="ctr">
            <a:spAutoFit/>
          </a:bodyPr>
          <a:lstStyle/>
          <a:p>
            <a:pPr algn="ctr"/>
            <a:r>
              <a:rPr sz="1600" b="1" i="0">
                <a:solidFill>
                  <a:srgbClr val="FFFFFF"/>
                </a:solidFill>
                <a:latin typeface="Calibri"/>
              </a:rPr>
              <a:t>Is the win a manufactured artifact?</a:t>
            </a:r>
          </a:p>
        </p:txBody>
      </p:sp>
      <p:sp>
        <p:nvSpPr>
          <p:cNvPr id="11" name="TextBox 10"/>
          <p:cNvSpPr txBox="1"/>
          <p:nvPr/>
        </p:nvSpPr>
        <p:spPr>
          <a:xfrm>
            <a:off x="6355080" y="2331720"/>
            <a:ext cx="5166360" cy="4023360"/>
          </a:xfrm>
          <a:prstGeom prst="rect">
            <a:avLst/>
          </a:prstGeom>
          <a:noFill/>
        </p:spPr>
        <p:txBody>
          <a:bodyPr wrap="square">
            <a:spAutoFit/>
          </a:bodyPr>
          <a:lstStyle/>
          <a:p>
            <a:pPr>
              <a:spcAft>
                <a:spcPts val="800"/>
              </a:spcAft>
            </a:pPr>
            <a:r>
              <a:rPr sz="1550" b="0" i="0">
                <a:solidFill>
                  <a:srgbClr val="252B33"/>
                </a:solidFill>
                <a:latin typeface="Calibri"/>
              </a:rPr>
              <a:t>•  Worry: the ‘homophily’ knob manufactures the favorable regime.</a:t>
            </a:r>
          </a:p>
          <a:p>
            <a:pPr>
              <a:spcAft>
                <a:spcPts val="800"/>
              </a:spcAft>
            </a:pPr>
            <a:r>
              <a:rPr sz="1550" b="0" i="0">
                <a:solidFill>
                  <a:srgbClr val="252B33"/>
                </a:solidFill>
                <a:latin typeface="Calibri"/>
              </a:rPr>
              <a:t>•  We sweep it 0→0.8. Surprise: the edge is significant even at 0 (no monoculture).</a:t>
            </a:r>
          </a:p>
          <a:p>
            <a:pPr>
              <a:spcAft>
                <a:spcPts val="800"/>
              </a:spcAft>
            </a:pPr>
            <a:r>
              <a:rPr sz="1550" b="0" i="0">
                <a:solidFill>
                  <a:srgbClr val="252B33"/>
                </a:solidFill>
                <a:latin typeface="Calibri"/>
              </a:rPr>
              <a:t>•  So it’s NOT a knob artifact — homophily only controls spatial clustering.</a:t>
            </a:r>
          </a:p>
          <a:p>
            <a:pPr>
              <a:spcAft>
                <a:spcPts val="800"/>
              </a:spcAft>
            </a:pPr>
            <a:r>
              <a:rPr sz="1550" b="0" i="0">
                <a:solidFill>
                  <a:srgbClr val="252B33"/>
                </a:solidFill>
                <a:latin typeface="Calibri"/>
              </a:rPr>
              <a:t>•  Honest: this rebuts the KNOB worry, not the semi-synthetic-data limitation.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8</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Breadth</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The framework generalizes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BREADTH</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Application &amp; learned policy</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35</a:t>
            </a:r>
          </a:p>
        </p:txBody>
      </p:sp>
      <p:sp>
        <p:nvSpPr>
          <p:cNvPr id="6" name="Rectangle 5"/>
          <p:cNvSpPr/>
          <p:nvPr/>
        </p:nvSpPr>
        <p:spPr>
          <a:xfrm>
            <a:off x="640080" y="1691640"/>
            <a:ext cx="5166360" cy="502920"/>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166360" cy="502920"/>
          </a:xfrm>
          <a:prstGeom prst="rect">
            <a:avLst/>
          </a:prstGeom>
          <a:noFill/>
        </p:spPr>
        <p:txBody>
          <a:bodyPr wrap="square" anchor="ctr">
            <a:spAutoFit/>
          </a:bodyPr>
          <a:lstStyle/>
          <a:p>
            <a:pPr algn="ctr"/>
            <a:r>
              <a:rPr sz="1600" b="1" i="0">
                <a:solidFill>
                  <a:srgbClr val="FFFFFF"/>
                </a:solidFill>
                <a:latin typeface="Calibri"/>
              </a:rPr>
              <a:t>IoT botnet (Mirai-style)</a:t>
            </a:r>
          </a:p>
        </p:txBody>
      </p:sp>
      <p:sp>
        <p:nvSpPr>
          <p:cNvPr id="8" name="TextBox 7"/>
          <p:cNvSpPr txBox="1"/>
          <p:nvPr/>
        </p:nvSpPr>
        <p:spPr>
          <a:xfrm>
            <a:off x="640080" y="2331720"/>
            <a:ext cx="5166360" cy="4023360"/>
          </a:xfrm>
          <a:prstGeom prst="rect">
            <a:avLst/>
          </a:prstGeom>
          <a:noFill/>
        </p:spPr>
        <p:txBody>
          <a:bodyPr wrap="square">
            <a:spAutoFit/>
          </a:bodyPr>
          <a:lstStyle/>
          <a:p>
            <a:pPr>
              <a:spcAft>
                <a:spcPts val="800"/>
              </a:spcAft>
            </a:pPr>
            <a:r>
              <a:rPr sz="1550" b="0" i="0">
                <a:solidFill>
                  <a:srgbClr val="252B33"/>
                </a:solidFill>
                <a:latin typeface="Calibri"/>
              </a:rPr>
              <a:t>•  Device-type firmware monoculture; payload targets default telnet credentials.</a:t>
            </a:r>
          </a:p>
          <a:p>
            <a:pPr>
              <a:spcAft>
                <a:spcPts val="800"/>
              </a:spcAft>
            </a:pPr>
            <a:r>
              <a:rPr sz="1550" b="0" i="0">
                <a:solidFill>
                  <a:srgbClr val="252B33"/>
                </a:solidFill>
                <a:latin typeface="Calibri"/>
              </a:rPr>
              <a:t>•  Host value = uplink Mbps, so ‘blast radius’ = the DDoS capacity a botnet conscripts.</a:t>
            </a:r>
          </a:p>
          <a:p>
            <a:pPr>
              <a:spcAft>
                <a:spcPts val="800"/>
              </a:spcAft>
            </a:pPr>
            <a:r>
              <a:rPr sz="1550" b="0" i="0">
                <a:solidFill>
                  <a:srgbClr val="252B33"/>
                </a:solidFill>
                <a:latin typeface="Calibri"/>
              </a:rPr>
              <a:t>•  Content-aware cuts DDoS blast −8.71pp vs degree (20/20 wins), higher availability.</a:t>
            </a:r>
          </a:p>
          <a:p>
            <a:pPr>
              <a:spcAft>
                <a:spcPts val="800"/>
              </a:spcAft>
            </a:pPr>
            <a:r>
              <a:rPr sz="1550" b="0" i="0">
                <a:solidFill>
                  <a:srgbClr val="252B33"/>
                </a:solidFill>
                <a:latin typeface="Calibri"/>
              </a:rPr>
              <a:t>•  Absolute infection stays high — tight-budget Mirai does form botnets; read the deltas.</a:t>
            </a:r>
          </a:p>
        </p:txBody>
      </p:sp>
      <p:sp>
        <p:nvSpPr>
          <p:cNvPr id="9" name="Rectangle 8"/>
          <p:cNvSpPr/>
          <p:nvPr/>
        </p:nvSpPr>
        <p:spPr>
          <a:xfrm>
            <a:off x="6355080" y="1691640"/>
            <a:ext cx="5166360" cy="502920"/>
          </a:xfrm>
          <a:prstGeom prst="rect">
            <a:avLst/>
          </a:prstGeom>
          <a:solidFill>
            <a:srgbClr val="1F3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691640"/>
            <a:ext cx="5166360" cy="502920"/>
          </a:xfrm>
          <a:prstGeom prst="rect">
            <a:avLst/>
          </a:prstGeom>
          <a:noFill/>
        </p:spPr>
        <p:txBody>
          <a:bodyPr wrap="square" anchor="ctr">
            <a:spAutoFit/>
          </a:bodyPr>
          <a:lstStyle/>
          <a:p>
            <a:pPr algn="ctr"/>
            <a:r>
              <a:rPr sz="1600" b="1" i="0">
                <a:solidFill>
                  <a:srgbClr val="FFFFFF"/>
                </a:solidFill>
                <a:latin typeface="Calibri"/>
              </a:rPr>
              <a:t>Learned policy (validation, not headline)</a:t>
            </a:r>
          </a:p>
        </p:txBody>
      </p:sp>
      <p:sp>
        <p:nvSpPr>
          <p:cNvPr id="11" name="TextBox 10"/>
          <p:cNvSpPr txBox="1"/>
          <p:nvPr/>
        </p:nvSpPr>
        <p:spPr>
          <a:xfrm>
            <a:off x="6355080" y="2331720"/>
            <a:ext cx="5166360" cy="4023360"/>
          </a:xfrm>
          <a:prstGeom prst="rect">
            <a:avLst/>
          </a:prstGeom>
          <a:noFill/>
        </p:spPr>
        <p:txBody>
          <a:bodyPr wrap="square">
            <a:spAutoFit/>
          </a:bodyPr>
          <a:lstStyle/>
          <a:p>
            <a:pPr>
              <a:spcAft>
                <a:spcPts val="800"/>
              </a:spcAft>
            </a:pPr>
            <a:r>
              <a:rPr sz="1550" b="0" i="0">
                <a:solidFill>
                  <a:srgbClr val="252B33"/>
                </a:solidFill>
                <a:latin typeface="Calibri"/>
              </a:rPr>
              <a:t>•  A cross-entropy-method policy over belief-augmented features…</a:t>
            </a:r>
          </a:p>
          <a:p>
            <a:pPr>
              <a:spcAft>
                <a:spcPts val="800"/>
              </a:spcAft>
            </a:pPr>
            <a:r>
              <a:rPr sz="1550" b="0" i="0">
                <a:solidFill>
                  <a:srgbClr val="252B33"/>
                </a:solidFill>
                <a:latin typeface="Calibri"/>
              </a:rPr>
              <a:t>•  …matches the hand-designed agent (1.09% vs 1.04%) and beats degree/betweenness.</a:t>
            </a:r>
          </a:p>
          <a:p>
            <a:pPr>
              <a:spcAft>
                <a:spcPts val="800"/>
              </a:spcAft>
            </a:pPr>
            <a:r>
              <a:rPr sz="1550" b="0" i="0">
                <a:solidFill>
                  <a:srgbClr val="252B33"/>
                </a:solidFill>
                <a:latin typeface="Calibri"/>
              </a:rPr>
              <a:t>•  It independently learns to weight the belief features most — validating the design.</a:t>
            </a:r>
          </a:p>
          <a:p>
            <a:pPr>
              <a:spcAft>
                <a:spcPts val="800"/>
              </a:spcAft>
            </a:pPr>
            <a:r>
              <a:rPr sz="1550" b="0" i="0">
                <a:solidFill>
                  <a:srgbClr val="252B33"/>
                </a:solidFill>
                <a:latin typeface="Calibri"/>
              </a:rPr>
              <a:t>•  This is learning UNDER exploit uncertainty, not vanilla GNN-RL immunization.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9</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Positioning &amp; Honesty</a:t>
            </a:r>
          </a:p>
        </p:txBody>
      </p:sp>
      <p:sp>
        <p:nvSpPr>
          <p:cNvPr id="4" name="TextBox 3"/>
          <p:cNvSpPr txBox="1"/>
          <p:nvPr/>
        </p:nvSpPr>
        <p:spPr>
          <a:xfrm>
            <a:off x="822960" y="4297680"/>
            <a:ext cx="10515600" cy="1097280"/>
          </a:xfrm>
          <a:prstGeom prst="rect">
            <a:avLst/>
          </a:prstGeom>
          <a:noFill/>
        </p:spPr>
        <p:txBody>
          <a:bodyPr wrap="square" anchor="t">
            <a:spAutoFit/>
          </a:bodyPr>
          <a:lstStyle/>
          <a:p>
            <a:pPr algn="l"/>
            <a:r>
              <a:rPr sz="1900" b="0" i="1">
                <a:solidFill>
                  <a:srgbClr val="C7D6EC"/>
                </a:solidFill>
                <a:latin typeface="Calibri"/>
              </a:rPr>
              <a:t>Nearest work, and the limits we own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RELATED WORK</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The three nearest systems — cite, then differentiate</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36</a:t>
            </a:r>
          </a:p>
        </p:txBody>
      </p:sp>
      <p:sp>
        <p:nvSpPr>
          <p:cNvPr id="6" name="Rectangle 5"/>
          <p:cNvSpPr/>
          <p:nvPr/>
        </p:nvSpPr>
        <p:spPr>
          <a:xfrm>
            <a:off x="655167" y="1783080"/>
            <a:ext cx="265176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4895" y="1783080"/>
            <a:ext cx="2450591" cy="457200"/>
          </a:xfrm>
          <a:prstGeom prst="rect">
            <a:avLst/>
          </a:prstGeom>
          <a:noFill/>
        </p:spPr>
        <p:txBody>
          <a:bodyPr wrap="square" anchor="ctr">
            <a:spAutoFit/>
          </a:bodyPr>
          <a:lstStyle/>
          <a:p>
            <a:pPr algn="l"/>
            <a:r>
              <a:rPr sz="1400" b="1" i="0">
                <a:solidFill>
                  <a:srgbClr val="FFFFFF"/>
                </a:solidFill>
                <a:latin typeface="Calibri"/>
              </a:rPr>
              <a:t>Prior work</a:t>
            </a:r>
          </a:p>
        </p:txBody>
      </p:sp>
      <p:sp>
        <p:nvSpPr>
          <p:cNvPr id="8" name="Rectangle 7"/>
          <p:cNvSpPr/>
          <p:nvPr/>
        </p:nvSpPr>
        <p:spPr>
          <a:xfrm>
            <a:off x="3306927" y="1783080"/>
            <a:ext cx="411480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16655" y="1783080"/>
            <a:ext cx="3913632" cy="457200"/>
          </a:xfrm>
          <a:prstGeom prst="rect">
            <a:avLst/>
          </a:prstGeom>
          <a:noFill/>
        </p:spPr>
        <p:txBody>
          <a:bodyPr wrap="square" anchor="ctr">
            <a:spAutoFit/>
          </a:bodyPr>
          <a:lstStyle/>
          <a:p>
            <a:pPr algn="ctr"/>
            <a:r>
              <a:rPr sz="1400" b="1" i="0">
                <a:solidFill>
                  <a:srgbClr val="FFFFFF"/>
                </a:solidFill>
                <a:latin typeface="Calibri"/>
              </a:rPr>
              <a:t>What it shares with SERUM</a:t>
            </a:r>
          </a:p>
        </p:txBody>
      </p:sp>
      <p:sp>
        <p:nvSpPr>
          <p:cNvPr id="10" name="Rectangle 9"/>
          <p:cNvSpPr/>
          <p:nvPr/>
        </p:nvSpPr>
        <p:spPr>
          <a:xfrm>
            <a:off x="7421727" y="1783080"/>
            <a:ext cx="4114800" cy="457200"/>
          </a:xfrm>
          <a:prstGeom prst="rect">
            <a:avLst/>
          </a:prstGeom>
          <a:solidFill>
            <a:srgbClr val="1F355E"/>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31455" y="1783080"/>
            <a:ext cx="3913632" cy="457200"/>
          </a:xfrm>
          <a:prstGeom prst="rect">
            <a:avLst/>
          </a:prstGeom>
          <a:noFill/>
        </p:spPr>
        <p:txBody>
          <a:bodyPr wrap="square" anchor="ctr">
            <a:spAutoFit/>
          </a:bodyPr>
          <a:lstStyle/>
          <a:p>
            <a:pPr algn="ctr"/>
            <a:r>
              <a:rPr sz="1400" b="1" i="0">
                <a:solidFill>
                  <a:srgbClr val="FFFFFF"/>
                </a:solidFill>
                <a:latin typeface="Calibri"/>
              </a:rPr>
              <a:t>The gap SERUM fills</a:t>
            </a:r>
          </a:p>
        </p:txBody>
      </p:sp>
      <p:sp>
        <p:nvSpPr>
          <p:cNvPr id="12" name="Rectangle 11"/>
          <p:cNvSpPr/>
          <p:nvPr/>
        </p:nvSpPr>
        <p:spPr>
          <a:xfrm>
            <a:off x="655167" y="2240280"/>
            <a:ext cx="265176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4895" y="2240280"/>
            <a:ext cx="2450591" cy="457200"/>
          </a:xfrm>
          <a:prstGeom prst="rect">
            <a:avLst/>
          </a:prstGeom>
          <a:noFill/>
        </p:spPr>
        <p:txBody>
          <a:bodyPr wrap="square" anchor="ctr">
            <a:spAutoFit/>
          </a:bodyPr>
          <a:lstStyle/>
          <a:p>
            <a:pPr algn="l"/>
            <a:r>
              <a:rPr sz="1400" b="0" i="0">
                <a:solidFill>
                  <a:srgbClr val="252B33"/>
                </a:solidFill>
                <a:latin typeface="Calibri"/>
              </a:rPr>
              <a:t>CyGym (2025)</a:t>
            </a:r>
          </a:p>
        </p:txBody>
      </p:sp>
      <p:sp>
        <p:nvSpPr>
          <p:cNvPr id="14" name="Rectangle 13"/>
          <p:cNvSpPr/>
          <p:nvPr/>
        </p:nvSpPr>
        <p:spPr>
          <a:xfrm>
            <a:off x="3306927" y="2240280"/>
            <a:ext cx="411480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16655" y="2240280"/>
            <a:ext cx="3913632" cy="457200"/>
          </a:xfrm>
          <a:prstGeom prst="rect">
            <a:avLst/>
          </a:prstGeom>
          <a:noFill/>
        </p:spPr>
        <p:txBody>
          <a:bodyPr wrap="square" anchor="ctr">
            <a:spAutoFit/>
          </a:bodyPr>
          <a:lstStyle/>
          <a:p>
            <a:pPr algn="ctr"/>
            <a:r>
              <a:rPr sz="1400" b="0" i="0">
                <a:solidFill>
                  <a:srgbClr val="252B33"/>
                </a:solidFill>
                <a:latin typeface="Calibri"/>
              </a:rPr>
              <a:t>vuln-gated spread + a cost model</a:t>
            </a:r>
          </a:p>
        </p:txBody>
      </p:sp>
      <p:sp>
        <p:nvSpPr>
          <p:cNvPr id="16" name="Rectangle 15"/>
          <p:cNvSpPr/>
          <p:nvPr/>
        </p:nvSpPr>
        <p:spPr>
          <a:xfrm>
            <a:off x="7421727" y="2240280"/>
            <a:ext cx="411480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31455" y="2240280"/>
            <a:ext cx="3913632" cy="457200"/>
          </a:xfrm>
          <a:prstGeom prst="rect">
            <a:avLst/>
          </a:prstGeom>
          <a:noFill/>
        </p:spPr>
        <p:txBody>
          <a:bodyPr wrap="square" anchor="ctr">
            <a:spAutoFit/>
          </a:bodyPr>
          <a:lstStyle/>
          <a:p>
            <a:pPr algn="ctr"/>
            <a:r>
              <a:rPr sz="1400" b="0" i="0">
                <a:solidFill>
                  <a:srgbClr val="252B33"/>
                </a:solidFill>
                <a:latin typeface="Calibri"/>
              </a:rPr>
              <a:t>STATIC zero-day prior; no online belief update</a:t>
            </a:r>
          </a:p>
        </p:txBody>
      </p:sp>
      <p:sp>
        <p:nvSpPr>
          <p:cNvPr id="18" name="Rectangle 17"/>
          <p:cNvSpPr/>
          <p:nvPr/>
        </p:nvSpPr>
        <p:spPr>
          <a:xfrm>
            <a:off x="655167" y="2697480"/>
            <a:ext cx="265176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4895" y="2697480"/>
            <a:ext cx="2450591" cy="457200"/>
          </a:xfrm>
          <a:prstGeom prst="rect">
            <a:avLst/>
          </a:prstGeom>
          <a:noFill/>
        </p:spPr>
        <p:txBody>
          <a:bodyPr wrap="square" anchor="ctr">
            <a:spAutoFit/>
          </a:bodyPr>
          <a:lstStyle/>
          <a:p>
            <a:pPr algn="l"/>
            <a:r>
              <a:rPr sz="1400" b="0" i="0">
                <a:solidFill>
                  <a:srgbClr val="252B33"/>
                </a:solidFill>
                <a:latin typeface="Calibri"/>
              </a:rPr>
              <a:t>SCENARIOID (KDD 2023)</a:t>
            </a:r>
          </a:p>
        </p:txBody>
      </p:sp>
      <p:sp>
        <p:nvSpPr>
          <p:cNvPr id="20" name="Rectangle 19"/>
          <p:cNvSpPr/>
          <p:nvPr/>
        </p:nvSpPr>
        <p:spPr>
          <a:xfrm>
            <a:off x="3306927" y="2697480"/>
            <a:ext cx="411480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16655" y="2697480"/>
            <a:ext cx="3913632" cy="457200"/>
          </a:xfrm>
          <a:prstGeom prst="rect">
            <a:avLst/>
          </a:prstGeom>
          <a:noFill/>
        </p:spPr>
        <p:txBody>
          <a:bodyPr wrap="square" anchor="ctr">
            <a:spAutoFit/>
          </a:bodyPr>
          <a:lstStyle/>
          <a:p>
            <a:pPr algn="ctr"/>
            <a:r>
              <a:rPr sz="1400" b="0" i="0">
                <a:solidFill>
                  <a:srgbClr val="252B33"/>
                </a:solidFill>
                <a:latin typeface="Calibri"/>
              </a:rPr>
              <a:t>infer which mechanism produced a cascade</a:t>
            </a:r>
          </a:p>
        </p:txBody>
      </p:sp>
      <p:sp>
        <p:nvSpPr>
          <p:cNvPr id="22" name="Rectangle 21"/>
          <p:cNvSpPr/>
          <p:nvPr/>
        </p:nvSpPr>
        <p:spPr>
          <a:xfrm>
            <a:off x="7421727" y="2697480"/>
            <a:ext cx="4114800" cy="457200"/>
          </a:xfrm>
          <a:prstGeom prst="rect">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1455" y="2697480"/>
            <a:ext cx="3913632" cy="457200"/>
          </a:xfrm>
          <a:prstGeom prst="rect">
            <a:avLst/>
          </a:prstGeom>
          <a:noFill/>
        </p:spPr>
        <p:txBody>
          <a:bodyPr wrap="square" anchor="ctr">
            <a:spAutoFit/>
          </a:bodyPr>
          <a:lstStyle/>
          <a:p>
            <a:pPr algn="ctr"/>
            <a:r>
              <a:rPr sz="1400" b="0" i="0">
                <a:solidFill>
                  <a:srgbClr val="252B33"/>
                </a:solidFill>
                <a:latin typeface="Calibri"/>
              </a:rPr>
              <a:t>OFFLINE, feature-engineered; no identifiability guarantee</a:t>
            </a:r>
          </a:p>
        </p:txBody>
      </p:sp>
      <p:sp>
        <p:nvSpPr>
          <p:cNvPr id="24" name="Rectangle 23"/>
          <p:cNvSpPr/>
          <p:nvPr/>
        </p:nvSpPr>
        <p:spPr>
          <a:xfrm>
            <a:off x="655167" y="3154680"/>
            <a:ext cx="265176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4895" y="3154680"/>
            <a:ext cx="2450591" cy="457200"/>
          </a:xfrm>
          <a:prstGeom prst="rect">
            <a:avLst/>
          </a:prstGeom>
          <a:noFill/>
        </p:spPr>
        <p:txBody>
          <a:bodyPr wrap="square" anchor="ctr">
            <a:spAutoFit/>
          </a:bodyPr>
          <a:lstStyle/>
          <a:p>
            <a:pPr algn="l"/>
            <a:r>
              <a:rPr sz="1400" b="0" i="0">
                <a:solidFill>
                  <a:srgbClr val="252B33"/>
                </a:solidFill>
                <a:latin typeface="Calibri"/>
              </a:rPr>
              <a:t>Hoffmann et al. (ICML 2020)</a:t>
            </a:r>
          </a:p>
        </p:txBody>
      </p:sp>
      <p:sp>
        <p:nvSpPr>
          <p:cNvPr id="26" name="Rectangle 25"/>
          <p:cNvSpPr/>
          <p:nvPr/>
        </p:nvSpPr>
        <p:spPr>
          <a:xfrm>
            <a:off x="3306927" y="3154680"/>
            <a:ext cx="411480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16655" y="3154680"/>
            <a:ext cx="3913632" cy="457200"/>
          </a:xfrm>
          <a:prstGeom prst="rect">
            <a:avLst/>
          </a:prstGeom>
          <a:noFill/>
        </p:spPr>
        <p:txBody>
          <a:bodyPr wrap="square" anchor="ctr">
            <a:spAutoFit/>
          </a:bodyPr>
          <a:lstStyle/>
          <a:p>
            <a:pPr algn="ctr"/>
            <a:r>
              <a:rPr sz="1400" b="0" i="0">
                <a:solidFill>
                  <a:srgbClr val="252B33"/>
                </a:solidFill>
                <a:latin typeface="Calibri"/>
              </a:rPr>
              <a:t>identifiability from cascades</a:t>
            </a:r>
          </a:p>
        </p:txBody>
      </p:sp>
      <p:sp>
        <p:nvSpPr>
          <p:cNvPr id="28" name="Rectangle 27"/>
          <p:cNvSpPr/>
          <p:nvPr/>
        </p:nvSpPr>
        <p:spPr>
          <a:xfrm>
            <a:off x="7421727" y="3154680"/>
            <a:ext cx="4114800" cy="457200"/>
          </a:xfrm>
          <a:prstGeom prst="rect">
            <a:avLst/>
          </a:prstGeom>
          <a:solidFill>
            <a:srgbClr val="F3F6FA"/>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31455" y="3154680"/>
            <a:ext cx="3913632" cy="457200"/>
          </a:xfrm>
          <a:prstGeom prst="rect">
            <a:avLst/>
          </a:prstGeom>
          <a:noFill/>
        </p:spPr>
        <p:txBody>
          <a:bodyPr wrap="square" anchor="ctr">
            <a:spAutoFit/>
          </a:bodyPr>
          <a:lstStyle/>
          <a:p>
            <a:pPr algn="ctr"/>
            <a:r>
              <a:rPr sz="1400" b="0" i="0">
                <a:solidFill>
                  <a:srgbClr val="252B33"/>
                </a:solidFill>
                <a:latin typeface="Calibri"/>
              </a:rPr>
              <a:t>condition on LATENT edges; batch (an arguably harder setting)</a:t>
            </a:r>
          </a:p>
        </p:txBody>
      </p:sp>
      <p:sp>
        <p:nvSpPr>
          <p:cNvPr id="30" name="Rectangle 29"/>
          <p:cNvSpPr/>
          <p:nvPr/>
        </p:nvSpPr>
        <p:spPr>
          <a:xfrm>
            <a:off x="640080" y="3813048"/>
            <a:ext cx="10881360" cy="1097280"/>
          </a:xfrm>
          <a:prstGeom prst="rect">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3886200"/>
            <a:ext cx="10424160" cy="932688"/>
          </a:xfrm>
          <a:prstGeom prst="rect">
            <a:avLst/>
          </a:prstGeom>
          <a:noFill/>
        </p:spPr>
        <p:txBody>
          <a:bodyPr wrap="square" anchor="ctr">
            <a:spAutoFit/>
          </a:bodyPr>
          <a:lstStyle/>
          <a:p>
            <a:pPr algn="l"/>
            <a:r>
              <a:rPr sz="1450" b="0" i="0">
                <a:solidFill>
                  <a:srgbClr val="252B33"/>
                </a:solidFill>
                <a:latin typeface="Calibri"/>
              </a:rPr>
              <a:t>What it means:  We cite all three prominently and state each delta in the same breath — including, honestly, that our observable-attribute setting is in some ways EASIER than Hoffmann’s latent one, not strictly stronger. Reviewers pattern-match to these three; we get ahead of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HONESTY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Honest limitations (several are load-bearing)</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37</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We state these plainly; a paper is stronger for owning them.</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500" b="0" i="0">
                <a:solidFill>
                  <a:srgbClr val="252B33"/>
                </a:solidFill>
                <a:latin typeface="Calibri"/>
              </a:rPr>
              <a:t>•  L1 — Not yet validated on real HOST-LEVEL data: measured per-host inventories on a real segmented network are proprietary scan data. The single most important gap.</a:t>
            </a:r>
          </a:p>
          <a:p>
            <a:pPr>
              <a:spcAft>
                <a:spcPts val="800"/>
              </a:spcAft>
            </a:pPr>
            <a:r>
              <a:rPr sz="1500" b="0" i="0">
                <a:solidFill>
                  <a:srgbClr val="252B33"/>
                </a:solidFill>
                <a:latin typeface="Calibri"/>
              </a:rPr>
              <a:t>•  L2 — Online inference is a REFINEMENT, not the driver (our own ablation shows this).</a:t>
            </a:r>
          </a:p>
          <a:p>
            <a:pPr>
              <a:spcAft>
                <a:spcPts val="800"/>
              </a:spcAft>
            </a:pPr>
            <a:r>
              <a:rPr sz="1500" b="0" i="0">
                <a:solidFill>
                  <a:srgbClr val="252B33"/>
                </a:solidFill>
                <a:latin typeface="Calibri"/>
              </a:rPr>
              <a:t>•  L3 — The host↔CVE mapping is MODELED (semi-synthetic), not measured.</a:t>
            </a:r>
          </a:p>
          <a:p>
            <a:pPr>
              <a:spcAft>
                <a:spcPts val="800"/>
              </a:spcAft>
            </a:pPr>
            <a:r>
              <a:rPr sz="1500" b="0" i="0">
                <a:solidFill>
                  <a:srgbClr val="252B33"/>
                </a:solidFill>
                <a:latin typeface="Calibri"/>
              </a:rPr>
              <a:t>•  L4 — Detection noise: addressed (graceful degradation). L5 — Adaptive adversary: addressed, bounded. L6 — Multiplicity: corrected, but forking paths remain. L7 — Abstract model: no packet-level malware, scanning, or C2 layer.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HONESTY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L1 — ready to close in ONE command</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38</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We can’t close L1 without proprietary data — but we made the project ready the instant it exists.</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We will NOT fabricate a real inventory, and another synthetic model wouldn’t satisfy L1.</a:t>
            </a:r>
          </a:p>
          <a:p>
            <a:pPr>
              <a:spcAft>
                <a:spcPts val="800"/>
              </a:spcAft>
            </a:pPr>
            <a:r>
              <a:rPr sz="1700" b="0" i="0">
                <a:solidFill>
                  <a:srgbClr val="252B33"/>
                </a:solidFill>
                <a:latin typeface="Calibri"/>
              </a:rPr>
              <a:t>•  Instead we ship a TESTED import pipeline: serum/data/real_inventory.py + scripts/validate_real_inventory.py.</a:t>
            </a:r>
          </a:p>
          <a:p>
            <a:pPr>
              <a:spcAft>
                <a:spcPts val="800"/>
              </a:spcAft>
            </a:pPr>
            <a:r>
              <a:rPr sz="1700" b="0" i="0">
                <a:solidFill>
                  <a:srgbClr val="252B33"/>
                </a:solidFill>
                <a:latin typeface="Calibri"/>
              </a:rPr>
              <a:t>•  Feed it a real scan (measured host,CVE findings) + a topology edge list, and it runs the full evaluation — taking each host’s vulnerabilities VERBATIM from the scan (measured, not modeled). Every downstream component works unchanged.</a:t>
            </a:r>
          </a:p>
          <a:p>
            <a:pPr>
              <a:spcAft>
                <a:spcPts val="800"/>
              </a:spcAft>
            </a:pPr>
            <a:r>
              <a:rPr sz="1600" b="0" i="0">
                <a:solidFill>
                  <a:srgbClr val="1B7F4B"/>
                </a:solidFill>
                <a:latin typeface="Calibri"/>
              </a:rPr>
              <a:t>•  So L1 is gated on DATA ACCESS, not on method or engineering. One command away.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SUMMARY</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What holds up under grilling</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39</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This was hardened through five rounds of hostile self-review.</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Pareto dominance: at least as good on infection, strictly better on availability &amp; speed.</a:t>
            </a:r>
          </a:p>
          <a:p>
            <a:pPr>
              <a:spcAft>
                <a:spcPts val="800"/>
              </a:spcAft>
            </a:pPr>
            <a:r>
              <a:rPr sz="1700" b="0" i="0">
                <a:solidFill>
                  <a:srgbClr val="252B33"/>
                </a:solidFill>
                <a:latin typeface="Calibri"/>
              </a:rPr>
              <a:t>•  Real-topology flagship: −28.4%, p=1.7×10⁻⁷, wins 20/20 paired outbreaks.</a:t>
            </a:r>
          </a:p>
          <a:p>
            <a:pPr>
              <a:spcAft>
                <a:spcPts val="800"/>
              </a:spcAft>
            </a:pPr>
            <a:r>
              <a:rPr sz="1700" b="0" i="0">
                <a:solidFill>
                  <a:srgbClr val="252B33"/>
                </a:solidFill>
                <a:latin typeface="Calibri"/>
              </a:rPr>
              <a:t>•  Beats the closest prior systems (CyGym-style, DAVA-style) head-to-head.</a:t>
            </a:r>
          </a:p>
          <a:p>
            <a:pPr>
              <a:spcAft>
                <a:spcPts val="800"/>
              </a:spcAft>
            </a:pPr>
            <a:r>
              <a:rPr sz="1600" b="0" i="0">
                <a:solidFill>
                  <a:srgbClr val="1B7F4B"/>
                </a:solidFill>
                <a:latin typeface="Calibri"/>
              </a:rPr>
              <a:t>•  Every headline number is backed by a committed result file and guarded by a test; the experiments are seeded and reproduce bit-for-bit; the paper compiles clean; 141 tests green.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103120"/>
            <a:ext cx="5486400" cy="548640"/>
          </a:xfrm>
          <a:prstGeom prst="rect">
            <a:avLst/>
          </a:prstGeom>
          <a:noFill/>
        </p:spPr>
        <p:txBody>
          <a:bodyPr wrap="square" anchor="t">
            <a:spAutoFit/>
          </a:bodyPr>
          <a:lstStyle/>
          <a:p>
            <a:pPr algn="l"/>
            <a:r>
              <a:rPr sz="1800" b="1" i="0">
                <a:solidFill>
                  <a:srgbClr val="8FA6C8"/>
                </a:solidFill>
                <a:latin typeface="Calibri"/>
              </a:rPr>
              <a:t>PART 10</a:t>
            </a:r>
          </a:p>
        </p:txBody>
      </p:sp>
      <p:sp>
        <p:nvSpPr>
          <p:cNvPr id="3" name="TextBox 2"/>
          <p:cNvSpPr txBox="1"/>
          <p:nvPr/>
        </p:nvSpPr>
        <p:spPr>
          <a:xfrm>
            <a:off x="822960" y="2743200"/>
            <a:ext cx="10515600" cy="1463040"/>
          </a:xfrm>
          <a:prstGeom prst="rect">
            <a:avLst/>
          </a:prstGeom>
          <a:noFill/>
        </p:spPr>
        <p:txBody>
          <a:bodyPr wrap="square" anchor="t">
            <a:spAutoFit/>
          </a:bodyPr>
          <a:lstStyle/>
          <a:p>
            <a:pPr algn="l"/>
            <a:r>
              <a:rPr sz="4000" b="1" i="0">
                <a:solidFill>
                  <a:srgbClr val="FFFFFF"/>
                </a:solidFill>
                <a:latin typeface="Calibri"/>
              </a:rPr>
              <a:t>Outlook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spAutoFit/>
          </a:bodyPr>
          <a:lstStyle/>
          <a:p>
            <a:pPr algn="l"/>
            <a:r>
              <a:rPr sz="1250" b="1" i="0">
                <a:solidFill>
                  <a:srgbClr val="2E6FB0"/>
                </a:solidFill>
                <a:latin typeface="Calibri"/>
              </a:rPr>
              <a:t>OUTLOOK</a:t>
            </a:r>
          </a:p>
        </p:txBody>
      </p:sp>
      <p:sp>
        <p:nvSpPr>
          <p:cNvPr id="3" name="TextBox 2"/>
          <p:cNvSpPr txBox="1"/>
          <p:nvPr/>
        </p:nvSpPr>
        <p:spPr>
          <a:xfrm>
            <a:off x="548640" y="640080"/>
            <a:ext cx="11109960" cy="868680"/>
          </a:xfrm>
          <a:prstGeom prst="rect">
            <a:avLst/>
          </a:prstGeom>
          <a:noFill/>
        </p:spPr>
        <p:txBody>
          <a:bodyPr wrap="square" anchor="t">
            <a:spAutoFit/>
          </a:bodyPr>
          <a:lstStyle/>
          <a:p>
            <a:pPr algn="l"/>
            <a:r>
              <a:rPr sz="2700" b="1" i="0">
                <a:solidFill>
                  <a:srgbClr val="1F355E"/>
                </a:solidFill>
                <a:latin typeface="Calibri"/>
              </a:rPr>
              <a:t>Future work</a:t>
            </a:r>
          </a:p>
        </p:txBody>
      </p:sp>
      <p:sp>
        <p:nvSpPr>
          <p:cNvPr id="4" name="Rectangle 3"/>
          <p:cNvSpPr/>
          <p:nvPr/>
        </p:nvSpPr>
        <p:spPr>
          <a:xfrm>
            <a:off x="0" y="1463040"/>
            <a:ext cx="12191695" cy="54864"/>
          </a:xfrm>
          <a:prstGeom prst="rect">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612880" y="6446520"/>
            <a:ext cx="457200" cy="365760"/>
          </a:xfrm>
          <a:prstGeom prst="rect">
            <a:avLst/>
          </a:prstGeom>
          <a:noFill/>
        </p:spPr>
        <p:txBody>
          <a:bodyPr wrap="square" anchor="t">
            <a:spAutoFit/>
          </a:bodyPr>
          <a:lstStyle/>
          <a:p>
            <a:pPr algn="r"/>
            <a:r>
              <a:rPr sz="1100" b="0" i="0">
                <a:solidFill>
                  <a:srgbClr val="5A636E"/>
                </a:solidFill>
                <a:latin typeface="Calibri"/>
              </a:rPr>
              <a:t>40</a:t>
            </a:r>
          </a:p>
        </p:txBody>
      </p:sp>
      <p:sp>
        <p:nvSpPr>
          <p:cNvPr id="6" name="TextBox 5"/>
          <p:cNvSpPr txBox="1"/>
          <p:nvPr/>
        </p:nvSpPr>
        <p:spPr>
          <a:xfrm>
            <a:off x="640080" y="1691640"/>
            <a:ext cx="10881360" cy="914400"/>
          </a:xfrm>
          <a:prstGeom prst="rect">
            <a:avLst/>
          </a:prstGeom>
          <a:noFill/>
        </p:spPr>
        <p:txBody>
          <a:bodyPr wrap="square" anchor="t">
            <a:spAutoFit/>
          </a:bodyPr>
          <a:lstStyle/>
          <a:p>
            <a:pPr algn="l"/>
            <a:r>
              <a:rPr sz="2100" b="1" i="0">
                <a:solidFill>
                  <a:srgbClr val="1F355E"/>
                </a:solidFill>
                <a:latin typeface="Calibri"/>
              </a:rPr>
              <a:t>The method is frozen and honest; the frontier is data and adversaries.</a:t>
            </a:r>
          </a:p>
        </p:txBody>
      </p:sp>
      <p:sp>
        <p:nvSpPr>
          <p:cNvPr id="7" name="TextBox 6"/>
          <p:cNvSpPr txBox="1"/>
          <p:nvPr/>
        </p:nvSpPr>
        <p:spPr>
          <a:xfrm>
            <a:off x="640080" y="2697480"/>
            <a:ext cx="10881360" cy="3657600"/>
          </a:xfrm>
          <a:prstGeom prst="rect">
            <a:avLst/>
          </a:prstGeom>
          <a:noFill/>
        </p:spPr>
        <p:txBody>
          <a:bodyPr wrap="square">
            <a:spAutoFit/>
          </a:bodyPr>
          <a:lstStyle/>
          <a:p>
            <a:pPr>
              <a:spcAft>
                <a:spcPts val="800"/>
              </a:spcAft>
            </a:pPr>
            <a:r>
              <a:rPr sz="1700" b="0" i="0">
                <a:solidFill>
                  <a:srgbClr val="252B33"/>
                </a:solidFill>
                <a:latin typeface="Calibri"/>
              </a:rPr>
              <a:t>•  Validate on a real host-level enterprise inventory (L1) — the highest-value next step.</a:t>
            </a:r>
          </a:p>
          <a:p>
            <a:pPr>
              <a:spcAft>
                <a:spcPts val="800"/>
              </a:spcAft>
            </a:pPr>
            <a:r>
              <a:rPr sz="1700" b="0" i="0">
                <a:solidFill>
                  <a:srgbClr val="252B33"/>
                </a:solidFill>
                <a:latin typeface="Calibri"/>
              </a:rPr>
              <a:t>•  A jointly-adaptive adversary that best-responds on payload + timing + placement together.</a:t>
            </a:r>
          </a:p>
          <a:p>
            <a:pPr>
              <a:spcAft>
                <a:spcPts val="800"/>
              </a:spcAft>
            </a:pPr>
            <a:r>
              <a:rPr sz="1700" b="0" i="0">
                <a:solidFill>
                  <a:srgbClr val="252B33"/>
                </a:solidFill>
                <a:latin typeface="Calibri"/>
              </a:rPr>
              <a:t>•  End-to-end containment for polymorphic (multi-exploit) worms.</a:t>
            </a:r>
          </a:p>
          <a:p>
            <a:pPr>
              <a:spcAft>
                <a:spcPts val="800"/>
              </a:spcAft>
            </a:pPr>
            <a:r>
              <a:rPr sz="1700" b="0" i="0">
                <a:solidFill>
                  <a:srgbClr val="252B33"/>
                </a:solidFill>
                <a:latin typeface="Calibri"/>
              </a:rPr>
              <a:t>•  A learned GNN policy and an LLM tool-use agent that reads structured threat intel.</a:t>
            </a:r>
          </a:p>
          <a:p>
            <a:pPr>
              <a:spcAft>
                <a:spcPts val="800"/>
              </a:spcAft>
            </a:pPr>
            <a:r>
              <a:rPr sz="1700" b="0" i="0">
                <a:solidFill>
                  <a:srgbClr val="252B33"/>
                </a:solidFill>
                <a:latin typeface="Calibri"/>
              </a:rPr>
              <a:t>•  An emulation bridge (packet-level) from the abstract epidemiological model.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F355E"/>
        </a:solidFill>
        <a:effectLst/>
      </p:bgPr>
    </p:bg>
    <p:spTree>
      <p:nvGrpSpPr>
        <p:cNvPr id="1" name=""/>
        <p:cNvGrpSpPr/>
        <p:nvPr/>
      </p:nvGrpSpPr>
      <p:grpSpPr/>
      <p:sp>
        <p:nvSpPr>
          <p:cNvPr id="2" name="TextBox 1"/>
          <p:cNvSpPr txBox="1"/>
          <p:nvPr/>
        </p:nvSpPr>
        <p:spPr>
          <a:xfrm>
            <a:off x="822960" y="2011680"/>
            <a:ext cx="10607040" cy="914400"/>
          </a:xfrm>
          <a:prstGeom prst="rect">
            <a:avLst/>
          </a:prstGeom>
          <a:noFill/>
        </p:spPr>
        <p:txBody>
          <a:bodyPr wrap="square" anchor="t">
            <a:spAutoFit/>
          </a:bodyPr>
          <a:lstStyle/>
          <a:p>
            <a:pPr algn="l"/>
            <a:r>
              <a:rPr sz="4200" b="1" i="0">
                <a:solidFill>
                  <a:srgbClr val="FFFFFF"/>
                </a:solidFill>
                <a:latin typeface="Calibri"/>
              </a:rPr>
              <a:t>Defend what’s spreading —</a:t>
            </a:r>
          </a:p>
        </p:txBody>
      </p:sp>
      <p:sp>
        <p:nvSpPr>
          <p:cNvPr id="3" name="TextBox 2"/>
          <p:cNvSpPr txBox="1"/>
          <p:nvPr/>
        </p:nvSpPr>
        <p:spPr>
          <a:xfrm>
            <a:off x="822960" y="2971800"/>
            <a:ext cx="10607040" cy="914400"/>
          </a:xfrm>
          <a:prstGeom prst="rect">
            <a:avLst/>
          </a:prstGeom>
          <a:noFill/>
        </p:spPr>
        <p:txBody>
          <a:bodyPr wrap="square" anchor="t">
            <a:spAutoFit/>
          </a:bodyPr>
          <a:lstStyle/>
          <a:p>
            <a:pPr algn="l"/>
            <a:r>
              <a:rPr sz="4200" b="1" i="0">
                <a:solidFill>
                  <a:srgbClr val="C7D6EC"/>
                </a:solidFill>
                <a:latin typeface="Calibri"/>
              </a:rPr>
              <a:t>not just who’s connected.</a:t>
            </a:r>
          </a:p>
        </p:txBody>
      </p:sp>
      <p:sp>
        <p:nvSpPr>
          <p:cNvPr id="4" name="TextBox 3"/>
          <p:cNvSpPr txBox="1"/>
          <p:nvPr/>
        </p:nvSpPr>
        <p:spPr>
          <a:xfrm>
            <a:off x="822960" y="4160520"/>
            <a:ext cx="10607040" cy="914400"/>
          </a:xfrm>
          <a:prstGeom prst="rect">
            <a:avLst/>
          </a:prstGeom>
          <a:noFill/>
        </p:spPr>
        <p:txBody>
          <a:bodyPr wrap="square" anchor="t">
            <a:spAutoFit/>
          </a:bodyPr>
          <a:lstStyle/>
          <a:p>
            <a:pPr algn="l"/>
            <a:r>
              <a:rPr sz="1800" b="0" i="1">
                <a:solidFill>
                  <a:srgbClr val="9FB4D4"/>
                </a:solidFill>
                <a:latin typeface="Calibri"/>
              </a:rPr>
              <a:t>Infer the unseen exploit from the shape of the outbreak, and defend the machines that can actually catch it.</a:t>
            </a:r>
          </a:p>
        </p:txBody>
      </p:sp>
      <p:sp>
        <p:nvSpPr>
          <p:cNvPr id="5" name="TextBox 4"/>
          <p:cNvSpPr txBox="1"/>
          <p:nvPr/>
        </p:nvSpPr>
        <p:spPr>
          <a:xfrm>
            <a:off x="822960" y="5669280"/>
            <a:ext cx="10607040" cy="548640"/>
          </a:xfrm>
          <a:prstGeom prst="rect">
            <a:avLst/>
          </a:prstGeom>
          <a:noFill/>
        </p:spPr>
        <p:txBody>
          <a:bodyPr wrap="square" anchor="t">
            <a:spAutoFit/>
          </a:bodyPr>
          <a:lstStyle/>
          <a:p>
            <a:pPr algn="l"/>
            <a:r>
              <a:rPr sz="1300" b="0" i="0">
                <a:solidFill>
                  <a:srgbClr val="7F94B4"/>
                </a:solidFill>
                <a:latin typeface="Calibri"/>
              </a:rPr>
              <a:t>SERUM — Semantic Epidemic Response under Unknown Malware   ·   Amritha S.   ·   Defensive research; no weaponizable attack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